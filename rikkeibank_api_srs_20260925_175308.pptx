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Kính thưa quý thầy cô, ban giám khảo và các bạn đồng nghiệp. Hôm nay, nhóm chúng em xin được đại diện trình bày báo cáo kiến trúc hệ thống cho dự án Mini Project SRS với đề tài: Ngân hàng số "RikkeiBank API". Đây là nền tảng Backend Web Service Microservices phân tán được thiết kế chuyên biệt cho chi nhánh ngân hàng bán lẻ RikkeiBank, nhằm giải quyết bài toán số hóa toàn diện quy trình ngân hàng, đảm bảo tính bảo mật tài chính tuyệt đối, khả năng mở rộng độc lập và sẵn sàng làm cổng giao tiếp API chuẩn mực cho các ứng dụng Web và Mobile trong tương lai.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02: Thành Viên Đề Án: NHÓM 3 · RikkeiBank API</a:t>
            </a:r>
          </a:p>
          <a:p>
            <a:endParaRPr lang="zh-CN" dirty="0"/>
          </a:p>
          <a:p>
            <a:r>
              <a:rPr lang="zh-CN" dirty="0"/>
              <a:t>Lời thoại thuyết trình:</a:t>
            </a:r>
          </a:p>
          <a:p>
            <a:endParaRPr lang="zh-CN" dirty="0"/>
          </a:p>
          <a:p>
            <a:r>
              <a:rPr lang="zh-CN" dirty="0"/>
              <a:t>Kính thưa thầy cô và hội đồng, đề án Ngân hàng số RikkeiBank API được nghiên cứu và hiện thực bởi tập thể Nhóm 3 gồm 7 thành viên với sự phân công trách nhiệm rõ ràng:</a:t>
            </a:r>
          </a:p>
          <a:p>
            <a:r>
              <a:rPr lang="zh-CN" dirty="0"/>
              <a:t>• Bạn Vũ Đăng Nguyên là Trưởng nhóm, chịu trách nhiệm thiết kế kiến trúc tổng thể, hạ tầng Eureka Service Registry và Spring Cloud Gateway.</a:t>
            </a:r>
          </a:p>
          <a:p>
            <a:r>
              <a:rPr lang="zh-CN" dirty="0"/>
              <a:t>• Bạn Nguyễn Lê Vũ phụ trách Transaction Service, mô hình điều phối Saga Orchestration và hạ tầng Apache Kafka.</a:t>
            </a:r>
          </a:p>
          <a:p>
            <a:r>
              <a:rPr lang="zh-CN" dirty="0"/>
              <a:t>• Bạn Nguyễn Đại Phát xây dựng Account Service và giải pháp tối ưu bộ nhớ đệm Redis In-Memory.</a:t>
            </a:r>
          </a:p>
          <a:p>
            <a:r>
              <a:rPr lang="zh-CN" dirty="0"/>
              <a:t>• Bạn Phan Văn Đạt đảm nhiệm Identity Service, mã hóa mật khẩu và cơ chế bảo mật JWT phân tán.</a:t>
            </a:r>
          </a:p>
          <a:p>
            <a:r>
              <a:rPr lang="zh-CN" dirty="0"/>
              <a:t>• Bạn Dương Phúc Thịnh cấu hình Circuit Breaker Resilience4j và bộ lọc Gateway kháng lỗi.</a:t>
            </a:r>
          </a:p>
          <a:p>
            <a:r>
              <a:rPr lang="zh-CN" dirty="0"/>
              <a:t>• Bạn Cao Tất Thành thiết kế mô hình cơ sở dữ liệu Database-per-service và Customer Service.</a:t>
            </a:r>
          </a:p>
          <a:p>
            <a:r>
              <a:rPr lang="zh-CN" dirty="0"/>
              <a:t>• Bạn Nguyễn Trọng Đăng Dương phụ trách Notification Service xử lý sự kiện bất đồng bộ và kiểm thử Postman Collection.</a:t>
            </a:r>
          </a:p>
          <a:p>
            <a:endParaRPr lang="zh-CN" dirty="0"/>
          </a:p>
          <a:p>
            <a:r>
              <a:rPr lang="zh-CN" dirty="0"/>
              <a:t>Nhờ sự phối hợp chặt chẽ, nhóm đã hoàn thành toàn diện 100% mục tiêu của đề án.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Để hiểu rõ tại sao chúng ta cần dự án này, trước hết chúng ta cùng nhìn lại bối cảnh của RikkeiBank. Hệ thống hiện tại của ngân hàng được xây dựng theo mô hình Monolithic tập trung với một cơ sở dữ liệu dùng chung. Mô hình này đang bộc lộ những điểm nghẽn nghiêm trọng: khi lượng truy cập tăng vọt vào ngày nhận lương, hiện tượng khóa bảng diễn ra liên tục gây nghẽn giao dịch; một sự cố nhỏ ở module báo cáo có thể làm sập toàn bộ dịch vụ ngân hàng; đồng thời việc mở rộng đòi hỏi phải nhân bản toàn bộ khối ứng dụng khổng lồ. Chính vì vậy, việc chuyển dịch sang kiến trúc Microservices với nguyên tắc Database-per-service và khả năng kháng lỗi độc lập là quyết định sống còn để nâng cao năng lực phục vụ của RikkeiBank.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Tiếp theo, xin mời quý vị cùng quan sát bức tranh kiến trúc tổng thể của hệ thống RikkeiBank API. Hệ thống được tổ chức thành ba tầng phân tán rõ ràng: Tầng trên cùng là các Client Web Portal và Mobile App tương tác thông qua Spring Cloud Gateway đóng vai trò làm cổng bảo vệ, định tuyến và cân bằng tải. Tầng thứ hai là trung tâm dịch vụ vi mô bao gồm Eureka Service Discovery và Config Server quản lý cấu hình tập trung, cùng các microservice nghiệp vụ độc lập như Identity, Customer, Account, Transaction và Notification. Tầng dưới cùng là hạ tầng dữ liệu và sự kiện phân tán với cụm Apache Kafka chịu trách nhiệm trao đổi sự kiện bất đồng bộ, kết hợp cụm Redis Cache và cơ sở dữ liệu riêng biệt cho từng service.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Đi sâu vào mô hình nghiệp vụ, hệ thống phân tách rành mạch thành ba miền đối tượng cốt lõi: Customer Service quản lý hồ sơ khách hàng và định danh KYC; Staff Service quản lý thông tin nhân viên, giao dịch viên và ca trực tại các chi nhánh; và Account Service quản lý danh mục loại tài khoản, số tài khoản cùng biến động số dư. Chúng em tuân thủ nghiêm ngặt nguyên tắc Database-per-service: db_customer, db_staff và db_account hoàn toàn độc lập, không có bất kỳ câu lệnh JOIN chéo vật lý nào. Quản trị viên hệ thống có thể thực hiện đầy đủ các thao tác Thêm, Sửa, Xóa và Tra cứu danh mục thông qua các REST API endpoints chuẩn hóa.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Đối với một hệ thống tài chính, an toàn bảo mật và trải nghiệm người dùng luôn là ưu tiên tối thượng. RikkeiBank API thiết lập ma trận phân quyền ba cấp độ bằng Spring Security: Quản trị viên ADMIN có toàn quyền và nắm giữ quyền lực tối cao là cưỡng chế đăng xuất bất kỳ tài khoản nào; Giao dịch viên TELLER chỉ được xử lý giao dịch được phân công; còn Khách hàng CUSTOMER tự quản lý tài khoản của mình. Để khách hàng mở app là xem được số dư mà không phải đăng nhập liên tục, chúng em áp dụng cơ chế Dual Token với Refresh Token dài hạn. Đặc biệt, khi phát hiện rủi ro, Admin có thể kích hoạt tính năng thu hồi quyền ngay lập tức thông qua Redis Blacklist, chặn đứng mọi truy cập tại Gateway chỉ trong vài mili giây.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Bây giờ, chúng ta cùng đến với nghiệp vụ cốt lõi nhất của ngân hàng: Chuyển khoản liên tài khoản. Trong môi trường Microservices không thể dùng giao dịch ACID truyền thống xuyên database, chúng em đã triển khai Distributed Saga Pattern điều phối qua Apache Kafka. Trong luồng thành công, khi khách hàng gửi yêu cầu, Transaction Service khởi tạo giao dịch PENDING; Account Service kiểm tra số dư và trừ tiền tài khoản nguồn, sau đó phát ra sự kiện MoneyDebitedEvent lên Kafka; tiếp theo hệ thống cộng tiền vào tài khoản đích và phát sự kiện MoneyCreditedEvent; cuối cùng Transaction Service đánh dấu COMPLETED và Notification Service lập tức gửi thông báo biến động số dư tới cả hai khách hàng.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Tuy nhiên, trong thực tế, các sự cố như tài khoản đích bị khóa, sai số tài khoản hoặc nghẽn mạng có thể xảy ra bất cứ lúc nào. Khi tài khoản đích không thể ghi có, Saga Pattern sẽ lập tức phát huy sức mạnh thông qua Giao Dịch Bù Trừ. Hệ thống bắt ngoại lệ và phát hành sự kiện TransferFailedEvent lên Kafka topic rollback. Ngay lập tức, Account Service tiêu thụ sự kiện này và kích hoạt hàm bù trừ để hoàn trả chính xác số tiền vừa trừ về tài khoản nguồn. Toàn bộ lịch sử giao dịch được ghi nhận ở trạng thái FAILED với mã lỗi minh bạch. Nhờ đó, số dư của khách hàng được bảo toàn tuyệt đối một trăm phần trăm, loại bỏ hoàn toàn nguy cơ thất thoát tiền bạc.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Để hệ thống vận hành bền bỉ dưới tải trọng lớn, chúng em kết hợp hai lá chắn công nghệ mạnh mẽ. Đầu tiên là Resilience4j Circuit Breaker với ba trạng thái CLOSED, OPEN và HALF_OPEN, giúp ngăn chặn triệt để lỗi dây chuyền; khi một service phụ thuộc gặp sự cố, mạch tự ngắt và kích hoạt Fallback Method trả về phản hồi an toàn. Thứ hai là giải pháp Distributed Caching với Spring Cache và Redis theo cơ chế Cache-Aside; thông qua bộ ba annotation Cacheable, CachePut và CacheEvict, thời gian phản hồi cho các truy vấn số dư và danh mục giảm từ bốn mươi lăm mili giây xuống dưới ba mili giây, đồng thời giải phóng tới tám mươi phần trăm tải truy vấn cho cơ sở dữ liệu.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tiêu chuẩn kỹ thuật và kiểm soát chất lượng mã nguồn, dự án áp dụng AOP kết hợp ControllerAdvice để xây dựng bộ xử lý ngoại lệ tập trung toàn diện. Mọi lỗi phát sinh đều được đóng gói thành cấu trúc JSON chuẩn hóa bao gồm mã lỗi, thông điệp thân thiện và mã vết TraceId. Chúng em tuân thủ nghiêm ngặt chuẩn RESTful với các mã HTTP Status chính xác. Toàn bộ mã nguồn tầng Service và Controller đều được bao phủ bởi Unit Test sử dụng JUnit 5 và Mockito, với độ bao phủ dòng code đo lường qua Jacoco đạt trên tám mươi lăm phần trăm, bảo đảm không có điểm mù logic trước khi đưa vào vận hành.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10: Sản Phẩm Bàn Giao &amp; Hạ Tầng Service Discovery (Eureka)</a:t>
            </a:r>
          </a:p>
          <a:p>
            <a:endParaRPr lang="zh-CN" dirty="0"/>
          </a:p>
          <a:p>
            <a:r>
              <a:rPr lang="zh-CN" dirty="0"/>
              <a:t>Lời thoại thuyết trình:</a:t>
            </a:r>
          </a:p>
          <a:p>
            <a:endParaRPr lang="zh-CN" dirty="0"/>
          </a:p>
          <a:p>
            <a:r>
              <a:rPr lang="zh-CN" dirty="0"/>
              <a:t>Kính thưa thầy cô và hội đồng, trên màn hình là tổng hợp toàn bộ 4 hạng mục hiện vật bàn giao của dự án RikkeiBank API bao gồm Git repository đầy đủ 6 microservices, Postman Collection định tuyến qua Gateway, hạ tầng Docker Compose hoàn chỉnh và bộ kiểm thử, tài liệu SRS.</a:t>
            </a:r>
          </a:p>
          <a:p>
            <a:endParaRPr lang="zh-CN" dirty="0"/>
          </a:p>
          <a:p>
            <a:r>
              <a:rPr lang="zh-CN" dirty="0"/>
              <a:t>Ở bên phải là minh chứng hoạt động trực tiếp của Eureka Discovery Server tại cổng 8761. Toàn bộ 6 services cốt lõi bao gồm API Gateway, Identity Service, Customer Service, Account Service, Transaction Service và Notification Service đều đã tự động đăng ký và gửi nhịp tim định kỳ, đạt trạng thái 100% UP và Healthy.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11: Demo Thực Nghiệm: Xác Thực Phân Tán JWT &amp; Tối Ưu Hóa Tốc Độ Redis Cache</a:t>
            </a:r>
          </a:p>
          <a:p>
            <a:endParaRPr lang="zh-CN" dirty="0"/>
          </a:p>
          <a:p>
            <a:r>
              <a:rPr lang="zh-CN" dirty="0"/>
              <a:t>Lời thoại thuyết trình:</a:t>
            </a:r>
          </a:p>
          <a:p>
            <a:endParaRPr lang="zh-CN" dirty="0"/>
          </a:p>
          <a:p>
            <a:r>
              <a:rPr lang="zh-CN" dirty="0"/>
              <a:t>Tiếp theo, nhóm xin trình bày 2 thử nghiệm thực tế đầu tiên:</a:t>
            </a:r>
          </a:p>
          <a:p>
            <a:r>
              <a:rPr lang="zh-CN" dirty="0"/>
              <a:t>Thứ nhất là luồng xác thực JWT tại Identity Service thông qua Gateway. Khi người dùng gửi yêu cầu login, hệ thống kiểm tra mật khẩu đã được mã hóa BCrypt và trả về JWT Bearer Token chứa thông tin vai trò. Gateway Global Filter tự động phân giải token này mà không cần truy vấn ngược lại CSDL, đảm bảo kiến trúc hoàn toàn Stateless.</a:t>
            </a:r>
          </a:p>
          <a:p>
            <a:endParaRPr lang="zh-CN" dirty="0"/>
          </a:p>
          <a:p>
            <a:r>
              <a:rPr lang="zh-CN" dirty="0"/>
              <a:t>Thứ hai là thử nghiệm hiệu năng bộ nhớ đệm Redis Cache trên endpoint tra cứu số dư tài khoản. Khi gọi lần đầu (Cache Miss), thời gian phản hồi là khoảng 45ms do phải truy vấn MySQL. Nhưng ngay từ lần thứ hai trở đi (Cache Hit), dữ liệu được đọc trực tiếp từ Redis In-Memory với độ trễ cực thấp dưới 3ms, giúp giảm tải hơn 90% truy vấn đọc đến cơ sở dữ liệu.</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12: Demo Thực Nghiệm: Chuyển Tiền Phân Tán Thành Công Qua Saga Orchestrator</a:t>
            </a:r>
          </a:p>
          <a:p>
            <a:endParaRPr lang="zh-CN" dirty="0"/>
          </a:p>
          <a:p>
            <a:r>
              <a:rPr lang="zh-CN" dirty="0"/>
              <a:t>Lời thoại thuyết trình:</a:t>
            </a:r>
          </a:p>
          <a:p>
            <a:endParaRPr lang="zh-CN" dirty="0"/>
          </a:p>
          <a:p>
            <a:r>
              <a:rPr lang="zh-CN" dirty="0"/>
              <a:t>Đây là kịch bản demo quan trọng nhất của hệ thống: Chuyển tiền phân tán thành công theo mô hình Saga Orchestration kết hợp Apache Kafka.</a:t>
            </a:r>
          </a:p>
          <a:p>
            <a:r>
              <a:rPr lang="zh-CN" dirty="0"/>
              <a:t>Khi Postman gửi lệnh chuyển 1,000,000 VND từ tài khoản nguồn sang tài khoản đích, Transaction Service đóng vai trò Orchestrator điều phối theo trình tự 4 bước:</a:t>
            </a:r>
          </a:p>
          <a:p>
            <a:r>
              <a:rPr lang="zh-CN" dirty="0"/>
              <a:t>1. Giao tiếp nội bộ yêu cầu Account Service trừ tiền tài khoản nguồn (DEBIT) và đồng thời xóa Redis Cache liên quan.</a:t>
            </a:r>
          </a:p>
          <a:p>
            <a:r>
              <a:rPr lang="zh-CN" dirty="0"/>
              <a:t>2. Xuất bản sự kiện TransferInitiatedEvent lên message broker Kafka.</a:t>
            </a:r>
          </a:p>
          <a:p>
            <a:r>
              <a:rPr lang="zh-CN" dirty="0"/>
              <a:t>3. Account Service lắng nghe sự kiện và thực hiện cộng tiền tài khoản đích (CREDIT).</a:t>
            </a:r>
          </a:p>
          <a:p>
            <a:r>
              <a:rPr lang="zh-CN" dirty="0"/>
              <a:t>4. Notification Service nhận thông báo và ghi nhận biến động số dư.</a:t>
            </a:r>
          </a:p>
          <a:p>
            <a:endParaRPr lang="zh-CN" dirty="0"/>
          </a:p>
          <a:p>
            <a:r>
              <a:rPr lang="zh-CN" dirty="0"/>
              <a:t>Kết quả trên màn hình Postman trả về mã 200 OK trạng thái COMPLETED trong thời gian dưới 80ms, và log console cho thấy toàn bộ chuỗi sự kiện phân tán được ghi nhận mượt mà.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13: Demo Thực Nghiệm: Phục Hồi Lỗi &amp; Giao Dịch Bù Trừ (Compensating Transaction)</a:t>
            </a:r>
          </a:p>
          <a:p>
            <a:endParaRPr lang="zh-CN" dirty="0"/>
          </a:p>
          <a:p>
            <a:r>
              <a:rPr lang="zh-CN" dirty="0"/>
              <a:t>Lời thoại thuyết trình:</a:t>
            </a:r>
          </a:p>
          <a:p>
            <a:endParaRPr lang="zh-CN" dirty="0"/>
          </a:p>
          <a:p>
            <a:r>
              <a:rPr lang="zh-CN" dirty="0"/>
              <a:t>Trong hệ thống tài chính, xử lý lỗi khi sự cố xảy ra giữa chừng là bài toán sống còn. Slide 13 minh họa thực nghiệm Saga Rollback khi tài khoản đích bị khóa.</a:t>
            </a:r>
          </a:p>
          <a:p>
            <a:r>
              <a:rPr lang="zh-CN" dirty="0"/>
              <a:t>Người dùng gửi lệnh chuyển 500,000 VND sang tài khoản có trạng thái LOCKED trong cơ sở dữ liệu.</a:t>
            </a:r>
          </a:p>
          <a:p>
            <a:r>
              <a:rPr lang="zh-CN" dirty="0"/>
              <a:t>Sau khi Account Service đã trừ tiền ở tài khoản nguồn, bước ghi có vào tài khoản đích bị từ chối và ném ngoại lệ ACCOUNT_LOCKED.</a:t>
            </a:r>
          </a:p>
          <a:p>
            <a:r>
              <a:rPr lang="zh-CN" dirty="0"/>
              <a:t>Ngay lập tức, Transaction Orchestrator phát hiện lỗi và bắn sự kiện TransferFailedEvent vào Kafka. Account Service lắng nghe sự kiện này và tự động gọi API bù trừ compensateDebit, hoàn trả đúng 500,000 VND vào tài khoản nguồn.</a:t>
            </a:r>
          </a:p>
          <a:p>
            <a:endParaRPr lang="zh-CN" dirty="0"/>
          </a:p>
          <a:p>
            <a:r>
              <a:rPr lang="zh-CN" dirty="0"/>
              <a:t>Postman nhận mã lỗi 400 Bad Request rõ ràng, và số dư của người gửi được bảo toàn nguyên vẹn 100%, chứng minh tính toàn vẹn dữ liệu ACID phân tán đạt tiêu chuẩn khắt khe của ngân hàng.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14: Tổng Kết Đề Án &amp; Định Hướng Tích Hợp Frontend</a:t>
            </a:r>
          </a:p>
          <a:p>
            <a:endParaRPr lang="zh-CN" dirty="0"/>
          </a:p>
          <a:p>
            <a:r>
              <a:rPr lang="zh-CN" dirty="0"/>
              <a:t>Lời thoại thuyết trình:</a:t>
            </a:r>
          </a:p>
          <a:p>
            <a:endParaRPr lang="zh-CN" dirty="0"/>
          </a:p>
          <a:p>
            <a:r>
              <a:rPr lang="zh-CN" dirty="0"/>
              <a:t>Để tổng kết lại, dự án Ngân hàng số RikkeiBank API đã hoàn thành xuất sắc 100% các tiêu chí trong tài liệu đặc tả yêu cầu phần mềm SRS:</a:t>
            </a:r>
          </a:p>
          <a:p>
            <a:r>
              <a:rPr lang="zh-CN" dirty="0"/>
              <a:t>• Hoàn thành phân rã thành công hệ thống Monolith cũ sang kiến trúc 6 Microservices phân tán với CSDL cô lập riêng biệt.</a:t>
            </a:r>
          </a:p>
          <a:p>
            <a:r>
              <a:rPr lang="zh-CN" dirty="0"/>
              <a:t>• Tích hợp thành công cơ chế bảo mật JWT, cổng phân phối API Gateway và khám phá dịch vụ Eureka.</a:t>
            </a:r>
          </a:p>
          <a:p>
            <a:r>
              <a:rPr lang="zh-CN" dirty="0"/>
              <a:t>• Làm chủ mô hình giao dịch phân tán Saga kết hợp Kafka với cơ chế tự động bù trừ an toàn.</a:t>
            </a:r>
          </a:p>
          <a:p>
            <a:r>
              <a:rPr lang="zh-CN" dirty="0"/>
              <a:t>• Đạt hiệu năng cao nhờ Redis Caching và khả năng chịu lỗi linh hoạt với Resilience4j Circuit Breaker.</a:t>
            </a:r>
          </a:p>
          <a:p>
            <a:endParaRPr lang="zh-CN" dirty="0"/>
          </a:p>
          <a:p>
            <a:r>
              <a:rPr lang="zh-CN" dirty="0"/>
              <a:t>Về lộ trình tương lai, hệ thống backend đã sẵn sàng 100% để đội ngũ Frontend tích hợp vào ứng dụng di động Mobile Banking (Flutter / React Native) và Web Portal quản trị, đồng thời sẵn sàng chuyển đổi lên hạ tầng đám mây Kubernetes khi bước vào giai đoạn sản xuất quy mô lớn.</a:t>
            </a:r>
          </a:p>
          <a:p>
            <a:r>
              <a:rPr lang="zh-CN" dirty="0"/>
              <a:t>Em xin chân thành cảm ơn thầy cô và hội đồng đã lắng nghe!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036249a3fc0eab.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ad286b15c4cae3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5980103d2b927bc.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189c6c79b5e1312.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77ffbf1b3e9911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7c81926b0377cda.png"/>
  <Relationship Id="rId3" Type="http://schemas.openxmlformats.org/officeDocument/2006/relationships/image" Target="../media/image_034ace6eb0423b29.pn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8bc8f94547eafe1.png"/>
  <Relationship Id="rId3" Type="http://schemas.openxmlformats.org/officeDocument/2006/relationships/image" Target="../media/image_6d549f632b969fdb.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7c1ccc36b10d26.png"/>
  <Relationship Id="rId3" Type="http://schemas.openxmlformats.org/officeDocument/2006/relationships/image" Target="../media/image_effd0ed5124e6388.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8" name="Group 8"/>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06B6D4">
                    <a:alpha val="18000"/>
                  </a:srgbClr>
                </a:gs>
                <a:gs pos="100000">
                  <a:srgbClr val="0B1120">
                    <a:alpha val="0"/>
                  </a:srgbClr>
                </a:gs>
              </a:gsLst>
              <a:path path="circle">
                <a:fillToRect l="50000" t="50000" r="50000" b="50000"/>
              </a:path>
            </a:gradFill>
            <a:ln>
              <a:noFill/>
            </a:ln>
          </p:spPr>
        </p:sp>
        <p:sp>
          <p:nvSpPr>
            <p:cNvPr id="5" name="Rectangle 5"/>
            <p:cNvSpPr/>
            <p:nvPr/>
          </p:nvSpPr>
          <p:spPr>
            <a:xfrm>
              <a:off x="0" y="0"/>
              <a:ext cx="12192000" cy="6858000"/>
            </a:xfrm>
            <a:prstGeom prst="rect">
              <a:avLst/>
            </a:prstGeom>
            <a:gradFill>
              <a:gsLst>
                <a:gs pos="0">
                  <a:srgbClr val="3B82F6">
                    <a:alpha val="22000"/>
                  </a:srgbClr>
                </a:gs>
                <a:gs pos="100000">
                  <a:srgbClr val="0B1120">
                    <a:alpha val="0"/>
                  </a:srgbClr>
                </a:gs>
              </a:gsLst>
              <a:path path="circle">
                <a:fillToRect l="50000" t="50000" r="50000" b="50000"/>
              </a:path>
            </a:gradFill>
            <a:ln>
              <a:noFill/>
            </a:ln>
          </p:spPr>
        </p:sp>
        <p:sp>
          <p:nvSpPr>
            <p:cNvPr id="6" name="Line 6"/>
            <p:cNvSpPr/>
            <p:nvPr/>
          </p:nvSpPr>
          <p:spPr>
            <a:xfrm>
              <a:off x="571500" y="428625"/>
              <a:ext cx="11049000" cy="9525"/>
            </a:xfrm>
            <a:custGeom>
              <a:avLst/>
              <a:gdLst/>
              <a:ahLst/>
              <a:cxnLst/>
              <a:rect l="l" t="t" r="r" b="b"/>
              <a:pathLst>
                <a:path w="11049000" h="9525">
                  <a:moveTo>
                    <a:pt x="0" y="0"/>
                  </a:moveTo>
                  <a:lnTo>
                    <a:pt x="11049000" y="0"/>
                  </a:lnTo>
                </a:path>
              </a:pathLst>
            </a:custGeom>
            <a:noFill/>
            <a:ln w="9525">
              <a:solidFill>
                <a:srgbClr val="334155">
                  <a:alpha val="40000"/>
                </a:srgbClr>
              </a:solidFill>
            </a:ln>
          </p:spPr>
        </p:sp>
        <p:sp>
          <p:nvSpPr>
            <p:cNvPr id="7" name="Line 7"/>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334155">
                  <a:alpha val="40000"/>
                </a:srgbClr>
              </a:solidFill>
            </a:ln>
          </p:spPr>
        </p:sp>
      </p:grpSp>
      <p:grpSp>
        <p:nvGrpSpPr>
          <p:cNvPr id="12" name="Group 12"/>
          <p:cNvGrpSpPr/>
          <p:nvPr/>
        </p:nvGrpSpPr>
        <p:grpSpPr>
          <a:xfrm>
            <a:off x="571500" y="619125"/>
            <a:ext cx="3000375" cy="304800"/>
            <a:chOff x="571500" y="619125"/>
            <a:chExt cx="3000375" cy="304800"/>
          </a:xfrm>
        </p:grpSpPr>
        <p:sp>
          <p:nvSpPr>
            <p:cNvPr id="9" name="Rectangle 9"/>
            <p:cNvSpPr/>
            <p:nvPr/>
          </p:nvSpPr>
          <p:spPr>
            <a:xfrm>
              <a:off x="571500" y="619125"/>
              <a:ext cx="3000375" cy="304800"/>
            </a:xfrm>
            <a:prstGeom prst="roundRect">
              <a:avLst>
                <a:gd name="adj" fmla="val 50000"/>
              </a:avLst>
            </a:prstGeom>
            <a:solidFill>
              <a:srgbClr val="1E293B"/>
            </a:solidFill>
            <a:ln w="11430">
              <a:solidFill>
                <a:srgbClr val="06B6D4"/>
              </a:solidFill>
            </a:ln>
          </p:spPr>
        </p:sp>
        <p:sp>
          <p:nvSpPr>
            <p:cNvPr id="10" name="Ellipse 10"/>
            <p:cNvSpPr/>
            <p:nvPr/>
          </p:nvSpPr>
          <p:spPr>
            <a:xfrm>
              <a:off x="714375" y="723900"/>
              <a:ext cx="95250" cy="95250"/>
            </a:xfrm>
            <a:prstGeom prst="ellipse">
              <a:avLst/>
            </a:prstGeom>
            <a:solidFill>
              <a:srgbClr val="06B6D4"/>
            </a:solidFill>
            <a:ln>
              <a:noFill/>
            </a:ln>
          </p:spPr>
        </p:sp>
        <p:sp>
          <p:nvSpPr>
            <p:cNvPr id="11" name="TextBox 11"/>
            <p:cNvSpPr txBox="1"/>
            <p:nvPr/>
          </p:nvSpPr>
          <p:spPr>
            <a:xfrm>
              <a:off x="902970" y="721995"/>
              <a:ext cx="2209233" cy="182880"/>
            </a:xfrm>
            <a:prstGeom prst="rect">
              <a:avLst/>
            </a:prstGeom>
            <a:noFill/>
            <a:ln>
              <a:noFill/>
            </a:ln>
          </p:spPr>
          <p:txBody>
            <a:bodyPr wrap="none" lIns="0" tIns="0" rIns="0" bIns="0" anchor="t" anchorCtr="0">
              <a:spAutoFit/>
            </a:bodyPr>
            <a:lstStyle/>
            <a:p>
              <a:pPr algn="l"/>
              <a:r>
                <a:rPr lang="zh-CN" sz="900" b="1" dirty="0">
                  <a:solidFill>
                    <a:srgbClr val="22D3EE"/>
                  </a:solidFill>
                  <a:latin typeface="Segoe UI"/>
                  <a:ea typeface="Microsoft YaHei"/>
                  <a:cs typeface="Segoe UI"/>
                </a:rPr>
                <a:t>MINI PROJECT SRS · FINTECH · NHÓM 3</a:t>
              </a:r>
            </a:p>
          </p:txBody>
        </p:sp>
      </p:grpSp>
      <p:grpSp>
        <p:nvGrpSpPr>
          <p:cNvPr id="18" name="Group 18"/>
          <p:cNvGrpSpPr/>
          <p:nvPr/>
        </p:nvGrpSpPr>
        <p:grpSpPr>
          <a:xfrm>
            <a:off x="533400" y="1073468"/>
            <a:ext cx="4366278" cy="1609010"/>
            <a:chOff x="533400" y="1073468"/>
            <a:chExt cx="4366278" cy="1609010"/>
          </a:xfrm>
        </p:grpSpPr>
        <p:sp>
          <p:nvSpPr>
            <p:cNvPr id="13" name="TextBox 13"/>
            <p:cNvSpPr txBox="1"/>
            <p:nvPr/>
          </p:nvSpPr>
          <p:spPr>
            <a:xfrm>
              <a:off x="535305" y="1073468"/>
              <a:ext cx="4282366" cy="579120"/>
            </a:xfrm>
            <a:prstGeom prst="rect">
              <a:avLst/>
            </a:prstGeom>
            <a:noFill/>
            <a:ln>
              <a:noFill/>
            </a:ln>
          </p:spPr>
          <p:txBody>
            <a:bodyPr wrap="none" lIns="0" tIns="0" rIns="0" bIns="0" anchor="t" anchorCtr="0">
              <a:spAutoFit/>
            </a:bodyPr>
            <a:lstStyle/>
            <a:p>
              <a:pPr algn="l"/>
              <a:r>
                <a:rPr lang="zh-CN" sz="2850" b="1" dirty="0">
                  <a:solidFill>
                    <a:srgbClr val="F8FAFC"/>
                  </a:solidFill>
                  <a:latin typeface="Arial"/>
                  <a:ea typeface="Microsoft YaHei"/>
                  <a:cs typeface="Arial"/>
                </a:rPr>
                <a:t>HỆ THỐNG NGÂN HÀNG SỐ</a:t>
              </a:r>
            </a:p>
          </p:txBody>
        </p:sp>
        <p:sp>
          <p:nvSpPr>
            <p:cNvPr id="14" name="TextBox 14"/>
            <p:cNvSpPr txBox="1"/>
            <p:nvPr/>
          </p:nvSpPr>
          <p:spPr>
            <a:xfrm>
              <a:off x="533400" y="1533525"/>
              <a:ext cx="3352610" cy="609600"/>
            </a:xfrm>
            <a:prstGeom prst="rect">
              <a:avLst/>
            </a:prstGeom>
            <a:noFill/>
            <a:ln>
              <a:noFill/>
            </a:ln>
          </p:spPr>
          <p:txBody>
            <a:bodyPr wrap="none" lIns="0" tIns="0" rIns="0" bIns="0" anchor="t" anchorCtr="0">
              <a:spAutoFit/>
            </a:bodyPr>
            <a:lstStyle/>
            <a:p>
              <a:pPr algn="l"/>
              <a:r>
                <a:rPr lang="zh-CN" sz="3000" b="1" dirty="0">
                  <a:solidFill>
                    <a:srgbClr val="06B6D4"/>
                  </a:solidFill>
                  <a:latin typeface="Arial"/>
                  <a:ea typeface="Microsoft YaHei"/>
                  <a:cs typeface="Arial"/>
                </a:rPr>
                <a:t>"RikkeiBank API"</a:t>
              </a:r>
            </a:p>
          </p:txBody>
        </p:sp>
        <p:sp>
          <p:nvSpPr>
            <p:cNvPr id="15" name="Rectangle 15"/>
            <p:cNvSpPr/>
            <p:nvPr/>
          </p:nvSpPr>
          <p:spPr>
            <a:xfrm>
              <a:off x="571500" y="2047875"/>
              <a:ext cx="1333500" cy="38100"/>
            </a:xfrm>
            <a:prstGeom prst="roundRect">
              <a:avLst>
                <a:gd name="adj" fmla="val 50000"/>
              </a:avLst>
            </a:prstGeom>
            <a:gradFill>
              <a:gsLst>
                <a:gs pos="0">
                  <a:srgbClr val="06B6D4"/>
                </a:gs>
                <a:gs pos="100000">
                  <a:srgbClr val="3B82F6"/>
                </a:gs>
              </a:gsLst>
              <a:lin ang="0" scaled="1"/>
            </a:gradFill>
            <a:ln>
              <a:noFill/>
            </a:ln>
          </p:spPr>
        </p:sp>
        <p:sp>
          <p:nvSpPr>
            <p:cNvPr id="16" name="TextBox 16"/>
            <p:cNvSpPr txBox="1"/>
            <p:nvPr/>
          </p:nvSpPr>
          <p:spPr>
            <a:xfrm>
              <a:off x="556736" y="2217658"/>
              <a:ext cx="4342942" cy="236220"/>
            </a:xfrm>
            <a:prstGeom prst="rect">
              <a:avLst/>
            </a:prstGeom>
            <a:noFill/>
            <a:ln>
              <a:noFill/>
            </a:ln>
          </p:spPr>
          <p:txBody>
            <a:bodyPr wrap="none" lIns="0" tIns="0" rIns="0" bIns="0" anchor="t" anchorCtr="0">
              <a:spAutoFit/>
            </a:bodyPr>
            <a:lstStyle/>
            <a:p>
              <a:pPr algn="l"/>
              <a:r>
                <a:rPr lang="zh-CN" sz="1162" b="1" dirty="0">
                  <a:solidFill>
                    <a:srgbClr val="94A3B8"/>
                  </a:solidFill>
                  <a:latin typeface="Segoe UI"/>
                  <a:ea typeface="Microsoft YaHei"/>
                  <a:cs typeface="Segoe UI"/>
                </a:rPr>
                <a:t>Nền tảng Backend Web Service Microservices phân tán,</a:t>
              </a:r>
            </a:p>
          </p:txBody>
        </p:sp>
        <p:sp>
          <p:nvSpPr>
            <p:cNvPr id="17" name="TextBox 17"/>
            <p:cNvSpPr txBox="1"/>
            <p:nvPr/>
          </p:nvSpPr>
          <p:spPr>
            <a:xfrm>
              <a:off x="556736" y="2446258"/>
              <a:ext cx="3903462" cy="236220"/>
            </a:xfrm>
            <a:prstGeom prst="rect">
              <a:avLst/>
            </a:prstGeom>
            <a:noFill/>
            <a:ln>
              <a:noFill/>
            </a:ln>
          </p:spPr>
          <p:txBody>
            <a:bodyPr wrap="none" lIns="0" tIns="0" rIns="0" bIns="0" anchor="t" anchorCtr="0">
              <a:spAutoFit/>
            </a:bodyPr>
            <a:lstStyle/>
            <a:p>
              <a:pPr algn="l"/>
              <a:r>
                <a:rPr lang="zh-CN" sz="1162" b="1" dirty="0">
                  <a:solidFill>
                    <a:srgbClr val="94A3B8"/>
                  </a:solidFill>
                  <a:latin typeface="Segoe UI"/>
                  <a:ea typeface="Microsoft YaHei"/>
                  <a:cs typeface="Segoe UI"/>
                </a:rPr>
                <a:t>bảo mật cao, mở rộng độc lập và vận hành ổn định</a:t>
              </a:r>
            </a:p>
          </p:txBody>
        </p:sp>
      </p:grpSp>
      <p:grpSp>
        <p:nvGrpSpPr>
          <p:cNvPr id="48" name="Group 48"/>
          <p:cNvGrpSpPr/>
          <p:nvPr/>
        </p:nvGrpSpPr>
        <p:grpSpPr>
          <a:xfrm>
            <a:off x="571500" y="2857500"/>
            <a:ext cx="5619750" cy="742950"/>
            <a:chOff x="571500" y="2857500"/>
            <a:chExt cx="5619750" cy="742950"/>
          </a:xfrm>
        </p:grpSpPr>
        <p:sp>
          <p:nvSpPr>
            <p:cNvPr id="19" name="Rectangle 19"/>
            <p:cNvSpPr/>
            <p:nvPr/>
          </p:nvSpPr>
          <p:spPr>
            <a:xfrm>
              <a:off x="571500" y="2857500"/>
              <a:ext cx="2667000" cy="323850"/>
            </a:xfrm>
            <a:prstGeom prst="roundRect">
              <a:avLst>
                <a:gd name="adj" fmla="val 23529"/>
              </a:avLst>
            </a:prstGeom>
            <a:solidFill>
              <a:srgbClr val="1E293B"/>
            </a:solidFill>
            <a:ln w="9525">
              <a:solidFill>
                <a:srgbClr val="334155"/>
              </a:solidFill>
            </a:ln>
          </p:spPr>
        </p:sp>
        <p:grpSp>
          <p:nvGrpSpPr>
            <p:cNvPr id="29" name="Group 29"/>
            <p:cNvGrpSpPr/>
            <p:nvPr/>
          </p:nvGrpSpPr>
          <p:grpSpPr>
            <a:xfrm>
              <a:off x="714375" y="2962275"/>
              <a:ext cx="114300" cy="114300"/>
              <a:chOff x="714375" y="2962275"/>
              <a:chExt cx="114300" cy="114300"/>
            </a:xfrm>
          </p:grpSpPr>
          <p:sp>
            <p:nvSpPr>
              <p:cNvPr id="20" name="Freeform 20"/>
              <p:cNvSpPr/>
              <p:nvPr/>
            </p:nvSpPr>
            <p:spPr>
              <a:xfrm>
                <a:off x="714375" y="3048000"/>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06B6D4"/>
                </a:solidFill>
              </a:ln>
            </p:spPr>
          </p:sp>
          <p:sp>
            <p:nvSpPr>
              <p:cNvPr id="21" name="Freeform 21"/>
              <p:cNvSpPr/>
              <p:nvPr/>
            </p:nvSpPr>
            <p:spPr>
              <a:xfrm>
                <a:off x="800100" y="2962275"/>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06B6D4"/>
                </a:solidFill>
              </a:ln>
            </p:spPr>
          </p:sp>
          <p:sp>
            <p:nvSpPr>
              <p:cNvPr id="22" name="Freeform 22"/>
              <p:cNvSpPr/>
              <p:nvPr/>
            </p:nvSpPr>
            <p:spPr>
              <a:xfrm>
                <a:off x="714375" y="2962275"/>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06B6D4"/>
                </a:solidFill>
              </a:ln>
            </p:spPr>
          </p:sp>
          <p:sp>
            <p:nvSpPr>
              <p:cNvPr id="23" name="Freeform 23"/>
              <p:cNvSpPr/>
              <p:nvPr/>
            </p:nvSpPr>
            <p:spPr>
              <a:xfrm>
                <a:off x="800100" y="3048000"/>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06B6D4"/>
                </a:solidFill>
              </a:ln>
            </p:spPr>
          </p:sp>
          <p:sp>
            <p:nvSpPr>
              <p:cNvPr id="24" name="Freeform 24"/>
              <p:cNvSpPr/>
              <p:nvPr/>
            </p:nvSpPr>
            <p:spPr>
              <a:xfrm>
                <a:off x="757238" y="3005138"/>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06B6D4"/>
                </a:solidFill>
              </a:ln>
            </p:spPr>
          </p:sp>
          <p:sp>
            <p:nvSpPr>
              <p:cNvPr id="25" name="Freeform 25"/>
              <p:cNvSpPr/>
              <p:nvPr/>
            </p:nvSpPr>
            <p:spPr>
              <a:xfrm>
                <a:off x="739378" y="2987278"/>
                <a:ext cx="21431" cy="21431"/>
              </a:xfrm>
              <a:custGeom>
                <a:avLst/>
                <a:gdLst/>
                <a:ahLst/>
                <a:cxnLst/>
                <a:rect l="l" t="t" r="r" b="b"/>
                <a:pathLst>
                  <a:path w="21431" h="21431">
                    <a:moveTo>
                      <a:pt x="0" y="0"/>
                    </a:moveTo>
                    <a:lnTo>
                      <a:pt x="21431" y="21431"/>
                    </a:lnTo>
                  </a:path>
                </a:pathLst>
              </a:custGeom>
              <a:noFill/>
              <a:ln w="19050">
                <a:solidFill>
                  <a:srgbClr val="06B6D4"/>
                </a:solidFill>
              </a:ln>
            </p:spPr>
          </p:sp>
          <p:sp>
            <p:nvSpPr>
              <p:cNvPr id="26" name="Freeform 26"/>
              <p:cNvSpPr/>
              <p:nvPr/>
            </p:nvSpPr>
            <p:spPr>
              <a:xfrm>
                <a:off x="739378" y="3030141"/>
                <a:ext cx="21431" cy="21431"/>
              </a:xfrm>
              <a:custGeom>
                <a:avLst/>
                <a:gdLst/>
                <a:ahLst/>
                <a:cxnLst/>
                <a:rect l="l" t="t" r="r" b="b"/>
                <a:pathLst>
                  <a:path w="21431" h="21431">
                    <a:moveTo>
                      <a:pt x="0" y="21431"/>
                    </a:moveTo>
                    <a:lnTo>
                      <a:pt x="21431" y="0"/>
                    </a:lnTo>
                  </a:path>
                </a:pathLst>
              </a:custGeom>
              <a:noFill/>
              <a:ln w="19050">
                <a:solidFill>
                  <a:srgbClr val="06B6D4"/>
                </a:solidFill>
              </a:ln>
            </p:spPr>
          </p:sp>
          <p:sp>
            <p:nvSpPr>
              <p:cNvPr id="27" name="Freeform 27"/>
              <p:cNvSpPr/>
              <p:nvPr/>
            </p:nvSpPr>
            <p:spPr>
              <a:xfrm>
                <a:off x="782241" y="3030141"/>
                <a:ext cx="21431" cy="21431"/>
              </a:xfrm>
              <a:custGeom>
                <a:avLst/>
                <a:gdLst/>
                <a:ahLst/>
                <a:cxnLst/>
                <a:rect l="l" t="t" r="r" b="b"/>
                <a:pathLst>
                  <a:path w="21431" h="21431">
                    <a:moveTo>
                      <a:pt x="0" y="0"/>
                    </a:moveTo>
                    <a:lnTo>
                      <a:pt x="21431" y="21431"/>
                    </a:lnTo>
                  </a:path>
                </a:pathLst>
              </a:custGeom>
              <a:noFill/>
              <a:ln w="19050">
                <a:solidFill>
                  <a:srgbClr val="06B6D4"/>
                </a:solidFill>
              </a:ln>
            </p:spPr>
          </p:sp>
          <p:sp>
            <p:nvSpPr>
              <p:cNvPr id="28" name="Freeform 28"/>
              <p:cNvSpPr/>
              <p:nvPr/>
            </p:nvSpPr>
            <p:spPr>
              <a:xfrm>
                <a:off x="782241" y="2987278"/>
                <a:ext cx="21431" cy="21431"/>
              </a:xfrm>
              <a:custGeom>
                <a:avLst/>
                <a:gdLst/>
                <a:ahLst/>
                <a:cxnLst/>
                <a:rect l="l" t="t" r="r" b="b"/>
                <a:pathLst>
                  <a:path w="21431" h="21431">
                    <a:moveTo>
                      <a:pt x="21431" y="0"/>
                    </a:moveTo>
                    <a:lnTo>
                      <a:pt x="0" y="21431"/>
                    </a:lnTo>
                  </a:path>
                </a:pathLst>
              </a:custGeom>
              <a:noFill/>
              <a:ln w="19050">
                <a:solidFill>
                  <a:srgbClr val="06B6D4"/>
                </a:solidFill>
              </a:ln>
            </p:spPr>
          </p:sp>
        </p:grpSp>
        <p:sp>
          <p:nvSpPr>
            <p:cNvPr id="30" name="TextBox 30"/>
            <p:cNvSpPr txBox="1"/>
            <p:nvPr/>
          </p:nvSpPr>
          <p:spPr>
            <a:xfrm>
              <a:off x="922020" y="2969895"/>
              <a:ext cx="1484643" cy="182880"/>
            </a:xfrm>
            <a:prstGeom prst="rect">
              <a:avLst/>
            </a:prstGeom>
            <a:noFill/>
            <a:ln>
              <a:noFill/>
            </a:ln>
          </p:spPr>
          <p:txBody>
            <a:bodyPr wrap="none" lIns="0" tIns="0" rIns="0" bIns="0" anchor="t" anchorCtr="0">
              <a:spAutoFit/>
            </a:bodyPr>
            <a:lstStyle/>
            <a:p>
              <a:pPr algn="l"/>
              <a:r>
                <a:rPr lang="zh-CN" sz="900" b="1" dirty="0">
                  <a:solidFill>
                    <a:srgbClr val="F8FAFC"/>
                  </a:solidFill>
                  <a:latin typeface="Segoe UI"/>
                  <a:ea typeface="Microsoft YaHei"/>
                  <a:cs typeface="Segoe UI"/>
                </a:rPr>
                <a:t>Kiến Trúc Microservices</a:t>
              </a:r>
            </a:p>
          </p:txBody>
        </p:sp>
        <p:sp>
          <p:nvSpPr>
            <p:cNvPr id="31" name="TextBox 31"/>
            <p:cNvSpPr txBox="1"/>
            <p:nvPr/>
          </p:nvSpPr>
          <p:spPr>
            <a:xfrm>
              <a:off x="2256472" y="2977991"/>
              <a:ext cx="631531" cy="167640"/>
            </a:xfrm>
            <a:prstGeom prst="rect">
              <a:avLst/>
            </a:prstGeom>
            <a:noFill/>
            <a:ln>
              <a:noFill/>
            </a:ln>
          </p:spPr>
          <p:txBody>
            <a:bodyPr wrap="none" lIns="0" tIns="0" rIns="0" bIns="0" anchor="t" anchorCtr="0">
              <a:spAutoFit/>
            </a:bodyPr>
            <a:lstStyle/>
            <a:p>
              <a:pPr algn="l"/>
              <a:r>
                <a:rPr lang="zh-CN" sz="825" dirty="0">
                  <a:solidFill>
                    <a:srgbClr val="94A3B8"/>
                  </a:solidFill>
                  <a:latin typeface="Segoe UI"/>
                  <a:ea typeface="Microsoft YaHei"/>
                  <a:cs typeface="Segoe UI"/>
                </a:rPr>
                <a:t>(6 Dịch vụ)</a:t>
              </a:r>
            </a:p>
          </p:txBody>
        </p:sp>
        <p:sp>
          <p:nvSpPr>
            <p:cNvPr id="32" name="Rectangle 32"/>
            <p:cNvSpPr/>
            <p:nvPr/>
          </p:nvSpPr>
          <p:spPr>
            <a:xfrm>
              <a:off x="3381375" y="2857500"/>
              <a:ext cx="2809875" cy="323850"/>
            </a:xfrm>
            <a:prstGeom prst="roundRect">
              <a:avLst>
                <a:gd name="adj" fmla="val 23529"/>
              </a:avLst>
            </a:prstGeom>
            <a:solidFill>
              <a:srgbClr val="1E293B"/>
            </a:solidFill>
            <a:ln w="9525">
              <a:solidFill>
                <a:srgbClr val="334155"/>
              </a:solidFill>
            </a:ln>
          </p:spPr>
        </p:sp>
        <p:grpSp>
          <p:nvGrpSpPr>
            <p:cNvPr id="35" name="Group 35"/>
            <p:cNvGrpSpPr/>
            <p:nvPr/>
          </p:nvGrpSpPr>
          <p:grpSpPr>
            <a:xfrm>
              <a:off x="3524250" y="2959519"/>
              <a:ext cx="114300" cy="119813"/>
              <a:chOff x="3524250" y="2959519"/>
              <a:chExt cx="114300" cy="119813"/>
            </a:xfrm>
          </p:grpSpPr>
          <p:sp>
            <p:nvSpPr>
              <p:cNvPr id="33" name="Freeform 33"/>
              <p:cNvSpPr/>
              <p:nvPr/>
            </p:nvSpPr>
            <p:spPr>
              <a:xfrm>
                <a:off x="3524250" y="2959519"/>
                <a:ext cx="114300" cy="52763"/>
              </a:xfrm>
              <a:custGeom>
                <a:avLst/>
                <a:gdLst/>
                <a:ahLst/>
                <a:cxnLst/>
                <a:rect l="l" t="t" r="r" b="b"/>
                <a:pathLst>
                  <a:path w="114300" h="52763">
                    <a:moveTo>
                      <a:pt x="114300" y="52763"/>
                    </a:moveTo>
                    <a:cubicBezTo>
                      <a:pt x="110709" y="26920"/>
                      <a:pt x="90267" y="6678"/>
                      <a:pt x="64391" y="3339"/>
                    </a:cubicBezTo>
                    <a:cubicBezTo>
                      <a:pt x="38515" y="0"/>
                      <a:pt x="13605" y="14391"/>
                      <a:pt x="3572" y="38475"/>
                    </a:cubicBezTo>
                    <a:moveTo>
                      <a:pt x="0" y="9900"/>
                    </a:moveTo>
                    <a:lnTo>
                      <a:pt x="0" y="38475"/>
                    </a:lnTo>
                    <a:lnTo>
                      <a:pt x="28575" y="38475"/>
                    </a:lnTo>
                  </a:path>
                </a:pathLst>
              </a:custGeom>
              <a:noFill/>
              <a:ln w="19050">
                <a:solidFill>
                  <a:srgbClr val="10B981"/>
                </a:solidFill>
              </a:ln>
            </p:spPr>
          </p:sp>
          <p:sp>
            <p:nvSpPr>
              <p:cNvPr id="34" name="Freeform 34"/>
              <p:cNvSpPr/>
              <p:nvPr/>
            </p:nvSpPr>
            <p:spPr>
              <a:xfrm>
                <a:off x="3524250" y="3026569"/>
                <a:ext cx="114300" cy="52763"/>
              </a:xfrm>
              <a:custGeom>
                <a:avLst/>
                <a:gdLst/>
                <a:ahLst/>
                <a:cxnLst/>
                <a:rect l="l" t="t" r="r" b="b"/>
                <a:pathLst>
                  <a:path w="114300" h="52763">
                    <a:moveTo>
                      <a:pt x="0" y="0"/>
                    </a:moveTo>
                    <a:cubicBezTo>
                      <a:pt x="3591" y="25842"/>
                      <a:pt x="24033" y="46085"/>
                      <a:pt x="49909" y="49424"/>
                    </a:cubicBezTo>
                    <a:cubicBezTo>
                      <a:pt x="75785" y="52763"/>
                      <a:pt x="100695" y="38372"/>
                      <a:pt x="110728" y="14288"/>
                    </a:cubicBezTo>
                    <a:moveTo>
                      <a:pt x="114300" y="42862"/>
                    </a:moveTo>
                    <a:lnTo>
                      <a:pt x="114300" y="14288"/>
                    </a:lnTo>
                    <a:lnTo>
                      <a:pt x="85725" y="14288"/>
                    </a:lnTo>
                  </a:path>
                </a:pathLst>
              </a:custGeom>
              <a:noFill/>
              <a:ln w="19050">
                <a:solidFill>
                  <a:srgbClr val="10B981"/>
                </a:solidFill>
              </a:ln>
            </p:spPr>
          </p:sp>
        </p:grpSp>
        <p:sp>
          <p:nvSpPr>
            <p:cNvPr id="36" name="TextBox 36"/>
            <p:cNvSpPr txBox="1"/>
            <p:nvPr/>
          </p:nvSpPr>
          <p:spPr>
            <a:xfrm>
              <a:off x="3731895" y="2969895"/>
              <a:ext cx="1459440" cy="182880"/>
            </a:xfrm>
            <a:prstGeom prst="rect">
              <a:avLst/>
            </a:prstGeom>
            <a:noFill/>
            <a:ln>
              <a:noFill/>
            </a:ln>
          </p:spPr>
          <p:txBody>
            <a:bodyPr wrap="none" lIns="0" tIns="0" rIns="0" bIns="0" anchor="t" anchorCtr="0">
              <a:spAutoFit/>
            </a:bodyPr>
            <a:lstStyle/>
            <a:p>
              <a:pPr algn="l"/>
              <a:r>
                <a:rPr lang="zh-CN" sz="900" b="1" dirty="0">
                  <a:solidFill>
                    <a:srgbClr val="F8FAFC"/>
                  </a:solidFill>
                  <a:latin typeface="Segoe UI"/>
                  <a:ea typeface="Microsoft YaHei"/>
                  <a:cs typeface="Segoe UI"/>
                </a:rPr>
                <a:t>Giao Dịch Phân Tán Saga</a:t>
              </a:r>
            </a:p>
          </p:txBody>
        </p:sp>
        <p:sp>
          <p:nvSpPr>
            <p:cNvPr id="37" name="TextBox 37"/>
            <p:cNvSpPr txBox="1"/>
            <p:nvPr/>
          </p:nvSpPr>
          <p:spPr>
            <a:xfrm>
              <a:off x="5209222" y="2977991"/>
              <a:ext cx="444508" cy="167640"/>
            </a:xfrm>
            <a:prstGeom prst="rect">
              <a:avLst/>
            </a:prstGeom>
            <a:noFill/>
            <a:ln>
              <a:noFill/>
            </a:ln>
          </p:spPr>
          <p:txBody>
            <a:bodyPr wrap="none" lIns="0" tIns="0" rIns="0" bIns="0" anchor="t" anchorCtr="0">
              <a:spAutoFit/>
            </a:bodyPr>
            <a:lstStyle/>
            <a:p>
              <a:pPr algn="l"/>
              <a:r>
                <a:rPr lang="zh-CN" sz="825" dirty="0">
                  <a:solidFill>
                    <a:srgbClr val="94A3B8"/>
                  </a:solidFill>
                  <a:latin typeface="Segoe UI"/>
                  <a:ea typeface="Microsoft YaHei"/>
                  <a:cs typeface="Segoe UI"/>
                </a:rPr>
                <a:t>(Kafka)</a:t>
              </a:r>
            </a:p>
          </p:txBody>
        </p:sp>
        <p:sp>
          <p:nvSpPr>
            <p:cNvPr id="38" name="Rectangle 38"/>
            <p:cNvSpPr/>
            <p:nvPr/>
          </p:nvSpPr>
          <p:spPr>
            <a:xfrm>
              <a:off x="571500" y="3276600"/>
              <a:ext cx="2667000" cy="323850"/>
            </a:xfrm>
            <a:prstGeom prst="roundRect">
              <a:avLst>
                <a:gd name="adj" fmla="val 23529"/>
              </a:avLst>
            </a:prstGeom>
            <a:solidFill>
              <a:srgbClr val="1E293B"/>
            </a:solidFill>
            <a:ln w="9525">
              <a:solidFill>
                <a:srgbClr val="334155"/>
              </a:solidFill>
            </a:ln>
          </p:spPr>
        </p:sp>
        <p:grpSp>
          <p:nvGrpSpPr>
            <p:cNvPr id="41" name="Group 41"/>
            <p:cNvGrpSpPr/>
            <p:nvPr/>
          </p:nvGrpSpPr>
          <p:grpSpPr>
            <a:xfrm>
              <a:off x="697590" y="3374231"/>
              <a:ext cx="139505" cy="128588"/>
              <a:chOff x="697590" y="3374231"/>
              <a:chExt cx="139505" cy="128588"/>
            </a:xfrm>
          </p:grpSpPr>
          <p:sp>
            <p:nvSpPr>
              <p:cNvPr id="39" name="Freeform 39"/>
              <p:cNvSpPr/>
              <p:nvPr/>
            </p:nvSpPr>
            <p:spPr>
              <a:xfrm>
                <a:off x="697590" y="3374231"/>
                <a:ext cx="139505" cy="127487"/>
              </a:xfrm>
              <a:custGeom>
                <a:avLst/>
                <a:gdLst/>
                <a:ahLst/>
                <a:cxnLst/>
                <a:rect l="l" t="t" r="r" b="b"/>
                <a:pathLst>
                  <a:path w="139505" h="127487">
                    <a:moveTo>
                      <a:pt x="70077" y="127487"/>
                    </a:moveTo>
                    <a:cubicBezTo>
                      <a:pt x="25325" y="113615"/>
                      <a:pt x="0" y="66383"/>
                      <a:pt x="13213" y="21431"/>
                    </a:cubicBezTo>
                    <a:cubicBezTo>
                      <a:pt x="35469" y="22450"/>
                      <a:pt x="57248" y="14763"/>
                      <a:pt x="73935" y="0"/>
                    </a:cubicBezTo>
                    <a:cubicBezTo>
                      <a:pt x="90621" y="14763"/>
                      <a:pt x="112400" y="22450"/>
                      <a:pt x="134656" y="21431"/>
                    </a:cubicBezTo>
                    <a:cubicBezTo>
                      <a:pt x="139505" y="37927"/>
                      <a:pt x="139281" y="55499"/>
                      <a:pt x="134014" y="71866"/>
                    </a:cubicBezTo>
                  </a:path>
                </a:pathLst>
              </a:custGeom>
              <a:noFill/>
              <a:ln w="19050">
                <a:solidFill>
                  <a:srgbClr val="3B82F6"/>
                </a:solidFill>
              </a:ln>
            </p:spPr>
          </p:sp>
          <p:sp>
            <p:nvSpPr>
              <p:cNvPr id="40" name="Freeform 40"/>
              <p:cNvSpPr/>
              <p:nvPr/>
            </p:nvSpPr>
            <p:spPr>
              <a:xfrm>
                <a:off x="792956" y="3474244"/>
                <a:ext cx="42862" cy="28575"/>
              </a:xfrm>
              <a:custGeom>
                <a:avLst/>
                <a:gdLst/>
                <a:ahLst/>
                <a:cxnLst/>
                <a:rect l="l" t="t" r="r" b="b"/>
                <a:pathLst>
                  <a:path w="42862" h="28575">
                    <a:moveTo>
                      <a:pt x="0" y="14288"/>
                    </a:moveTo>
                    <a:lnTo>
                      <a:pt x="14288" y="28575"/>
                    </a:lnTo>
                    <a:lnTo>
                      <a:pt x="42862" y="0"/>
                    </a:lnTo>
                  </a:path>
                </a:pathLst>
              </a:custGeom>
              <a:noFill/>
              <a:ln w="19050">
                <a:solidFill>
                  <a:srgbClr val="3B82F6"/>
                </a:solidFill>
              </a:ln>
            </p:spPr>
          </p:sp>
        </p:grpSp>
        <p:sp>
          <p:nvSpPr>
            <p:cNvPr id="42" name="TextBox 42"/>
            <p:cNvSpPr txBox="1"/>
            <p:nvPr/>
          </p:nvSpPr>
          <p:spPr>
            <a:xfrm>
              <a:off x="922020" y="3388995"/>
              <a:ext cx="1157002" cy="182880"/>
            </a:xfrm>
            <a:prstGeom prst="rect">
              <a:avLst/>
            </a:prstGeom>
            <a:noFill/>
            <a:ln>
              <a:noFill/>
            </a:ln>
          </p:spPr>
          <p:txBody>
            <a:bodyPr wrap="none" lIns="0" tIns="0" rIns="0" bIns="0" anchor="t" anchorCtr="0">
              <a:spAutoFit/>
            </a:bodyPr>
            <a:lstStyle/>
            <a:p>
              <a:pPr algn="l"/>
              <a:r>
                <a:rPr lang="zh-CN" sz="900" b="1" dirty="0">
                  <a:solidFill>
                    <a:srgbClr val="F8FAFC"/>
                  </a:solidFill>
                  <a:latin typeface="Segoe UI"/>
                  <a:ea typeface="Microsoft YaHei"/>
                  <a:cs typeface="Segoe UI"/>
                </a:rPr>
                <a:t>Bảo Mật Chuẩn JWT</a:t>
              </a:r>
            </a:p>
          </p:txBody>
        </p:sp>
        <p:sp>
          <p:nvSpPr>
            <p:cNvPr id="43" name="TextBox 43"/>
            <p:cNvSpPr txBox="1"/>
            <p:nvPr/>
          </p:nvSpPr>
          <p:spPr>
            <a:xfrm>
              <a:off x="2161222" y="3397091"/>
              <a:ext cx="65903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Segoe UI"/>
                  <a:ea typeface="Microsoft YaHei"/>
                  <a:cs typeface="Segoe UI"/>
                </a:rPr>
                <a:t>(Stateless)</a:t>
              </a:r>
            </a:p>
          </p:txBody>
        </p:sp>
        <p:sp>
          <p:nvSpPr>
            <p:cNvPr id="44" name="Rectangle 44"/>
            <p:cNvSpPr/>
            <p:nvPr/>
          </p:nvSpPr>
          <p:spPr>
            <a:xfrm>
              <a:off x="3381375" y="3276600"/>
              <a:ext cx="2809875" cy="323850"/>
            </a:xfrm>
            <a:prstGeom prst="roundRect">
              <a:avLst>
                <a:gd name="adj" fmla="val 23529"/>
              </a:avLst>
            </a:prstGeom>
            <a:solidFill>
              <a:srgbClr val="1E293B"/>
            </a:solidFill>
            <a:ln w="9525">
              <a:solidFill>
                <a:srgbClr val="334155"/>
              </a:solidFill>
            </a:ln>
          </p:spPr>
        </p:sp>
        <p:sp>
          <p:nvSpPr>
            <p:cNvPr id="45" name="Freeform 45"/>
            <p:cNvSpPr/>
            <p:nvPr/>
          </p:nvSpPr>
          <p:spPr>
            <a:xfrm>
              <a:off x="3531394" y="3374231"/>
              <a:ext cx="100012" cy="128588"/>
            </a:xfrm>
            <a:custGeom>
              <a:avLst/>
              <a:gdLst/>
              <a:ahLst/>
              <a:cxnLst/>
              <a:rect l="l" t="t" r="r" b="b"/>
              <a:pathLst>
                <a:path w="100012" h="128588">
                  <a:moveTo>
                    <a:pt x="57150" y="0"/>
                  </a:moveTo>
                  <a:lnTo>
                    <a:pt x="57150" y="50006"/>
                  </a:lnTo>
                  <a:lnTo>
                    <a:pt x="100012" y="50006"/>
                  </a:lnTo>
                  <a:lnTo>
                    <a:pt x="42862" y="128588"/>
                  </a:lnTo>
                  <a:lnTo>
                    <a:pt x="42862" y="78581"/>
                  </a:lnTo>
                  <a:lnTo>
                    <a:pt x="0" y="78581"/>
                  </a:lnTo>
                  <a:lnTo>
                    <a:pt x="57150" y="0"/>
                  </a:lnTo>
                </a:path>
              </a:pathLst>
            </a:custGeom>
            <a:noFill/>
            <a:ln w="19050">
              <a:solidFill>
                <a:srgbClr val="F59E0B"/>
              </a:solidFill>
            </a:ln>
          </p:spPr>
        </p:sp>
        <p:sp>
          <p:nvSpPr>
            <p:cNvPr id="46" name="TextBox 46"/>
            <p:cNvSpPr txBox="1"/>
            <p:nvPr/>
          </p:nvSpPr>
          <p:spPr>
            <a:xfrm>
              <a:off x="3731895" y="3388995"/>
              <a:ext cx="1220010" cy="182880"/>
            </a:xfrm>
            <a:prstGeom prst="rect">
              <a:avLst/>
            </a:prstGeom>
            <a:noFill/>
            <a:ln>
              <a:noFill/>
            </a:ln>
          </p:spPr>
          <p:txBody>
            <a:bodyPr wrap="none" lIns="0" tIns="0" rIns="0" bIns="0" anchor="t" anchorCtr="0">
              <a:spAutoFit/>
            </a:bodyPr>
            <a:lstStyle/>
            <a:p>
              <a:pPr algn="l"/>
              <a:r>
                <a:rPr lang="zh-CN" sz="900" b="1" dirty="0">
                  <a:solidFill>
                    <a:srgbClr val="F8FAFC"/>
                  </a:solidFill>
                  <a:latin typeface="Segoe UI"/>
                  <a:ea typeface="Microsoft YaHei"/>
                  <a:cs typeface="Segoe UI"/>
                </a:rPr>
                <a:t>Tối Ưu Redis Caching</a:t>
              </a:r>
            </a:p>
          </p:txBody>
        </p:sp>
        <p:sp>
          <p:nvSpPr>
            <p:cNvPr id="47" name="TextBox 47"/>
            <p:cNvSpPr txBox="1"/>
            <p:nvPr/>
          </p:nvSpPr>
          <p:spPr>
            <a:xfrm>
              <a:off x="5056822" y="3397091"/>
              <a:ext cx="439007" cy="167640"/>
            </a:xfrm>
            <a:prstGeom prst="rect">
              <a:avLst/>
            </a:prstGeom>
            <a:noFill/>
            <a:ln>
              <a:noFill/>
            </a:ln>
          </p:spPr>
          <p:txBody>
            <a:bodyPr wrap="none" lIns="0" tIns="0" rIns="0" bIns="0" anchor="t" anchorCtr="0">
              <a:spAutoFit/>
            </a:bodyPr>
            <a:lstStyle/>
            <a:p>
              <a:pPr algn="l"/>
              <a:r>
                <a:rPr lang="zh-CN" sz="825" dirty="0">
                  <a:solidFill>
                    <a:srgbClr val="94A3B8"/>
                  </a:solidFill>
                  <a:latin typeface="Segoe UI"/>
                  <a:ea typeface="Microsoft YaHei"/>
                  <a:cs typeface="Segoe UI"/>
                </a:rPr>
                <a:t>(&lt; 3ms)</a:t>
              </a:r>
            </a:p>
          </p:txBody>
        </p:sp>
      </p:grpSp>
      <p:grpSp>
        <p:nvGrpSpPr>
          <p:cNvPr id="112" name="Group 112"/>
          <p:cNvGrpSpPr/>
          <p:nvPr/>
        </p:nvGrpSpPr>
        <p:grpSpPr>
          <a:xfrm>
            <a:off x="571500" y="3762375"/>
            <a:ext cx="5619750" cy="2381250"/>
            <a:chOff x="571500" y="3762375"/>
            <a:chExt cx="5619750" cy="2381250"/>
          </a:xfrm>
          <a:effectLst>
            <a:outerShdw blurRad="95250" dist="28575" dir="5400000" algn="ctr" rotWithShape="0">
              <a:srgbClr val="000000">
                <a:alpha val="30000"/>
              </a:srgbClr>
            </a:outerShdw>
          </a:effectLst>
        </p:grpSpPr>
        <p:sp>
          <p:nvSpPr>
            <p:cNvPr id="49" name="Rectangle 49"/>
            <p:cNvSpPr/>
            <p:nvPr/>
          </p:nvSpPr>
          <p:spPr>
            <a:xfrm>
              <a:off x="571500" y="3762375"/>
              <a:ext cx="5619750" cy="2381250"/>
            </a:xfrm>
            <a:prstGeom prst="roundRect">
              <a:avLst>
                <a:gd name="adj" fmla="val 5600"/>
              </a:avLst>
            </a:prstGeom>
            <a:solidFill>
              <a:srgbClr val="0F172A"/>
            </a:solidFill>
            <a:ln w="14288">
              <a:solidFill>
                <a:srgbClr val="06B6D4">
                  <a:alpha val="60000"/>
                </a:srgbClr>
              </a:solidFill>
            </a:ln>
            <a:effectLst>
              <a:outerShdw blurRad="95250" dist="28575" dir="5400000" algn="ctr" rotWithShape="0">
                <a:srgbClr val="000000">
                  <a:alpha val="30000"/>
                </a:srgbClr>
              </a:outerShdw>
            </a:effectLst>
          </p:spPr>
        </p:sp>
        <p:grpSp>
          <p:nvGrpSpPr>
            <p:cNvPr id="56" name="Group 56"/>
            <p:cNvGrpSpPr/>
            <p:nvPr/>
          </p:nvGrpSpPr>
          <p:grpSpPr>
            <a:xfrm>
              <a:off x="788194" y="3940969"/>
              <a:ext cx="157162" cy="157163"/>
              <a:chOff x="788194" y="3940969"/>
              <a:chExt cx="157162" cy="157163"/>
            </a:xfrm>
          </p:grpSpPr>
          <p:sp>
            <p:nvSpPr>
              <p:cNvPr id="50" name="Freeform 50"/>
              <p:cNvSpPr/>
              <p:nvPr/>
            </p:nvSpPr>
            <p:spPr>
              <a:xfrm>
                <a:off x="849312" y="4010819"/>
                <a:ext cx="34925" cy="34925"/>
              </a:xfrm>
              <a:custGeom>
                <a:avLst/>
                <a:gdLst/>
                <a:ahLst/>
                <a:cxnLst/>
                <a:rect l="l" t="t" r="r" b="b"/>
                <a:pathLst>
                  <a:path w="34925" h="34925">
                    <a:moveTo>
                      <a:pt x="0" y="17463"/>
                    </a:moveTo>
                    <a:cubicBezTo>
                      <a:pt x="0" y="27107"/>
                      <a:pt x="7818" y="34925"/>
                      <a:pt x="17462" y="34925"/>
                    </a:cubicBezTo>
                    <a:cubicBezTo>
                      <a:pt x="27107" y="34925"/>
                      <a:pt x="34925" y="27107"/>
                      <a:pt x="34925" y="17463"/>
                    </a:cubicBezTo>
                    <a:cubicBezTo>
                      <a:pt x="34925" y="7818"/>
                      <a:pt x="27107" y="0"/>
                      <a:pt x="17462" y="0"/>
                    </a:cubicBezTo>
                    <a:cubicBezTo>
                      <a:pt x="7818" y="0"/>
                      <a:pt x="0" y="7818"/>
                      <a:pt x="0" y="17463"/>
                    </a:cubicBezTo>
                  </a:path>
                </a:pathLst>
              </a:custGeom>
              <a:noFill/>
              <a:ln w="19050">
                <a:solidFill>
                  <a:srgbClr val="06B6D4"/>
                </a:solidFill>
              </a:ln>
              <a:effectLst>
                <a:outerShdw blurRad="95250" dist="28575" dir="5400000" algn="ctr" rotWithShape="0">
                  <a:srgbClr val="000000">
                    <a:alpha val="30000"/>
                  </a:srgbClr>
                </a:outerShdw>
              </a:effectLst>
            </p:spPr>
          </p:sp>
          <p:sp>
            <p:nvSpPr>
              <p:cNvPr id="51" name="Freeform 51"/>
              <p:cNvSpPr/>
              <p:nvPr/>
            </p:nvSpPr>
            <p:spPr>
              <a:xfrm>
                <a:off x="831850" y="4071938"/>
                <a:ext cx="69850" cy="26194"/>
              </a:xfrm>
              <a:custGeom>
                <a:avLst/>
                <a:gdLst/>
                <a:ahLst/>
                <a:cxnLst/>
                <a:rect l="l" t="t" r="r" b="b"/>
                <a:pathLst>
                  <a:path w="69850" h="26194">
                    <a:moveTo>
                      <a:pt x="0" y="26194"/>
                    </a:moveTo>
                    <a:lnTo>
                      <a:pt x="0" y="17462"/>
                    </a:lnTo>
                    <a:cubicBezTo>
                      <a:pt x="0" y="7818"/>
                      <a:pt x="7818" y="0"/>
                      <a:pt x="17463" y="0"/>
                    </a:cubicBezTo>
                    <a:lnTo>
                      <a:pt x="52388" y="0"/>
                    </a:lnTo>
                    <a:cubicBezTo>
                      <a:pt x="62032" y="0"/>
                      <a:pt x="69850" y="7818"/>
                      <a:pt x="69850" y="17462"/>
                    </a:cubicBezTo>
                    <a:lnTo>
                      <a:pt x="69850" y="26194"/>
                    </a:lnTo>
                  </a:path>
                </a:pathLst>
              </a:custGeom>
              <a:noFill/>
              <a:ln w="19050">
                <a:solidFill>
                  <a:srgbClr val="06B6D4"/>
                </a:solidFill>
              </a:ln>
              <a:effectLst>
                <a:outerShdw blurRad="95250" dist="28575" dir="5400000" algn="ctr" rotWithShape="0">
                  <a:srgbClr val="000000">
                    <a:alpha val="30000"/>
                  </a:srgbClr>
                </a:outerShdw>
              </a:effectLst>
            </p:spPr>
          </p:sp>
          <p:sp>
            <p:nvSpPr>
              <p:cNvPr id="52" name="Freeform 52"/>
              <p:cNvSpPr/>
              <p:nvPr/>
            </p:nvSpPr>
            <p:spPr>
              <a:xfrm>
                <a:off x="892969" y="3940969"/>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19050">
                <a:solidFill>
                  <a:srgbClr val="06B6D4"/>
                </a:solidFill>
              </a:ln>
              <a:effectLst>
                <a:outerShdw blurRad="95250" dist="28575" dir="5400000" algn="ctr" rotWithShape="0">
                  <a:srgbClr val="000000">
                    <a:alpha val="30000"/>
                  </a:srgbClr>
                </a:outerShdw>
              </a:effectLst>
            </p:spPr>
          </p:sp>
          <p:sp>
            <p:nvSpPr>
              <p:cNvPr id="53" name="Freeform 53"/>
              <p:cNvSpPr/>
              <p:nvPr/>
            </p:nvSpPr>
            <p:spPr>
              <a:xfrm>
                <a:off x="910431" y="4002088"/>
                <a:ext cx="34925" cy="26194"/>
              </a:xfrm>
              <a:custGeom>
                <a:avLst/>
                <a:gdLst/>
                <a:ahLst/>
                <a:cxnLst/>
                <a:rect l="l" t="t" r="r" b="b"/>
                <a:pathLst>
                  <a:path w="34925" h="26194">
                    <a:moveTo>
                      <a:pt x="0" y="0"/>
                    </a:moveTo>
                    <a:lnTo>
                      <a:pt x="17462" y="0"/>
                    </a:lnTo>
                    <a:cubicBezTo>
                      <a:pt x="27107" y="0"/>
                      <a:pt x="34925" y="7818"/>
                      <a:pt x="34925" y="17462"/>
                    </a:cubicBezTo>
                    <a:lnTo>
                      <a:pt x="34925" y="26194"/>
                    </a:lnTo>
                  </a:path>
                </a:pathLst>
              </a:custGeom>
              <a:noFill/>
              <a:ln w="19050">
                <a:solidFill>
                  <a:srgbClr val="06B6D4"/>
                </a:solidFill>
              </a:ln>
              <a:effectLst>
                <a:outerShdw blurRad="95250" dist="28575" dir="5400000" algn="ctr" rotWithShape="0">
                  <a:srgbClr val="000000">
                    <a:alpha val="30000"/>
                  </a:srgbClr>
                </a:outerShdw>
              </a:effectLst>
            </p:spPr>
          </p:sp>
          <p:sp>
            <p:nvSpPr>
              <p:cNvPr id="54" name="Freeform 54"/>
              <p:cNvSpPr/>
              <p:nvPr/>
            </p:nvSpPr>
            <p:spPr>
              <a:xfrm>
                <a:off x="805656" y="3940969"/>
                <a:ext cx="34925" cy="34925"/>
              </a:xfrm>
              <a:custGeom>
                <a:avLst/>
                <a:gdLst/>
                <a:ahLst/>
                <a:cxnLst/>
                <a:rect l="l" t="t" r="r" b="b"/>
                <a:pathLst>
                  <a:path w="34925" h="34925">
                    <a:moveTo>
                      <a:pt x="0" y="17462"/>
                    </a:moveTo>
                    <a:cubicBezTo>
                      <a:pt x="0" y="27107"/>
                      <a:pt x="7818" y="34925"/>
                      <a:pt x="17463" y="34925"/>
                    </a:cubicBezTo>
                    <a:cubicBezTo>
                      <a:pt x="27107" y="34925"/>
                      <a:pt x="34925" y="27107"/>
                      <a:pt x="34925" y="17462"/>
                    </a:cubicBezTo>
                    <a:cubicBezTo>
                      <a:pt x="34925" y="7818"/>
                      <a:pt x="27107" y="0"/>
                      <a:pt x="17463" y="0"/>
                    </a:cubicBezTo>
                    <a:cubicBezTo>
                      <a:pt x="7818" y="0"/>
                      <a:pt x="0" y="7818"/>
                      <a:pt x="0" y="17462"/>
                    </a:cubicBezTo>
                  </a:path>
                </a:pathLst>
              </a:custGeom>
              <a:noFill/>
              <a:ln w="19050">
                <a:solidFill>
                  <a:srgbClr val="06B6D4"/>
                </a:solidFill>
              </a:ln>
              <a:effectLst>
                <a:outerShdw blurRad="95250" dist="28575" dir="5400000" algn="ctr" rotWithShape="0">
                  <a:srgbClr val="000000">
                    <a:alpha val="30000"/>
                  </a:srgbClr>
                </a:outerShdw>
              </a:effectLst>
            </p:spPr>
          </p:sp>
          <p:sp>
            <p:nvSpPr>
              <p:cNvPr id="55" name="Freeform 55"/>
              <p:cNvSpPr/>
              <p:nvPr/>
            </p:nvSpPr>
            <p:spPr>
              <a:xfrm>
                <a:off x="788194" y="4002088"/>
                <a:ext cx="34925" cy="26194"/>
              </a:xfrm>
              <a:custGeom>
                <a:avLst/>
                <a:gdLst/>
                <a:ahLst/>
                <a:cxnLst/>
                <a:rect l="l" t="t" r="r" b="b"/>
                <a:pathLst>
                  <a:path w="34925" h="26194">
                    <a:moveTo>
                      <a:pt x="0" y="26194"/>
                    </a:moveTo>
                    <a:lnTo>
                      <a:pt x="0" y="17462"/>
                    </a:lnTo>
                    <a:cubicBezTo>
                      <a:pt x="0" y="7818"/>
                      <a:pt x="7818" y="0"/>
                      <a:pt x="17462" y="0"/>
                    </a:cubicBezTo>
                    <a:lnTo>
                      <a:pt x="34925" y="0"/>
                    </a:lnTo>
                  </a:path>
                </a:pathLst>
              </a:custGeom>
              <a:noFill/>
              <a:ln w="19050">
                <a:solidFill>
                  <a:srgbClr val="06B6D4"/>
                </a:solidFill>
              </a:ln>
              <a:effectLst>
                <a:outerShdw blurRad="95250" dist="28575" dir="5400000" algn="ctr" rotWithShape="0">
                  <a:srgbClr val="000000">
                    <a:alpha val="30000"/>
                  </a:srgbClr>
                </a:outerShdw>
              </a:effectLst>
            </p:spPr>
          </p:sp>
        </p:grpSp>
        <p:sp>
          <p:nvSpPr>
            <p:cNvPr id="57" name="TextBox 57"/>
            <p:cNvSpPr txBox="1"/>
            <p:nvPr/>
          </p:nvSpPr>
          <p:spPr>
            <a:xfrm>
              <a:off x="1033462" y="3955256"/>
              <a:ext cx="1903059"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ĐƠN VỊ THỰC HIỆN: NHÓM 3</a:t>
              </a:r>
            </a:p>
          </p:txBody>
        </p:sp>
        <p:sp>
          <p:nvSpPr>
            <p:cNvPr id="58" name="Rectangle 58"/>
            <p:cNvSpPr/>
            <p:nvPr/>
          </p:nvSpPr>
          <p:spPr>
            <a:xfrm>
              <a:off x="4762500" y="3905250"/>
              <a:ext cx="1257300" cy="228600"/>
            </a:xfrm>
            <a:prstGeom prst="roundRect">
              <a:avLst>
                <a:gd name="adj" fmla="val 50000"/>
              </a:avLst>
            </a:prstGeom>
            <a:solidFill>
              <a:srgbClr val="164E63"/>
            </a:solidFill>
            <a:ln w="9525">
              <a:solidFill>
                <a:srgbClr val="22D3EE"/>
              </a:solidFill>
            </a:ln>
            <a:effectLst>
              <a:outerShdw blurRad="95250" dist="28575" dir="5400000" algn="ctr" rotWithShape="0">
                <a:srgbClr val="000000">
                  <a:alpha val="30000"/>
                </a:srgbClr>
              </a:outerShdw>
            </a:effectLst>
          </p:spPr>
        </p:sp>
        <p:sp>
          <p:nvSpPr>
            <p:cNvPr id="59" name="TextBox 59"/>
            <p:cNvSpPr txBox="1"/>
            <p:nvPr/>
          </p:nvSpPr>
          <p:spPr>
            <a:xfrm>
              <a:off x="5042793" y="3968591"/>
              <a:ext cx="69671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67E8F9"/>
                  </a:solidFill>
                  <a:latin typeface="Segoe UI"/>
                  <a:ea typeface="Microsoft YaHei"/>
                  <a:cs typeface="Segoe UI"/>
                </a:rPr>
                <a:t>7 THÀNH VIÊN</a:t>
              </a:r>
            </a:p>
          </p:txBody>
        </p:sp>
        <p:sp>
          <p:nvSpPr>
            <p:cNvPr id="60" name="Line 60"/>
            <p:cNvSpPr/>
            <p:nvPr/>
          </p:nvSpPr>
          <p:spPr>
            <a:xfrm>
              <a:off x="762000" y="4229100"/>
              <a:ext cx="5238750" cy="9525"/>
            </a:xfrm>
            <a:custGeom>
              <a:avLst/>
              <a:gdLst/>
              <a:ahLst/>
              <a:cxnLst/>
              <a:rect l="l" t="t" r="r" b="b"/>
              <a:pathLst>
                <a:path w="5238750" h="9525">
                  <a:moveTo>
                    <a:pt x="0" y="0"/>
                  </a:moveTo>
                  <a:lnTo>
                    <a:pt x="5238750" y="0"/>
                  </a:lnTo>
                </a:path>
              </a:pathLst>
            </a:custGeom>
            <a:noFill/>
            <a:ln w="9525">
              <a:solidFill>
                <a:srgbClr val="334155"/>
              </a:solidFill>
            </a:ln>
          </p:spPr>
        </p:sp>
        <p:grpSp>
          <p:nvGrpSpPr>
            <p:cNvPr id="66" name="Group 66"/>
            <p:cNvGrpSpPr/>
            <p:nvPr/>
          </p:nvGrpSpPr>
          <p:grpSpPr>
            <a:xfrm>
              <a:off x="762000" y="4343400"/>
              <a:ext cx="2524125" cy="361950"/>
              <a:chOff x="762000" y="4343400"/>
              <a:chExt cx="2524125" cy="361950"/>
            </a:xfrm>
          </p:grpSpPr>
          <p:sp>
            <p:nvSpPr>
              <p:cNvPr id="61" name="Rectangle 61"/>
              <p:cNvSpPr/>
              <p:nvPr/>
            </p:nvSpPr>
            <p:spPr>
              <a:xfrm>
                <a:off x="762000" y="4343400"/>
                <a:ext cx="2524125" cy="361950"/>
              </a:xfrm>
              <a:prstGeom prst="roundRect">
                <a:avLst>
                  <a:gd name="adj" fmla="val 21053"/>
                </a:avLst>
              </a:prstGeom>
              <a:solidFill>
                <a:srgbClr val="1E293B"/>
              </a:solidFill>
              <a:ln w="11430">
                <a:solidFill>
                  <a:srgbClr val="06B6D4"/>
                </a:solidFill>
              </a:ln>
              <a:effectLst>
                <a:outerShdw blurRad="95250" dist="28575" dir="5400000" algn="ctr" rotWithShape="0">
                  <a:srgbClr val="000000">
                    <a:alpha val="30000"/>
                  </a:srgbClr>
                </a:outerShdw>
              </a:effectLst>
            </p:spPr>
          </p:sp>
          <p:sp>
            <p:nvSpPr>
              <p:cNvPr id="62" name="Ellipse 62"/>
              <p:cNvSpPr/>
              <p:nvPr/>
            </p:nvSpPr>
            <p:spPr>
              <a:xfrm>
                <a:off x="838200" y="4410075"/>
                <a:ext cx="228600" cy="228600"/>
              </a:xfrm>
              <a:prstGeom prst="ellipse">
                <a:avLst/>
              </a:prstGeom>
              <a:solidFill>
                <a:srgbClr val="083344"/>
              </a:solidFill>
              <a:ln>
                <a:noFill/>
              </a:ln>
              <a:effectLst>
                <a:outerShdw blurRad="95250" dist="28575" dir="5400000" algn="ctr" rotWithShape="0">
                  <a:srgbClr val="000000">
                    <a:alpha val="30000"/>
                  </a:srgbClr>
                </a:outerShdw>
              </a:effectLst>
            </p:spPr>
          </p:sp>
          <p:sp>
            <p:nvSpPr>
              <p:cNvPr id="63" name="Freeform 63"/>
              <p:cNvSpPr/>
              <p:nvPr/>
            </p:nvSpPr>
            <p:spPr>
              <a:xfrm>
                <a:off x="895350" y="4486275"/>
                <a:ext cx="114300" cy="76200"/>
              </a:xfrm>
              <a:custGeom>
                <a:avLst/>
                <a:gdLst/>
                <a:ahLst/>
                <a:cxnLst/>
                <a:rect l="l" t="t" r="r" b="b"/>
                <a:pathLst>
                  <a:path w="114300" h="76200">
                    <a:moveTo>
                      <a:pt x="57150" y="0"/>
                    </a:moveTo>
                    <a:lnTo>
                      <a:pt x="82550" y="38100"/>
                    </a:lnTo>
                    <a:lnTo>
                      <a:pt x="114300" y="12700"/>
                    </a:lnTo>
                    <a:lnTo>
                      <a:pt x="101600" y="76200"/>
                    </a:lnTo>
                    <a:lnTo>
                      <a:pt x="12700" y="76200"/>
                    </a:lnTo>
                    <a:lnTo>
                      <a:pt x="0" y="12700"/>
                    </a:lnTo>
                    <a:lnTo>
                      <a:pt x="31750" y="38100"/>
                    </a:lnTo>
                    <a:lnTo>
                      <a:pt x="57150" y="0"/>
                    </a:lnTo>
                  </a:path>
                </a:pathLst>
              </a:custGeom>
              <a:noFill/>
              <a:ln w="19050">
                <a:solidFill>
                  <a:srgbClr val="22D3EE"/>
                </a:solidFill>
              </a:ln>
              <a:effectLst>
                <a:outerShdw blurRad="95250" dist="28575" dir="5400000" algn="ctr" rotWithShape="0">
                  <a:srgbClr val="000000">
                    <a:alpha val="30000"/>
                  </a:srgbClr>
                </a:outerShdw>
              </a:effectLst>
            </p:spPr>
          </p:sp>
          <p:sp>
            <p:nvSpPr>
              <p:cNvPr id="64" name="TextBox 64"/>
              <p:cNvSpPr txBox="1"/>
              <p:nvPr/>
            </p:nvSpPr>
            <p:spPr>
              <a:xfrm>
                <a:off x="1130141" y="4462701"/>
                <a:ext cx="1046445"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Vũ Đăng Nguyên</a:t>
                </a:r>
              </a:p>
            </p:txBody>
          </p:sp>
          <p:sp>
            <p:nvSpPr>
              <p:cNvPr id="65" name="TextBox 65"/>
              <p:cNvSpPr txBox="1"/>
              <p:nvPr/>
            </p:nvSpPr>
            <p:spPr>
              <a:xfrm>
                <a:off x="2418398" y="4482941"/>
                <a:ext cx="841108"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b="1" dirty="0">
                    <a:solidFill>
                      <a:srgbClr val="38BDF8"/>
                    </a:solidFill>
                    <a:latin typeface="Segoe UI"/>
                    <a:ea typeface="Microsoft YaHei"/>
                    <a:cs typeface="Segoe UI"/>
                  </a:rPr>
                  <a:t>(Trưởng nhóm)</a:t>
                </a:r>
              </a:p>
            </p:txBody>
          </p:sp>
        </p:grpSp>
        <p:grpSp>
          <p:nvGrpSpPr>
            <p:cNvPr id="72" name="Group 72"/>
            <p:cNvGrpSpPr/>
            <p:nvPr/>
          </p:nvGrpSpPr>
          <p:grpSpPr>
            <a:xfrm>
              <a:off x="762000" y="4781550"/>
              <a:ext cx="2524125" cy="361950"/>
              <a:chOff x="762000" y="4781550"/>
              <a:chExt cx="2524125" cy="361950"/>
            </a:xfrm>
          </p:grpSpPr>
          <p:sp>
            <p:nvSpPr>
              <p:cNvPr id="67" name="Rectangle 67"/>
              <p:cNvSpPr/>
              <p:nvPr/>
            </p:nvSpPr>
            <p:spPr>
              <a:xfrm>
                <a:off x="762000" y="478155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68" name="Ellipse 68"/>
              <p:cNvSpPr/>
              <p:nvPr/>
            </p:nvSpPr>
            <p:spPr>
              <a:xfrm>
                <a:off x="857250" y="4867275"/>
                <a:ext cx="190500" cy="190500"/>
              </a:xfrm>
              <a:prstGeom prst="ellipse">
                <a:avLst/>
              </a:prstGeom>
              <a:solidFill>
                <a:srgbClr val="172554"/>
              </a:solidFill>
              <a:ln>
                <a:noFill/>
              </a:ln>
              <a:effectLst>
                <a:outerShdw blurRad="95250" dist="28575" dir="5400000" algn="ctr" rotWithShape="0">
                  <a:srgbClr val="000000">
                    <a:alpha val="30000"/>
                  </a:srgbClr>
                </a:outerShdw>
              </a:effectLst>
            </p:spPr>
          </p:sp>
          <p:sp>
            <p:nvSpPr>
              <p:cNvPr id="69" name="Ellipse 69"/>
              <p:cNvSpPr/>
              <p:nvPr/>
            </p:nvSpPr>
            <p:spPr>
              <a:xfrm>
                <a:off x="914400" y="4924425"/>
                <a:ext cx="76200" cy="76200"/>
              </a:xfrm>
              <a:prstGeom prst="ellipse">
                <a:avLst/>
              </a:prstGeom>
              <a:solidFill>
                <a:srgbClr val="38BDF8"/>
              </a:solidFill>
              <a:ln>
                <a:noFill/>
              </a:ln>
              <a:effectLst>
                <a:outerShdw blurRad="95250" dist="28575" dir="5400000" algn="ctr" rotWithShape="0">
                  <a:srgbClr val="000000">
                    <a:alpha val="30000"/>
                  </a:srgbClr>
                </a:outerShdw>
              </a:effectLst>
            </p:spPr>
          </p:sp>
          <p:sp>
            <p:nvSpPr>
              <p:cNvPr id="70" name="TextBox 70"/>
              <p:cNvSpPr txBox="1"/>
              <p:nvPr/>
            </p:nvSpPr>
            <p:spPr>
              <a:xfrm>
                <a:off x="1130141" y="4900851"/>
                <a:ext cx="890501"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Nguyễn Lê Vũ</a:t>
                </a:r>
              </a:p>
            </p:txBody>
          </p:sp>
          <p:sp>
            <p:nvSpPr>
              <p:cNvPr id="71" name="TextBox 71"/>
              <p:cNvSpPr txBox="1"/>
              <p:nvPr/>
            </p:nvSpPr>
            <p:spPr>
              <a:xfrm>
                <a:off x="2466022" y="4921091"/>
                <a:ext cx="5710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Thành viên</a:t>
                </a:r>
              </a:p>
            </p:txBody>
          </p:sp>
        </p:grpSp>
        <p:grpSp>
          <p:nvGrpSpPr>
            <p:cNvPr id="78" name="Group 78"/>
            <p:cNvGrpSpPr/>
            <p:nvPr/>
          </p:nvGrpSpPr>
          <p:grpSpPr>
            <a:xfrm>
              <a:off x="762000" y="5219700"/>
              <a:ext cx="2524125" cy="361950"/>
              <a:chOff x="762000" y="5219700"/>
              <a:chExt cx="2524125" cy="361950"/>
            </a:xfrm>
          </p:grpSpPr>
          <p:sp>
            <p:nvSpPr>
              <p:cNvPr id="73" name="Rectangle 73"/>
              <p:cNvSpPr/>
              <p:nvPr/>
            </p:nvSpPr>
            <p:spPr>
              <a:xfrm>
                <a:off x="762000" y="521970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74" name="Ellipse 74"/>
              <p:cNvSpPr/>
              <p:nvPr/>
            </p:nvSpPr>
            <p:spPr>
              <a:xfrm>
                <a:off x="857250" y="5305425"/>
                <a:ext cx="190500" cy="190500"/>
              </a:xfrm>
              <a:prstGeom prst="ellipse">
                <a:avLst/>
              </a:prstGeom>
              <a:solidFill>
                <a:srgbClr val="78350F"/>
              </a:solidFill>
              <a:ln>
                <a:noFill/>
              </a:ln>
              <a:effectLst>
                <a:outerShdw blurRad="95250" dist="28575" dir="5400000" algn="ctr" rotWithShape="0">
                  <a:srgbClr val="000000">
                    <a:alpha val="30000"/>
                  </a:srgbClr>
                </a:outerShdw>
              </a:effectLst>
            </p:spPr>
          </p:sp>
          <p:sp>
            <p:nvSpPr>
              <p:cNvPr id="75" name="Ellipse 75"/>
              <p:cNvSpPr/>
              <p:nvPr/>
            </p:nvSpPr>
            <p:spPr>
              <a:xfrm>
                <a:off x="914400" y="5362575"/>
                <a:ext cx="76200" cy="76200"/>
              </a:xfrm>
              <a:prstGeom prst="ellipse">
                <a:avLst/>
              </a:prstGeom>
              <a:solidFill>
                <a:srgbClr val="FBBF24"/>
              </a:solidFill>
              <a:ln>
                <a:noFill/>
              </a:ln>
              <a:effectLst>
                <a:outerShdw blurRad="95250" dist="28575" dir="5400000" algn="ctr" rotWithShape="0">
                  <a:srgbClr val="000000">
                    <a:alpha val="30000"/>
                  </a:srgbClr>
                </a:outerShdw>
              </a:effectLst>
            </p:spPr>
          </p:sp>
          <p:sp>
            <p:nvSpPr>
              <p:cNvPr id="76" name="TextBox 76"/>
              <p:cNvSpPr txBox="1"/>
              <p:nvPr/>
            </p:nvSpPr>
            <p:spPr>
              <a:xfrm>
                <a:off x="1130141" y="5339001"/>
                <a:ext cx="1088975"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Nguyễn Đại Phát</a:t>
                </a:r>
              </a:p>
            </p:txBody>
          </p:sp>
          <p:sp>
            <p:nvSpPr>
              <p:cNvPr id="77" name="TextBox 77"/>
              <p:cNvSpPr txBox="1"/>
              <p:nvPr/>
            </p:nvSpPr>
            <p:spPr>
              <a:xfrm>
                <a:off x="2466022" y="5359241"/>
                <a:ext cx="5710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Thành viên</a:t>
                </a:r>
              </a:p>
            </p:txBody>
          </p:sp>
        </p:grpSp>
        <p:grpSp>
          <p:nvGrpSpPr>
            <p:cNvPr id="84" name="Group 84"/>
            <p:cNvGrpSpPr/>
            <p:nvPr/>
          </p:nvGrpSpPr>
          <p:grpSpPr>
            <a:xfrm>
              <a:off x="762000" y="5657850"/>
              <a:ext cx="2524125" cy="361950"/>
              <a:chOff x="762000" y="5657850"/>
              <a:chExt cx="2524125" cy="361950"/>
            </a:xfrm>
          </p:grpSpPr>
          <p:sp>
            <p:nvSpPr>
              <p:cNvPr id="79" name="Rectangle 79"/>
              <p:cNvSpPr/>
              <p:nvPr/>
            </p:nvSpPr>
            <p:spPr>
              <a:xfrm>
                <a:off x="762000" y="565785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80" name="Ellipse 80"/>
              <p:cNvSpPr/>
              <p:nvPr/>
            </p:nvSpPr>
            <p:spPr>
              <a:xfrm>
                <a:off x="857250" y="5743575"/>
                <a:ext cx="190500" cy="190500"/>
              </a:xfrm>
              <a:prstGeom prst="ellipse">
                <a:avLst/>
              </a:prstGeom>
              <a:solidFill>
                <a:srgbClr val="064E3B"/>
              </a:solidFill>
              <a:ln>
                <a:noFill/>
              </a:ln>
              <a:effectLst>
                <a:outerShdw blurRad="95250" dist="28575" dir="5400000" algn="ctr" rotWithShape="0">
                  <a:srgbClr val="000000">
                    <a:alpha val="30000"/>
                  </a:srgbClr>
                </a:outerShdw>
              </a:effectLst>
            </p:spPr>
          </p:sp>
          <p:sp>
            <p:nvSpPr>
              <p:cNvPr id="81" name="Ellipse 81"/>
              <p:cNvSpPr/>
              <p:nvPr/>
            </p:nvSpPr>
            <p:spPr>
              <a:xfrm>
                <a:off x="914400" y="5800725"/>
                <a:ext cx="76200" cy="76200"/>
              </a:xfrm>
              <a:prstGeom prst="ellipse">
                <a:avLst/>
              </a:prstGeom>
              <a:solidFill>
                <a:srgbClr val="4ADE80"/>
              </a:solidFill>
              <a:ln>
                <a:noFill/>
              </a:ln>
              <a:effectLst>
                <a:outerShdw blurRad="95250" dist="28575" dir="5400000" algn="ctr" rotWithShape="0">
                  <a:srgbClr val="000000">
                    <a:alpha val="30000"/>
                  </a:srgbClr>
                </a:outerShdw>
              </a:effectLst>
            </p:spPr>
          </p:sp>
          <p:sp>
            <p:nvSpPr>
              <p:cNvPr id="82" name="TextBox 82"/>
              <p:cNvSpPr txBox="1"/>
              <p:nvPr/>
            </p:nvSpPr>
            <p:spPr>
              <a:xfrm>
                <a:off x="1130141" y="5777151"/>
                <a:ext cx="890501"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Phan Văn Đạt</a:t>
                </a:r>
              </a:p>
            </p:txBody>
          </p:sp>
          <p:sp>
            <p:nvSpPr>
              <p:cNvPr id="83" name="TextBox 83"/>
              <p:cNvSpPr txBox="1"/>
              <p:nvPr/>
            </p:nvSpPr>
            <p:spPr>
              <a:xfrm>
                <a:off x="2466022" y="5797391"/>
                <a:ext cx="5710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Thành viên</a:t>
                </a:r>
              </a:p>
            </p:txBody>
          </p:sp>
        </p:grpSp>
        <p:grpSp>
          <p:nvGrpSpPr>
            <p:cNvPr id="90" name="Group 90"/>
            <p:cNvGrpSpPr/>
            <p:nvPr/>
          </p:nvGrpSpPr>
          <p:grpSpPr>
            <a:xfrm>
              <a:off x="3476625" y="4343400"/>
              <a:ext cx="2524125" cy="361950"/>
              <a:chOff x="3476625" y="4343400"/>
              <a:chExt cx="2524125" cy="361950"/>
            </a:xfrm>
          </p:grpSpPr>
          <p:sp>
            <p:nvSpPr>
              <p:cNvPr id="85" name="Rectangle 85"/>
              <p:cNvSpPr/>
              <p:nvPr/>
            </p:nvSpPr>
            <p:spPr>
              <a:xfrm>
                <a:off x="3476625" y="434340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86" name="Ellipse 86"/>
              <p:cNvSpPr/>
              <p:nvPr/>
            </p:nvSpPr>
            <p:spPr>
              <a:xfrm>
                <a:off x="3571875" y="4429125"/>
                <a:ext cx="190500" cy="190500"/>
              </a:xfrm>
              <a:prstGeom prst="ellipse">
                <a:avLst/>
              </a:prstGeom>
              <a:solidFill>
                <a:srgbClr val="164E63"/>
              </a:solidFill>
              <a:ln>
                <a:noFill/>
              </a:ln>
              <a:effectLst>
                <a:outerShdw blurRad="95250" dist="28575" dir="5400000" algn="ctr" rotWithShape="0">
                  <a:srgbClr val="000000">
                    <a:alpha val="30000"/>
                  </a:srgbClr>
                </a:outerShdw>
              </a:effectLst>
            </p:spPr>
          </p:sp>
          <p:sp>
            <p:nvSpPr>
              <p:cNvPr id="87" name="Ellipse 87"/>
              <p:cNvSpPr/>
              <p:nvPr/>
            </p:nvSpPr>
            <p:spPr>
              <a:xfrm>
                <a:off x="3629025" y="4486275"/>
                <a:ext cx="76200" cy="76200"/>
              </a:xfrm>
              <a:prstGeom prst="ellipse">
                <a:avLst/>
              </a:prstGeom>
              <a:solidFill>
                <a:srgbClr val="22D3EE"/>
              </a:solidFill>
              <a:ln>
                <a:noFill/>
              </a:ln>
              <a:effectLst>
                <a:outerShdw blurRad="95250" dist="28575" dir="5400000" algn="ctr" rotWithShape="0">
                  <a:srgbClr val="000000">
                    <a:alpha val="30000"/>
                  </a:srgbClr>
                </a:outerShdw>
              </a:effectLst>
            </p:spPr>
          </p:sp>
          <p:sp>
            <p:nvSpPr>
              <p:cNvPr id="88" name="TextBox 88"/>
              <p:cNvSpPr txBox="1"/>
              <p:nvPr/>
            </p:nvSpPr>
            <p:spPr>
              <a:xfrm>
                <a:off x="3844766" y="4462701"/>
                <a:ext cx="1202390"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Dương Phúc Thịnh</a:t>
                </a:r>
              </a:p>
            </p:txBody>
          </p:sp>
          <p:sp>
            <p:nvSpPr>
              <p:cNvPr id="89" name="TextBox 89"/>
              <p:cNvSpPr txBox="1"/>
              <p:nvPr/>
            </p:nvSpPr>
            <p:spPr>
              <a:xfrm>
                <a:off x="5180648" y="4482941"/>
                <a:ext cx="5710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Thành viên</a:t>
                </a:r>
              </a:p>
            </p:txBody>
          </p:sp>
        </p:grpSp>
        <p:grpSp>
          <p:nvGrpSpPr>
            <p:cNvPr id="96" name="Group 96"/>
            <p:cNvGrpSpPr/>
            <p:nvPr/>
          </p:nvGrpSpPr>
          <p:grpSpPr>
            <a:xfrm>
              <a:off x="3476625" y="4781550"/>
              <a:ext cx="2524125" cy="361950"/>
              <a:chOff x="3476625" y="4781550"/>
              <a:chExt cx="2524125" cy="361950"/>
            </a:xfrm>
          </p:grpSpPr>
          <p:sp>
            <p:nvSpPr>
              <p:cNvPr id="91" name="Rectangle 91"/>
              <p:cNvSpPr/>
              <p:nvPr/>
            </p:nvSpPr>
            <p:spPr>
              <a:xfrm>
                <a:off x="3476625" y="478155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92" name="Ellipse 92"/>
              <p:cNvSpPr/>
              <p:nvPr/>
            </p:nvSpPr>
            <p:spPr>
              <a:xfrm>
                <a:off x="3571875" y="4867275"/>
                <a:ext cx="190500" cy="190500"/>
              </a:xfrm>
              <a:prstGeom prst="ellipse">
                <a:avLst/>
              </a:prstGeom>
              <a:solidFill>
                <a:srgbClr val="431407"/>
              </a:solidFill>
              <a:ln>
                <a:noFill/>
              </a:ln>
              <a:effectLst>
                <a:outerShdw blurRad="95250" dist="28575" dir="5400000" algn="ctr" rotWithShape="0">
                  <a:srgbClr val="000000">
                    <a:alpha val="30000"/>
                  </a:srgbClr>
                </a:outerShdw>
              </a:effectLst>
            </p:spPr>
          </p:sp>
          <p:sp>
            <p:nvSpPr>
              <p:cNvPr id="93" name="Ellipse 93"/>
              <p:cNvSpPr/>
              <p:nvPr/>
            </p:nvSpPr>
            <p:spPr>
              <a:xfrm>
                <a:off x="3629025" y="4924425"/>
                <a:ext cx="76200" cy="76200"/>
              </a:xfrm>
              <a:prstGeom prst="ellipse">
                <a:avLst/>
              </a:prstGeom>
              <a:solidFill>
                <a:srgbClr val="FB923C"/>
              </a:solidFill>
              <a:ln>
                <a:noFill/>
              </a:ln>
              <a:effectLst>
                <a:outerShdw blurRad="95250" dist="28575" dir="5400000" algn="ctr" rotWithShape="0">
                  <a:srgbClr val="000000">
                    <a:alpha val="30000"/>
                  </a:srgbClr>
                </a:outerShdw>
              </a:effectLst>
            </p:spPr>
          </p:sp>
          <p:sp>
            <p:nvSpPr>
              <p:cNvPr id="94" name="TextBox 94"/>
              <p:cNvSpPr txBox="1"/>
              <p:nvPr/>
            </p:nvSpPr>
            <p:spPr>
              <a:xfrm>
                <a:off x="3844766" y="4900851"/>
                <a:ext cx="968473" cy="2057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Cao Tất Thành</a:t>
                </a:r>
              </a:p>
            </p:txBody>
          </p:sp>
          <p:sp>
            <p:nvSpPr>
              <p:cNvPr id="95" name="TextBox 95"/>
              <p:cNvSpPr txBox="1"/>
              <p:nvPr/>
            </p:nvSpPr>
            <p:spPr>
              <a:xfrm>
                <a:off x="5180648" y="4921091"/>
                <a:ext cx="5710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Thành viên</a:t>
                </a:r>
              </a:p>
            </p:txBody>
          </p:sp>
        </p:grpSp>
        <p:grpSp>
          <p:nvGrpSpPr>
            <p:cNvPr id="101" name="Group 101"/>
            <p:cNvGrpSpPr/>
            <p:nvPr/>
          </p:nvGrpSpPr>
          <p:grpSpPr>
            <a:xfrm>
              <a:off x="3476625" y="5219700"/>
              <a:ext cx="2524125" cy="361950"/>
              <a:chOff x="3476625" y="5219700"/>
              <a:chExt cx="2524125" cy="361950"/>
            </a:xfrm>
          </p:grpSpPr>
          <p:sp>
            <p:nvSpPr>
              <p:cNvPr id="97" name="Rectangle 97"/>
              <p:cNvSpPr/>
              <p:nvPr/>
            </p:nvSpPr>
            <p:spPr>
              <a:xfrm>
                <a:off x="3476625" y="5219700"/>
                <a:ext cx="2524125" cy="361950"/>
              </a:xfrm>
              <a:prstGeom prst="roundRect">
                <a:avLst>
                  <a:gd name="adj" fmla="val 21053"/>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98" name="Ellipse 98"/>
              <p:cNvSpPr/>
              <p:nvPr/>
            </p:nvSpPr>
            <p:spPr>
              <a:xfrm>
                <a:off x="3571875" y="5305425"/>
                <a:ext cx="190500" cy="190500"/>
              </a:xfrm>
              <a:prstGeom prst="ellipse">
                <a:avLst/>
              </a:prstGeom>
              <a:solidFill>
                <a:srgbClr val="3B0764"/>
              </a:solidFill>
              <a:ln>
                <a:noFill/>
              </a:ln>
              <a:effectLst>
                <a:outerShdw blurRad="95250" dist="28575" dir="5400000" algn="ctr" rotWithShape="0">
                  <a:srgbClr val="000000">
                    <a:alpha val="30000"/>
                  </a:srgbClr>
                </a:outerShdw>
              </a:effectLst>
            </p:spPr>
          </p:sp>
          <p:sp>
            <p:nvSpPr>
              <p:cNvPr id="99" name="Ellipse 99"/>
              <p:cNvSpPr/>
              <p:nvPr/>
            </p:nvSpPr>
            <p:spPr>
              <a:xfrm>
                <a:off x="3629025" y="5362575"/>
                <a:ext cx="76200" cy="76200"/>
              </a:xfrm>
              <a:prstGeom prst="ellipse">
                <a:avLst/>
              </a:prstGeom>
              <a:solidFill>
                <a:srgbClr val="C084FC"/>
              </a:solidFill>
              <a:ln>
                <a:noFill/>
              </a:ln>
              <a:effectLst>
                <a:outerShdw blurRad="95250" dist="28575" dir="5400000" algn="ctr" rotWithShape="0">
                  <a:srgbClr val="000000">
                    <a:alpha val="30000"/>
                  </a:srgbClr>
                </a:outerShdw>
              </a:effectLst>
            </p:spPr>
          </p:sp>
          <p:sp>
            <p:nvSpPr>
              <p:cNvPr id="100" name="TextBox 100"/>
              <p:cNvSpPr txBox="1"/>
              <p:nvPr/>
            </p:nvSpPr>
            <p:spPr>
              <a:xfrm>
                <a:off x="3845242" y="5343049"/>
                <a:ext cx="1649318"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Nguyễn Trọng Đăng Dương</a:t>
                </a:r>
              </a:p>
            </p:txBody>
          </p:sp>
        </p:grpSp>
        <p:grpSp>
          <p:nvGrpSpPr>
            <p:cNvPr id="111" name="Group 111"/>
            <p:cNvGrpSpPr/>
            <p:nvPr/>
          </p:nvGrpSpPr>
          <p:grpSpPr>
            <a:xfrm>
              <a:off x="3476625" y="5657850"/>
              <a:ext cx="2524125" cy="361950"/>
              <a:chOff x="3476625" y="5657850"/>
              <a:chExt cx="2524125" cy="361950"/>
            </a:xfrm>
          </p:grpSpPr>
          <p:sp>
            <p:nvSpPr>
              <p:cNvPr id="102" name="Rectangle 102"/>
              <p:cNvSpPr/>
              <p:nvPr/>
            </p:nvSpPr>
            <p:spPr>
              <a:xfrm>
                <a:off x="3476625" y="5657850"/>
                <a:ext cx="2524125" cy="361950"/>
              </a:xfrm>
              <a:prstGeom prst="roundRect">
                <a:avLst>
                  <a:gd name="adj" fmla="val 21053"/>
                </a:avLst>
              </a:prstGeom>
              <a:solidFill>
                <a:srgbClr val="172554"/>
              </a:solidFill>
              <a:ln w="9525">
                <a:solidFill>
                  <a:srgbClr val="2563EB"/>
                </a:solidFill>
              </a:ln>
              <a:effectLst>
                <a:outerShdw blurRad="95250" dist="28575" dir="5400000" algn="ctr" rotWithShape="0">
                  <a:srgbClr val="000000">
                    <a:alpha val="30000"/>
                  </a:srgbClr>
                </a:outerShdw>
              </a:effectLst>
            </p:spPr>
          </p:sp>
          <p:grpSp>
            <p:nvGrpSpPr>
              <p:cNvPr id="109" name="Group 109"/>
              <p:cNvGrpSpPr/>
              <p:nvPr/>
            </p:nvGrpSpPr>
            <p:grpSpPr>
              <a:xfrm>
                <a:off x="3612356" y="5788819"/>
                <a:ext cx="128588" cy="121444"/>
                <a:chOff x="3612356" y="5788819"/>
                <a:chExt cx="128588" cy="121444"/>
              </a:xfrm>
            </p:grpSpPr>
            <p:sp>
              <p:nvSpPr>
                <p:cNvPr id="103" name="Freeform 103"/>
                <p:cNvSpPr/>
                <p:nvPr/>
              </p:nvSpPr>
              <p:spPr>
                <a:xfrm>
                  <a:off x="3676650" y="5838825"/>
                  <a:ext cx="42862" cy="42862"/>
                </a:xfrm>
                <a:custGeom>
                  <a:avLst/>
                  <a:gdLst/>
                  <a:ahLst/>
                  <a:cxnLst/>
                  <a:rect l="l" t="t" r="r" b="b"/>
                  <a:pathLst>
                    <a:path w="42862" h="42862">
                      <a:moveTo>
                        <a:pt x="0" y="21431"/>
                      </a:moveTo>
                      <a:cubicBezTo>
                        <a:pt x="0" y="33267"/>
                        <a:pt x="9595" y="42862"/>
                        <a:pt x="21431" y="42862"/>
                      </a:cubicBezTo>
                      <a:cubicBezTo>
                        <a:pt x="33267" y="42862"/>
                        <a:pt x="42862" y="33267"/>
                        <a:pt x="42862" y="21431"/>
                      </a:cubicBezTo>
                      <a:cubicBezTo>
                        <a:pt x="42862" y="9595"/>
                        <a:pt x="33267" y="0"/>
                        <a:pt x="21431" y="0"/>
                      </a:cubicBezTo>
                      <a:cubicBezTo>
                        <a:pt x="9595" y="0"/>
                        <a:pt x="0" y="9595"/>
                        <a:pt x="0" y="21431"/>
                      </a:cubicBezTo>
                    </a:path>
                  </a:pathLst>
                </a:custGeom>
                <a:noFill/>
                <a:ln w="19050">
                  <a:solidFill>
                    <a:srgbClr val="38BDF8"/>
                  </a:solidFill>
                </a:ln>
                <a:effectLst>
                  <a:outerShdw blurRad="95250" dist="28575" dir="5400000" algn="ctr" rotWithShape="0">
                    <a:srgbClr val="000000">
                      <a:alpha val="30000"/>
                    </a:srgbClr>
                  </a:outerShdw>
                </a:effectLst>
              </p:spPr>
            </p:sp>
            <p:sp>
              <p:nvSpPr>
                <p:cNvPr id="104" name="Freeform 104"/>
                <p:cNvSpPr/>
                <p:nvPr/>
              </p:nvSpPr>
              <p:spPr>
                <a:xfrm>
                  <a:off x="3683794" y="5878116"/>
                  <a:ext cx="28575" cy="32147"/>
                </a:xfrm>
                <a:custGeom>
                  <a:avLst/>
                  <a:gdLst/>
                  <a:ahLst/>
                  <a:cxnLst/>
                  <a:rect l="l" t="t" r="r" b="b"/>
                  <a:pathLst>
                    <a:path w="28575" h="32147">
                      <a:moveTo>
                        <a:pt x="0" y="0"/>
                      </a:moveTo>
                      <a:lnTo>
                        <a:pt x="0" y="32147"/>
                      </a:lnTo>
                      <a:lnTo>
                        <a:pt x="14288" y="21431"/>
                      </a:lnTo>
                      <a:lnTo>
                        <a:pt x="28575" y="32147"/>
                      </a:lnTo>
                      <a:lnTo>
                        <a:pt x="28575" y="0"/>
                      </a:lnTo>
                    </a:path>
                  </a:pathLst>
                </a:custGeom>
                <a:noFill/>
                <a:ln w="19050">
                  <a:solidFill>
                    <a:srgbClr val="38BDF8"/>
                  </a:solidFill>
                </a:ln>
                <a:effectLst>
                  <a:outerShdw blurRad="95250" dist="28575" dir="5400000" algn="ctr" rotWithShape="0">
                    <a:srgbClr val="000000">
                      <a:alpha val="30000"/>
                    </a:srgbClr>
                  </a:outerShdw>
                </a:effectLst>
              </p:spPr>
            </p:sp>
            <p:sp>
              <p:nvSpPr>
                <p:cNvPr id="105" name="Freeform 105"/>
                <p:cNvSpPr/>
                <p:nvPr/>
              </p:nvSpPr>
              <p:spPr>
                <a:xfrm>
                  <a:off x="3612356" y="5788819"/>
                  <a:ext cx="128588" cy="100012"/>
                </a:xfrm>
                <a:custGeom>
                  <a:avLst/>
                  <a:gdLst/>
                  <a:ahLst/>
                  <a:cxnLst/>
                  <a:rect l="l" t="t" r="r" b="b"/>
                  <a:pathLst>
                    <a:path w="128588" h="100012">
                      <a:moveTo>
                        <a:pt x="50006" y="100012"/>
                      </a:moveTo>
                      <a:lnTo>
                        <a:pt x="14288" y="100012"/>
                      </a:lnTo>
                      <a:cubicBezTo>
                        <a:pt x="6397" y="100012"/>
                        <a:pt x="0" y="93616"/>
                        <a:pt x="0" y="85725"/>
                      </a:cubicBezTo>
                      <a:lnTo>
                        <a:pt x="0" y="14288"/>
                      </a:lnTo>
                      <a:cubicBezTo>
                        <a:pt x="0" y="6429"/>
                        <a:pt x="6429" y="0"/>
                        <a:pt x="14288" y="0"/>
                      </a:cubicBezTo>
                      <a:lnTo>
                        <a:pt x="114300" y="0"/>
                      </a:lnTo>
                      <a:cubicBezTo>
                        <a:pt x="122191" y="0"/>
                        <a:pt x="128588" y="6397"/>
                        <a:pt x="128588" y="14288"/>
                      </a:cubicBezTo>
                      <a:lnTo>
                        <a:pt x="128588" y="85725"/>
                      </a:lnTo>
                      <a:cubicBezTo>
                        <a:pt x="128582" y="90824"/>
                        <a:pt x="125860" y="95534"/>
                        <a:pt x="121444" y="98084"/>
                      </a:cubicBezTo>
                    </a:path>
                  </a:pathLst>
                </a:custGeom>
                <a:noFill/>
                <a:ln w="19050">
                  <a:solidFill>
                    <a:srgbClr val="38BDF8"/>
                  </a:solidFill>
                </a:ln>
                <a:effectLst>
                  <a:outerShdw blurRad="95250" dist="28575" dir="5400000" algn="ctr" rotWithShape="0">
                    <a:srgbClr val="000000">
                      <a:alpha val="30000"/>
                    </a:srgbClr>
                  </a:outerShdw>
                </a:effectLst>
              </p:spPr>
            </p:sp>
            <p:sp>
              <p:nvSpPr>
                <p:cNvPr id="106" name="Freeform 106"/>
                <p:cNvSpPr/>
                <p:nvPr/>
              </p:nvSpPr>
              <p:spPr>
                <a:xfrm>
                  <a:off x="3633788" y="5817394"/>
                  <a:ext cx="85725" cy="9525"/>
                </a:xfrm>
                <a:custGeom>
                  <a:avLst/>
                  <a:gdLst/>
                  <a:ahLst/>
                  <a:cxnLst/>
                  <a:rect l="l" t="t" r="r" b="b"/>
                  <a:pathLst>
                    <a:path w="85725" h="9525">
                      <a:moveTo>
                        <a:pt x="0" y="0"/>
                      </a:moveTo>
                      <a:lnTo>
                        <a:pt x="85725" y="0"/>
                      </a:lnTo>
                    </a:path>
                  </a:pathLst>
                </a:custGeom>
                <a:noFill/>
                <a:ln w="19050">
                  <a:solidFill>
                    <a:srgbClr val="38BDF8"/>
                  </a:solidFill>
                </a:ln>
                <a:effectLst>
                  <a:outerShdw blurRad="95250" dist="28575" dir="5400000" algn="ctr" rotWithShape="0">
                    <a:srgbClr val="000000">
                      <a:alpha val="30000"/>
                    </a:srgbClr>
                  </a:outerShdw>
                </a:effectLst>
              </p:spPr>
            </p:sp>
            <p:sp>
              <p:nvSpPr>
                <p:cNvPr id="107" name="Freeform 107"/>
                <p:cNvSpPr/>
                <p:nvPr/>
              </p:nvSpPr>
              <p:spPr>
                <a:xfrm>
                  <a:off x="3633788" y="5838825"/>
                  <a:ext cx="21431" cy="9525"/>
                </a:xfrm>
                <a:custGeom>
                  <a:avLst/>
                  <a:gdLst/>
                  <a:ahLst/>
                  <a:cxnLst/>
                  <a:rect l="l" t="t" r="r" b="b"/>
                  <a:pathLst>
                    <a:path w="21431" h="9525">
                      <a:moveTo>
                        <a:pt x="0" y="0"/>
                      </a:moveTo>
                      <a:lnTo>
                        <a:pt x="21431" y="0"/>
                      </a:lnTo>
                    </a:path>
                  </a:pathLst>
                </a:custGeom>
                <a:noFill/>
                <a:ln w="19050">
                  <a:solidFill>
                    <a:srgbClr val="38BDF8"/>
                  </a:solidFill>
                </a:ln>
                <a:effectLst>
                  <a:outerShdw blurRad="95250" dist="28575" dir="5400000" algn="ctr" rotWithShape="0">
                    <a:srgbClr val="000000">
                      <a:alpha val="30000"/>
                    </a:srgbClr>
                  </a:outerShdw>
                </a:effectLst>
              </p:spPr>
            </p:sp>
            <p:sp>
              <p:nvSpPr>
                <p:cNvPr id="108" name="Freeform 108"/>
                <p:cNvSpPr/>
                <p:nvPr/>
              </p:nvSpPr>
              <p:spPr>
                <a:xfrm>
                  <a:off x="3633788" y="5860256"/>
                  <a:ext cx="14288" cy="9525"/>
                </a:xfrm>
                <a:custGeom>
                  <a:avLst/>
                  <a:gdLst/>
                  <a:ahLst/>
                  <a:cxnLst/>
                  <a:rect l="l" t="t" r="r" b="b"/>
                  <a:pathLst>
                    <a:path w="14288" h="9525">
                      <a:moveTo>
                        <a:pt x="0" y="0"/>
                      </a:moveTo>
                      <a:lnTo>
                        <a:pt x="14288" y="0"/>
                      </a:lnTo>
                    </a:path>
                  </a:pathLst>
                </a:custGeom>
                <a:noFill/>
                <a:ln w="19050">
                  <a:solidFill>
                    <a:srgbClr val="38BDF8"/>
                  </a:solidFill>
                </a:ln>
                <a:effectLst>
                  <a:outerShdw blurRad="95250" dist="28575" dir="5400000" algn="ctr" rotWithShape="0">
                    <a:srgbClr val="000000">
                      <a:alpha val="30000"/>
                    </a:srgbClr>
                  </a:outerShdw>
                </a:effectLst>
              </p:spPr>
            </p:sp>
          </p:grpSp>
          <p:sp>
            <p:nvSpPr>
              <p:cNvPr id="110" name="TextBox 110"/>
              <p:cNvSpPr txBox="1"/>
              <p:nvPr/>
            </p:nvSpPr>
            <p:spPr>
              <a:xfrm>
                <a:off x="3827145" y="5789295"/>
                <a:ext cx="202021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Khách Hàng: RikkeiBank Chi Nhánh</a:t>
                </a:r>
              </a:p>
            </p:txBody>
          </p:sp>
        </p:grpSp>
      </p:grpSp>
      <p:grpSp>
        <p:nvGrpSpPr>
          <p:cNvPr id="116" name="Group 116"/>
          <p:cNvGrpSpPr/>
          <p:nvPr/>
        </p:nvGrpSpPr>
        <p:grpSpPr>
          <a:xfrm>
            <a:off x="6524625" y="619125"/>
            <a:ext cx="5095875" cy="5524500"/>
            <a:chOff x="6524625" y="619125"/>
            <a:chExt cx="5095875" cy="5524500"/>
          </a:xfrm>
          <a:effectLst>
            <a:outerShdw blurRad="95250" dist="28575" dir="5400000" algn="ctr" rotWithShape="0">
              <a:srgbClr val="000000">
                <a:alpha val="30000"/>
              </a:srgbClr>
            </a:outerShdw>
          </a:effectLst>
        </p:grpSpPr>
        <p:sp>
          <p:nvSpPr>
            <p:cNvPr id="113" name="Rectangle 113"/>
            <p:cNvSpPr/>
            <p:nvPr/>
          </p:nvSpPr>
          <p:spPr>
            <a:xfrm>
              <a:off x="6524625" y="619125"/>
              <a:ext cx="5095875" cy="5524500"/>
            </a:xfrm>
            <a:prstGeom prst="roundRect">
              <a:avLst>
                <a:gd name="adj" fmla="val 4112"/>
              </a:avLst>
            </a:prstGeom>
            <a:solidFill>
              <a:srgbClr val="0F172A"/>
            </a:solidFill>
            <a:ln w="14288">
              <a:solidFill>
                <a:srgbClr val="06B6D4">
                  <a:alpha val="40000"/>
                </a:srgbClr>
              </a:solidFill>
            </a:ln>
            <a:effectLst>
              <a:outerShdw blurRad="95250" dist="28575" dir="5400000" algn="ctr" rotWithShape="0">
                <a:srgbClr val="000000">
                  <a:alpha val="30000"/>
                </a:srgbClr>
              </a:outerShdw>
            </a:effectLst>
          </p:spPr>
        </p:sp>
        <p:pic>
          <p:nvPicPr>
            <p:cNvPr id="114" name="Image 114"/>
            <p:cNvPicPr>
              <a:picLocks noChangeAspect="1"/>
            </p:cNvPicPr>
            <p:nvPr/>
          </p:nvPicPr>
          <p:blipFill>
            <a:blip r:embed="rId2"/>
            <a:srcRect l="3947" t="0" r="3947" b="0"/>
            <a:stretch>
              <a:fillRect/>
            </a:stretch>
          </p:blipFill>
          <p:spPr>
            <a:xfrm>
              <a:off x="6572250" y="666750"/>
              <a:ext cx="5000625" cy="5429250"/>
            </a:xfrm>
            <a:prstGeom prst="roundRect">
              <a:avLst>
                <a:gd name="adj" fmla="val 3809"/>
              </a:avLst>
            </a:prstGeom>
          </p:spPr>
        </p:pic>
        <p:sp>
          <p:nvSpPr>
            <p:cNvPr id="115" name="Rectangle 115"/>
            <p:cNvSpPr/>
            <p:nvPr/>
          </p:nvSpPr>
          <p:spPr>
            <a:xfrm>
              <a:off x="6572250" y="666750"/>
              <a:ext cx="5000625" cy="5429250"/>
            </a:xfrm>
            <a:prstGeom prst="roundRect">
              <a:avLst>
                <a:gd name="adj" fmla="val 3810"/>
              </a:avLst>
            </a:prstGeom>
            <a:noFill/>
            <a:ln w="9525">
              <a:solidFill>
                <a:srgbClr val="38BDF8">
                  <a:alpha val="25000"/>
                </a:srgbClr>
              </a:solidFill>
            </a:ln>
            <a:effectLst>
              <a:outerShdw blurRad="95250" dist="28575" dir="5400000" algn="ctr" rotWithShape="0">
                <a:srgbClr val="000000">
                  <a:alpha val="30000"/>
                </a:srgbClr>
              </a:outerShdw>
            </a:effectLst>
          </p:spPr>
        </p:sp>
      </p:grpSp>
      <p:grpSp>
        <p:nvGrpSpPr>
          <p:cNvPr id="119" name="Group 119"/>
          <p:cNvGrpSpPr/>
          <p:nvPr/>
        </p:nvGrpSpPr>
        <p:grpSpPr>
          <a:xfrm>
            <a:off x="560070" y="6522720"/>
            <a:ext cx="11071860" cy="182880"/>
            <a:chOff x="560070" y="6522720"/>
            <a:chExt cx="11071860" cy="182880"/>
          </a:xfrm>
        </p:grpSpPr>
        <p:sp>
          <p:nvSpPr>
            <p:cNvPr id="117" name="TextBox 117"/>
            <p:cNvSpPr txBox="1"/>
            <p:nvPr/>
          </p:nvSpPr>
          <p:spPr>
            <a:xfrm>
              <a:off x="560070" y="6522720"/>
              <a:ext cx="4603533"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Digital Banking API · Software Requirements Specification (SRS)</a:t>
              </a:r>
            </a:p>
          </p:txBody>
        </p:sp>
        <p:sp>
          <p:nvSpPr>
            <p:cNvPr id="118" name="TextBox 118"/>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400"/>
                                        <p:tgtEl>
                                          <p:spTgt spid="4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12"/>
                                        </p:tgtEl>
                                        <p:attrNameLst>
                                          <p:attrName>style.visibility</p:attrName>
                                        </p:attrNameLst>
                                      </p:cBhvr>
                                      <p:to>
                                        <p:strVal val="visible"/>
                                      </p:to>
                                    </p:set>
                                    <p:animEffect transition="in" filter="slide(fromBottom)">
                                      <p:cBhvr>
                                        <p:cTn id="15" dur="400"/>
                                        <p:tgtEl>
                                          <p:spTgt spid="112"/>
                                        </p:tgtEl>
                                      </p:cBhvr>
                                    </p:animEffect>
                                  </p:childTnLst>
                                </p:cTn>
                              </p:par>
                            </p:childTnLst>
                          </p:cTn>
                        </p:par>
                        <p:par>
                          <p:cTn id="16" fill="hold">
                            <p:stCondLst>
                              <p:cond delay="2700"/>
                            </p:stCondLst>
                            <p:childTnLst>
                              <p:par>
                                <p:cTn id="17" presetID="4" presetClass="entr" presetSubtype="0" fill="hold" nodeType="afterEffect">
                                  <p:stCondLst>
                                    <p:cond delay="0"/>
                                  </p:stCondLst>
                                  <p:childTnLst>
                                    <p:set>
                                      <p:cBhvr>
                                        <p:cTn id="18" dur="1" fill="hold">
                                          <p:stCondLst>
                                            <p:cond delay="0"/>
                                          </p:stCondLst>
                                        </p:cTn>
                                        <p:tgtEl>
                                          <p:spTgt spid="116"/>
                                        </p:tgtEl>
                                        <p:attrNameLst>
                                          <p:attrName>style.visibility</p:attrName>
                                        </p:attrNameLst>
                                      </p:cBhvr>
                                      <p:to>
                                        <p:strVal val="visible"/>
                                      </p:to>
                                    </p:set>
                                    <p:animEffect transition="in" filter="box(in)">
                                      <p:cBhvr>
                                        <p:cTn id="19" dur="4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8" grpId="0"/>
      <p:bldP spid="112" grpId="0"/>
      <p:bldP spid="11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06B6D4">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082949" cy="797719"/>
            <a:chOff x="548640" y="342900"/>
            <a:chExt cx="6082949" cy="797719"/>
          </a:xfrm>
        </p:grpSpPr>
        <p:sp>
          <p:nvSpPr>
            <p:cNvPr id="7" name="Rectangle 7"/>
            <p:cNvSpPr/>
            <p:nvPr/>
          </p:nvSpPr>
          <p:spPr>
            <a:xfrm>
              <a:off x="571500" y="342900"/>
              <a:ext cx="1809750" cy="247650"/>
            </a:xfrm>
            <a:prstGeom prst="roundRect">
              <a:avLst>
                <a:gd name="adj" fmla="val 50000"/>
              </a:avLst>
            </a:prstGeom>
            <a:solidFill>
              <a:srgbClr val="1E293B"/>
            </a:solidFill>
            <a:ln w="9525">
              <a:solidFill>
                <a:srgbClr val="06B6D4"/>
              </a:solidFill>
            </a:ln>
          </p:spPr>
        </p:sp>
        <p:sp>
          <p:nvSpPr>
            <p:cNvPr id="8" name="TextBox 8"/>
            <p:cNvSpPr txBox="1"/>
            <p:nvPr/>
          </p:nvSpPr>
          <p:spPr>
            <a:xfrm>
              <a:off x="998064" y="415766"/>
              <a:ext cx="956622" cy="167640"/>
            </a:xfrm>
            <a:prstGeom prst="rect">
              <a:avLst/>
            </a:prstGeom>
            <a:noFill/>
            <a:ln>
              <a:noFill/>
            </a:ln>
          </p:spPr>
          <p:txBody>
            <a:bodyPr wrap="none" lIns="0" tIns="0" rIns="0" bIns="0" anchor="t" anchorCtr="0">
              <a:spAutoFit/>
            </a:bodyPr>
            <a:lstStyle/>
            <a:p>
              <a:pPr algn="ctr"/>
              <a:r>
                <a:rPr lang="zh-CN" sz="825" b="1" dirty="0">
                  <a:solidFill>
                    <a:srgbClr val="22D3EE"/>
                  </a:solidFill>
                  <a:latin typeface="Segoe UI"/>
                  <a:ea typeface="Microsoft YaHei"/>
                  <a:cs typeface="Segoe UI"/>
                </a:rPr>
                <a:t>ĐỘI NGŨ THỰC HIỆN</a:t>
              </a:r>
            </a:p>
          </p:txBody>
        </p:sp>
        <p:sp>
          <p:nvSpPr>
            <p:cNvPr id="9" name="TextBox 9"/>
            <p:cNvSpPr txBox="1"/>
            <p:nvPr/>
          </p:nvSpPr>
          <p:spPr>
            <a:xfrm>
              <a:off x="548640" y="624840"/>
              <a:ext cx="5023342"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Thành Viên Đề Án: NHÓM 3 · RikkeiBank API</a:t>
              </a:r>
            </a:p>
          </p:txBody>
        </p:sp>
        <p:sp>
          <p:nvSpPr>
            <p:cNvPr id="10" name="TextBox 10"/>
            <p:cNvSpPr txBox="1"/>
            <p:nvPr/>
          </p:nvSpPr>
          <p:spPr>
            <a:xfrm>
              <a:off x="559118" y="942499"/>
              <a:ext cx="6072471"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Phân công trách nhiệm phát triển hệ thống Microservices phân tán giữa các thành viên nhóm</a:t>
              </a:r>
            </a:p>
          </p:txBody>
        </p:sp>
      </p:grpSp>
      <p:grpSp>
        <p:nvGrpSpPr>
          <p:cNvPr id="82" name="Group 82"/>
          <p:cNvGrpSpPr/>
          <p:nvPr/>
        </p:nvGrpSpPr>
        <p:grpSpPr>
          <a:xfrm>
            <a:off x="571500" y="1285875"/>
            <a:ext cx="10934700" cy="2381250"/>
            <a:chOff x="571500" y="1285875"/>
            <a:chExt cx="10934700" cy="2381250"/>
          </a:xfrm>
        </p:grpSpPr>
        <p:grpSp>
          <p:nvGrpSpPr>
            <p:cNvPr id="26" name="Group 26"/>
            <p:cNvGrpSpPr/>
            <p:nvPr/>
          </p:nvGrpSpPr>
          <p:grpSpPr>
            <a:xfrm>
              <a:off x="571500" y="1285875"/>
              <a:ext cx="2590800" cy="2381250"/>
              <a:chOff x="571500" y="1285875"/>
              <a:chExt cx="2590800" cy="2381250"/>
            </a:xfrm>
            <a:effectLst>
              <a:outerShdw blurRad="95250" dist="28575" dir="5400000" algn="ctr" rotWithShape="0">
                <a:srgbClr val="000000">
                  <a:alpha val="30000"/>
                </a:srgbClr>
              </a:outerShdw>
            </a:effectLst>
          </p:grpSpPr>
          <p:sp>
            <p:nvSpPr>
              <p:cNvPr id="12" name="Rectangle 12"/>
              <p:cNvSpPr/>
              <p:nvPr/>
            </p:nvSpPr>
            <p:spPr>
              <a:xfrm>
                <a:off x="571500" y="1285875"/>
                <a:ext cx="2590800" cy="2381250"/>
              </a:xfrm>
              <a:prstGeom prst="roundRect">
                <a:avLst>
                  <a:gd name="adj" fmla="val 4800"/>
                </a:avLst>
              </a:prstGeom>
              <a:solidFill>
                <a:srgbClr val="1E293B"/>
              </a:solidFill>
              <a:ln w="14288">
                <a:solidFill>
                  <a:srgbClr val="06B6D4"/>
                </a:solidFill>
              </a:ln>
              <a:effectLst>
                <a:outerShdw blurRad="95250" dist="28575" dir="5400000" algn="ctr" rotWithShape="0">
                  <a:srgbClr val="000000">
                    <a:alpha val="30000"/>
                  </a:srgbClr>
                </a:outerShdw>
              </a:effectLst>
            </p:spPr>
          </p:sp>
          <p:sp>
            <p:nvSpPr>
              <p:cNvPr id="13" name="Rectangle 13"/>
              <p:cNvSpPr/>
              <p:nvPr/>
            </p:nvSpPr>
            <p:spPr>
              <a:xfrm>
                <a:off x="704850" y="1419225"/>
                <a:ext cx="419100" cy="419100"/>
              </a:xfrm>
              <a:prstGeom prst="roundRect">
                <a:avLst>
                  <a:gd name="adj" fmla="val 50000"/>
                </a:avLst>
              </a:prstGeom>
              <a:solidFill>
                <a:srgbClr val="083344"/>
              </a:solidFill>
              <a:ln w="9525">
                <a:solidFill>
                  <a:srgbClr val="06B6D4"/>
                </a:solidFill>
              </a:ln>
              <a:effectLst>
                <a:outerShdw blurRad="95250" dist="28575" dir="5400000" algn="ctr" rotWithShape="0">
                  <a:srgbClr val="000000">
                    <a:alpha val="30000"/>
                  </a:srgbClr>
                </a:outerShdw>
              </a:effectLst>
            </p:spPr>
          </p:sp>
          <p:sp>
            <p:nvSpPr>
              <p:cNvPr id="14" name="Freeform 14"/>
              <p:cNvSpPr/>
              <p:nvPr/>
            </p:nvSpPr>
            <p:spPr>
              <a:xfrm>
                <a:off x="842962" y="1581150"/>
                <a:ext cx="142875" cy="95250"/>
              </a:xfrm>
              <a:custGeom>
                <a:avLst/>
                <a:gdLst/>
                <a:ahLst/>
                <a:cxnLst/>
                <a:rect l="l" t="t" r="r" b="b"/>
                <a:pathLst>
                  <a:path w="142875" h="95250">
                    <a:moveTo>
                      <a:pt x="71438" y="0"/>
                    </a:moveTo>
                    <a:lnTo>
                      <a:pt x="103187" y="47625"/>
                    </a:lnTo>
                    <a:lnTo>
                      <a:pt x="142875" y="15875"/>
                    </a:lnTo>
                    <a:lnTo>
                      <a:pt x="127000" y="95250"/>
                    </a:lnTo>
                    <a:lnTo>
                      <a:pt x="15875" y="95250"/>
                    </a:lnTo>
                    <a:lnTo>
                      <a:pt x="0" y="15875"/>
                    </a:lnTo>
                    <a:lnTo>
                      <a:pt x="39688" y="47625"/>
                    </a:lnTo>
                    <a:lnTo>
                      <a:pt x="71438" y="0"/>
                    </a:lnTo>
                  </a:path>
                </a:pathLst>
              </a:custGeom>
              <a:noFill/>
              <a:ln w="19050">
                <a:solidFill>
                  <a:srgbClr val="22D3EE"/>
                </a:solidFill>
              </a:ln>
              <a:effectLst>
                <a:outerShdw blurRad="95250" dist="28575" dir="5400000" algn="ctr" rotWithShape="0">
                  <a:srgbClr val="000000">
                    <a:alpha val="30000"/>
                  </a:srgbClr>
                </a:outerShdw>
              </a:effectLst>
            </p:spPr>
          </p:sp>
          <p:sp>
            <p:nvSpPr>
              <p:cNvPr id="15" name="Rectangle 15"/>
              <p:cNvSpPr/>
              <p:nvPr/>
            </p:nvSpPr>
            <p:spPr>
              <a:xfrm>
                <a:off x="1219200" y="1457325"/>
                <a:ext cx="904875" cy="190500"/>
              </a:xfrm>
              <a:prstGeom prst="roundRect">
                <a:avLst>
                  <a:gd name="adj" fmla="val 20000"/>
                </a:avLst>
              </a:prstGeom>
              <a:solidFill>
                <a:srgbClr val="0F172A"/>
              </a:solidFill>
              <a:ln w="9525">
                <a:solidFill>
                  <a:srgbClr val="0891B2"/>
                </a:solidFill>
              </a:ln>
              <a:effectLst>
                <a:outerShdw blurRad="95250" dist="28575" dir="5400000" algn="ctr" rotWithShape="0">
                  <a:srgbClr val="000000">
                    <a:alpha val="30000"/>
                  </a:srgbClr>
                </a:outerShdw>
              </a:effectLst>
            </p:spPr>
          </p:sp>
          <p:sp>
            <p:nvSpPr>
              <p:cNvPr id="16" name="TextBox 16"/>
              <p:cNvSpPr txBox="1"/>
              <p:nvPr/>
            </p:nvSpPr>
            <p:spPr>
              <a:xfrm>
                <a:off x="1342311" y="1509712"/>
                <a:ext cx="649129"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22D3EE"/>
                    </a:solidFill>
                    <a:latin typeface="Segoe UI"/>
                    <a:ea typeface="Microsoft YaHei"/>
                    <a:cs typeface="Segoe UI"/>
                  </a:rPr>
                  <a:t>TRƯỞNG NHÓM</a:t>
                </a:r>
              </a:p>
            </p:txBody>
          </p:sp>
          <p:sp>
            <p:nvSpPr>
              <p:cNvPr id="17" name="TextBox 17"/>
              <p:cNvSpPr txBox="1"/>
              <p:nvPr/>
            </p:nvSpPr>
            <p:spPr>
              <a:xfrm>
                <a:off x="1204912" y="1659731"/>
                <a:ext cx="1162717"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Vũ Đăng Nguyên</a:t>
                </a:r>
              </a:p>
            </p:txBody>
          </p:sp>
          <p:sp>
            <p:nvSpPr>
              <p:cNvPr id="18" name="Line 18"/>
              <p:cNvSpPr/>
              <p:nvPr/>
            </p:nvSpPr>
            <p:spPr>
              <a:xfrm>
                <a:off x="704850" y="193357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19" name="TextBox 19"/>
              <p:cNvSpPr txBox="1"/>
              <p:nvPr/>
            </p:nvSpPr>
            <p:spPr>
              <a:xfrm>
                <a:off x="693420" y="204597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Vai trò &amp; Nhiệm vụ:</a:t>
                </a:r>
              </a:p>
            </p:txBody>
          </p:sp>
          <p:sp>
            <p:nvSpPr>
              <p:cNvPr id="20" name="TextBox 20"/>
              <p:cNvSpPr txBox="1"/>
              <p:nvPr/>
            </p:nvSpPr>
            <p:spPr>
              <a:xfrm>
                <a:off x="693420" y="2245995"/>
                <a:ext cx="223113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Thiết kế kiến trúc tổng thể hệ thống</a:t>
                </a:r>
              </a:p>
            </p:txBody>
          </p:sp>
          <p:sp>
            <p:nvSpPr>
              <p:cNvPr id="21" name="TextBox 21"/>
              <p:cNvSpPr txBox="1"/>
              <p:nvPr/>
            </p:nvSpPr>
            <p:spPr>
              <a:xfrm>
                <a:off x="693420" y="2446020"/>
                <a:ext cx="215312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Triển khai Eureka &amp; Spring Gateway</a:t>
                </a:r>
              </a:p>
            </p:txBody>
          </p:sp>
          <p:sp>
            <p:nvSpPr>
              <p:cNvPr id="22" name="TextBox 22"/>
              <p:cNvSpPr txBox="1"/>
              <p:nvPr/>
            </p:nvSpPr>
            <p:spPr>
              <a:xfrm>
                <a:off x="693420" y="2646045"/>
                <a:ext cx="2279142"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Điều phối tích hợp cụm Microservices</a:t>
                </a:r>
              </a:p>
            </p:txBody>
          </p:sp>
          <p:sp>
            <p:nvSpPr>
              <p:cNvPr id="23" name="TextBox 23"/>
              <p:cNvSpPr txBox="1"/>
              <p:nvPr/>
            </p:nvSpPr>
            <p:spPr>
              <a:xfrm>
                <a:off x="693420" y="2846070"/>
                <a:ext cx="1901095"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Cấu hình Docker Compose Mesh</a:t>
                </a:r>
              </a:p>
            </p:txBody>
          </p:sp>
          <p:sp>
            <p:nvSpPr>
              <p:cNvPr id="24" name="Rectangle 24"/>
              <p:cNvSpPr/>
              <p:nvPr/>
            </p:nvSpPr>
            <p:spPr>
              <a:xfrm>
                <a:off x="704850" y="3238500"/>
                <a:ext cx="2324100" cy="285750"/>
              </a:xfrm>
              <a:prstGeom prst="roundRect">
                <a:avLst>
                  <a:gd name="adj" fmla="val 20000"/>
                </a:avLst>
              </a:prstGeom>
              <a:solidFill>
                <a:srgbClr val="0F172A"/>
              </a:solidFill>
              <a:ln w="9525">
                <a:solidFill>
                  <a:srgbClr val="06B6D4"/>
                </a:solidFill>
              </a:ln>
              <a:effectLst>
                <a:outerShdw blurRad="95250" dist="28575" dir="5400000" algn="ctr" rotWithShape="0">
                  <a:srgbClr val="000000">
                    <a:alpha val="30000"/>
                  </a:srgbClr>
                </a:outerShdw>
              </a:effectLst>
            </p:spPr>
          </p:sp>
          <p:sp>
            <p:nvSpPr>
              <p:cNvPr id="25" name="TextBox 25"/>
              <p:cNvSpPr txBox="1"/>
              <p:nvPr/>
            </p:nvSpPr>
            <p:spPr>
              <a:xfrm>
                <a:off x="1065149" y="3330416"/>
                <a:ext cx="1603503"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67E8F9"/>
                    </a:solidFill>
                    <a:latin typeface="Segoe UI"/>
                    <a:ea typeface="Microsoft YaHei"/>
                    <a:cs typeface="Segoe UI"/>
                  </a:rPr>
                  <a:t>SYSTEM ARCHITECT &amp; GATEWAY</a:t>
                </a:r>
              </a:p>
            </p:txBody>
          </p:sp>
        </p:grpSp>
        <p:grpSp>
          <p:nvGrpSpPr>
            <p:cNvPr id="45" name="Group 45"/>
            <p:cNvGrpSpPr/>
            <p:nvPr/>
          </p:nvGrpSpPr>
          <p:grpSpPr>
            <a:xfrm>
              <a:off x="3352800" y="1285875"/>
              <a:ext cx="2779109" cy="2381250"/>
              <a:chOff x="3352800" y="1285875"/>
              <a:chExt cx="2779109" cy="2381250"/>
            </a:xfrm>
            <a:effectLst>
              <a:outerShdw blurRad="95250" dist="28575" dir="5400000" algn="ctr" rotWithShape="0">
                <a:srgbClr val="000000">
                  <a:alpha val="30000"/>
                </a:srgbClr>
              </a:outerShdw>
            </a:effectLst>
          </p:grpSpPr>
          <p:sp>
            <p:nvSpPr>
              <p:cNvPr id="27" name="Rectangle 27"/>
              <p:cNvSpPr/>
              <p:nvPr/>
            </p:nvSpPr>
            <p:spPr>
              <a:xfrm>
                <a:off x="3352800" y="128587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28" name="Rectangle 28"/>
              <p:cNvSpPr/>
              <p:nvPr/>
            </p:nvSpPr>
            <p:spPr>
              <a:xfrm>
                <a:off x="3486150" y="1419225"/>
                <a:ext cx="419100" cy="419100"/>
              </a:xfrm>
              <a:prstGeom prst="roundRect">
                <a:avLst>
                  <a:gd name="adj" fmla="val 50000"/>
                </a:avLst>
              </a:prstGeom>
              <a:solidFill>
                <a:srgbClr val="172554"/>
              </a:solidFill>
              <a:ln>
                <a:noFill/>
              </a:ln>
              <a:effectLst>
                <a:outerShdw blurRad="95250" dist="28575" dir="5400000" algn="ctr" rotWithShape="0">
                  <a:srgbClr val="000000">
                    <a:alpha val="30000"/>
                  </a:srgbClr>
                </a:outerShdw>
              </a:effectLst>
            </p:spPr>
          </p:sp>
          <p:grpSp>
            <p:nvGrpSpPr>
              <p:cNvPr id="33" name="Group 33"/>
              <p:cNvGrpSpPr/>
              <p:nvPr/>
            </p:nvGrpSpPr>
            <p:grpSpPr>
              <a:xfrm>
                <a:off x="3624262" y="1565275"/>
                <a:ext cx="142875" cy="127000"/>
                <a:chOff x="3624262" y="1565275"/>
                <a:chExt cx="142875" cy="127000"/>
              </a:xfrm>
            </p:grpSpPr>
            <p:sp>
              <p:nvSpPr>
                <p:cNvPr id="29" name="Freeform 29"/>
                <p:cNvSpPr/>
                <p:nvPr/>
              </p:nvSpPr>
              <p:spPr>
                <a:xfrm>
                  <a:off x="3624262" y="1628775"/>
                  <a:ext cx="142875" cy="39687"/>
                </a:xfrm>
                <a:custGeom>
                  <a:avLst/>
                  <a:gdLst/>
                  <a:ahLst/>
                  <a:cxnLst/>
                  <a:rect l="l" t="t" r="r" b="b"/>
                  <a:pathLst>
                    <a:path w="142875" h="39687">
                      <a:moveTo>
                        <a:pt x="142875" y="39687"/>
                      </a:moveTo>
                      <a:lnTo>
                        <a:pt x="100036" y="39687"/>
                      </a:lnTo>
                      <a:cubicBezTo>
                        <a:pt x="87086" y="39687"/>
                        <a:pt x="74950" y="33367"/>
                        <a:pt x="67524" y="22757"/>
                      </a:cubicBezTo>
                      <a:lnTo>
                        <a:pt x="63444" y="16931"/>
                      </a:lnTo>
                      <a:cubicBezTo>
                        <a:pt x="56019" y="6321"/>
                        <a:pt x="43883" y="1"/>
                        <a:pt x="30932" y="0"/>
                      </a:cubicBezTo>
                      <a:lnTo>
                        <a:pt x="0" y="0"/>
                      </a:lnTo>
                    </a:path>
                  </a:pathLst>
                </a:custGeom>
                <a:noFill/>
                <a:ln w="19050">
                  <a:solidFill>
                    <a:srgbClr val="38BDF8"/>
                  </a:solidFill>
                </a:ln>
                <a:effectLst>
                  <a:outerShdw blurRad="95250" dist="28575" dir="5400000" algn="ctr" rotWithShape="0">
                    <a:srgbClr val="000000">
                      <a:alpha val="30000"/>
                    </a:srgbClr>
                  </a:outerShdw>
                </a:effectLst>
              </p:spPr>
            </p:sp>
            <p:sp>
              <p:nvSpPr>
                <p:cNvPr id="30" name="Freeform 30"/>
                <p:cNvSpPr/>
                <p:nvPr/>
              </p:nvSpPr>
              <p:spPr>
                <a:xfrm>
                  <a:off x="3624262" y="1589087"/>
                  <a:ext cx="142875" cy="39688"/>
                </a:xfrm>
                <a:custGeom>
                  <a:avLst/>
                  <a:gdLst/>
                  <a:ahLst/>
                  <a:cxnLst/>
                  <a:rect l="l" t="t" r="r" b="b"/>
                  <a:pathLst>
                    <a:path w="142875" h="39688">
                      <a:moveTo>
                        <a:pt x="142875" y="1"/>
                      </a:moveTo>
                      <a:lnTo>
                        <a:pt x="100052" y="1"/>
                      </a:lnTo>
                      <a:cubicBezTo>
                        <a:pt x="87093" y="0"/>
                        <a:pt x="74950" y="6326"/>
                        <a:pt x="67524" y="16947"/>
                      </a:cubicBezTo>
                      <a:lnTo>
                        <a:pt x="63476" y="22742"/>
                      </a:lnTo>
                      <a:cubicBezTo>
                        <a:pt x="56052" y="33360"/>
                        <a:pt x="43913" y="39686"/>
                        <a:pt x="30956" y="39688"/>
                      </a:cubicBezTo>
                      <a:lnTo>
                        <a:pt x="0" y="39688"/>
                      </a:lnTo>
                    </a:path>
                  </a:pathLst>
                </a:custGeom>
                <a:noFill/>
                <a:ln w="19050">
                  <a:solidFill>
                    <a:srgbClr val="38BDF8"/>
                  </a:solidFill>
                </a:ln>
                <a:effectLst>
                  <a:outerShdw blurRad="95250" dist="28575" dir="5400000" algn="ctr" rotWithShape="0">
                    <a:srgbClr val="000000">
                      <a:alpha val="30000"/>
                    </a:srgbClr>
                  </a:outerShdw>
                </a:effectLst>
              </p:spPr>
            </p:sp>
            <p:sp>
              <p:nvSpPr>
                <p:cNvPr id="31" name="Freeform 31"/>
                <p:cNvSpPr/>
                <p:nvPr/>
              </p:nvSpPr>
              <p:spPr>
                <a:xfrm>
                  <a:off x="3743325" y="1565275"/>
                  <a:ext cx="23812" cy="47625"/>
                </a:xfrm>
                <a:custGeom>
                  <a:avLst/>
                  <a:gdLst/>
                  <a:ahLst/>
                  <a:cxnLst/>
                  <a:rect l="l" t="t" r="r" b="b"/>
                  <a:pathLst>
                    <a:path w="23812" h="47625">
                      <a:moveTo>
                        <a:pt x="0" y="47625"/>
                      </a:moveTo>
                      <a:lnTo>
                        <a:pt x="23812" y="23812"/>
                      </a:lnTo>
                      <a:lnTo>
                        <a:pt x="0" y="0"/>
                      </a:lnTo>
                    </a:path>
                  </a:pathLst>
                </a:custGeom>
                <a:noFill/>
                <a:ln w="19050">
                  <a:solidFill>
                    <a:srgbClr val="38BDF8"/>
                  </a:solidFill>
                </a:ln>
                <a:effectLst>
                  <a:outerShdw blurRad="95250" dist="28575" dir="5400000" algn="ctr" rotWithShape="0">
                    <a:srgbClr val="000000">
                      <a:alpha val="30000"/>
                    </a:srgbClr>
                  </a:outerShdw>
                </a:effectLst>
              </p:spPr>
            </p:sp>
            <p:sp>
              <p:nvSpPr>
                <p:cNvPr id="32" name="Freeform 32"/>
                <p:cNvSpPr/>
                <p:nvPr/>
              </p:nvSpPr>
              <p:spPr>
                <a:xfrm>
                  <a:off x="3743325" y="1644650"/>
                  <a:ext cx="23812" cy="47625"/>
                </a:xfrm>
                <a:custGeom>
                  <a:avLst/>
                  <a:gdLst/>
                  <a:ahLst/>
                  <a:cxnLst/>
                  <a:rect l="l" t="t" r="r" b="b"/>
                  <a:pathLst>
                    <a:path w="23812" h="47625">
                      <a:moveTo>
                        <a:pt x="0" y="47625"/>
                      </a:moveTo>
                      <a:lnTo>
                        <a:pt x="23812" y="23812"/>
                      </a:lnTo>
                      <a:lnTo>
                        <a:pt x="0" y="0"/>
                      </a:lnTo>
                    </a:path>
                  </a:pathLst>
                </a:custGeom>
                <a:noFill/>
                <a:ln w="19050">
                  <a:solidFill>
                    <a:srgbClr val="38BDF8"/>
                  </a:solidFill>
                </a:ln>
                <a:effectLst>
                  <a:outerShdw blurRad="95250" dist="28575" dir="5400000" algn="ctr" rotWithShape="0">
                    <a:srgbClr val="000000">
                      <a:alpha val="30000"/>
                    </a:srgbClr>
                  </a:outerShdw>
                </a:effectLst>
              </p:spPr>
            </p:sp>
          </p:grpSp>
          <p:sp>
            <p:nvSpPr>
              <p:cNvPr id="34" name="Rectangle 34"/>
              <p:cNvSpPr/>
              <p:nvPr/>
            </p:nvSpPr>
            <p:spPr>
              <a:xfrm>
                <a:off x="4000500" y="145732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35" name="TextBox 35"/>
              <p:cNvSpPr txBox="1"/>
              <p:nvPr/>
            </p:nvSpPr>
            <p:spPr>
              <a:xfrm>
                <a:off x="4176117" y="150971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36" name="TextBox 36"/>
              <p:cNvSpPr txBox="1"/>
              <p:nvPr/>
            </p:nvSpPr>
            <p:spPr>
              <a:xfrm>
                <a:off x="3986212" y="1659731"/>
                <a:ext cx="989445"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Nguyễn Lê Vũ</a:t>
                </a:r>
              </a:p>
            </p:txBody>
          </p:sp>
          <p:sp>
            <p:nvSpPr>
              <p:cNvPr id="37" name="Line 37"/>
              <p:cNvSpPr/>
              <p:nvPr/>
            </p:nvSpPr>
            <p:spPr>
              <a:xfrm>
                <a:off x="3486150" y="193357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38" name="TextBox 38"/>
              <p:cNvSpPr txBox="1"/>
              <p:nvPr/>
            </p:nvSpPr>
            <p:spPr>
              <a:xfrm>
                <a:off x="3474720" y="204597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Vai trò &amp; Nhiệm vụ:</a:t>
                </a:r>
              </a:p>
            </p:txBody>
          </p:sp>
          <p:sp>
            <p:nvSpPr>
              <p:cNvPr id="39" name="TextBox 39"/>
              <p:cNvSpPr txBox="1"/>
              <p:nvPr/>
            </p:nvSpPr>
            <p:spPr>
              <a:xfrm>
                <a:off x="3474720" y="2245995"/>
                <a:ext cx="1823085"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Transaction Service</a:t>
                </a:r>
              </a:p>
            </p:txBody>
          </p:sp>
          <p:sp>
            <p:nvSpPr>
              <p:cNvPr id="40" name="TextBox 40"/>
              <p:cNvSpPr txBox="1"/>
              <p:nvPr/>
            </p:nvSpPr>
            <p:spPr>
              <a:xfrm>
                <a:off x="3474720" y="2446020"/>
                <a:ext cx="2657189"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Thiết kế luồng điều phối Saga Orchestration</a:t>
                </a:r>
              </a:p>
            </p:txBody>
          </p:sp>
          <p:sp>
            <p:nvSpPr>
              <p:cNvPr id="41" name="TextBox 41"/>
              <p:cNvSpPr txBox="1"/>
              <p:nvPr/>
            </p:nvSpPr>
            <p:spPr>
              <a:xfrm>
                <a:off x="3474720" y="2646045"/>
                <a:ext cx="237515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Tích hợp Apache Kafka Message Broker</a:t>
                </a:r>
              </a:p>
            </p:txBody>
          </p:sp>
          <p:sp>
            <p:nvSpPr>
              <p:cNvPr id="42" name="TextBox 42"/>
              <p:cNvSpPr txBox="1"/>
              <p:nvPr/>
            </p:nvSpPr>
            <p:spPr>
              <a:xfrm>
                <a:off x="3474720" y="2846070"/>
                <a:ext cx="183508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Xử lý bù trừ hoàn tiền tự động</a:t>
                </a:r>
              </a:p>
            </p:txBody>
          </p:sp>
          <p:sp>
            <p:nvSpPr>
              <p:cNvPr id="43" name="Rectangle 43"/>
              <p:cNvSpPr/>
              <p:nvPr/>
            </p:nvSpPr>
            <p:spPr>
              <a:xfrm>
                <a:off x="3486150" y="3238500"/>
                <a:ext cx="2324100" cy="285750"/>
              </a:xfrm>
              <a:prstGeom prst="roundRect">
                <a:avLst>
                  <a:gd name="adj" fmla="val 20000"/>
                </a:avLst>
              </a:prstGeom>
              <a:solidFill>
                <a:srgbClr val="0F172A"/>
              </a:solidFill>
              <a:ln w="9525">
                <a:solidFill>
                  <a:srgbClr val="2563EB"/>
                </a:solidFill>
              </a:ln>
              <a:effectLst>
                <a:outerShdw blurRad="95250" dist="28575" dir="5400000" algn="ctr" rotWithShape="0">
                  <a:srgbClr val="000000">
                    <a:alpha val="30000"/>
                  </a:srgbClr>
                </a:outerShdw>
              </a:effectLst>
            </p:spPr>
          </p:sp>
          <p:sp>
            <p:nvSpPr>
              <p:cNvPr id="44" name="TextBox 44"/>
              <p:cNvSpPr txBox="1"/>
              <p:nvPr/>
            </p:nvSpPr>
            <p:spPr>
              <a:xfrm>
                <a:off x="4028384" y="3330416"/>
                <a:ext cx="123963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38BDF8"/>
                    </a:solidFill>
                    <a:latin typeface="Segoe UI"/>
                    <a:ea typeface="Microsoft YaHei"/>
                    <a:cs typeface="Segoe UI"/>
                  </a:rPr>
                  <a:t>SAGA &amp; KAFKA ENGINEER</a:t>
                </a:r>
              </a:p>
            </p:txBody>
          </p:sp>
        </p:grpSp>
        <p:grpSp>
          <p:nvGrpSpPr>
            <p:cNvPr id="63" name="Group 63"/>
            <p:cNvGrpSpPr/>
            <p:nvPr/>
          </p:nvGrpSpPr>
          <p:grpSpPr>
            <a:xfrm>
              <a:off x="6134100" y="1285875"/>
              <a:ext cx="2590800" cy="2381250"/>
              <a:chOff x="6134100" y="1285875"/>
              <a:chExt cx="2590800" cy="2381250"/>
            </a:xfrm>
            <a:effectLst>
              <a:outerShdw blurRad="95250" dist="28575" dir="5400000" algn="ctr" rotWithShape="0">
                <a:srgbClr val="000000">
                  <a:alpha val="30000"/>
                </a:srgbClr>
              </a:outerShdw>
            </a:effectLst>
          </p:grpSpPr>
          <p:sp>
            <p:nvSpPr>
              <p:cNvPr id="46" name="Rectangle 46"/>
              <p:cNvSpPr/>
              <p:nvPr/>
            </p:nvSpPr>
            <p:spPr>
              <a:xfrm>
                <a:off x="6134100" y="128587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47" name="Rectangle 47"/>
              <p:cNvSpPr/>
              <p:nvPr/>
            </p:nvSpPr>
            <p:spPr>
              <a:xfrm>
                <a:off x="6267450" y="1419225"/>
                <a:ext cx="419100" cy="419100"/>
              </a:xfrm>
              <a:prstGeom prst="roundRect">
                <a:avLst>
                  <a:gd name="adj" fmla="val 50000"/>
                </a:avLst>
              </a:prstGeom>
              <a:solidFill>
                <a:srgbClr val="78350F"/>
              </a:solidFill>
              <a:ln>
                <a:noFill/>
              </a:ln>
              <a:effectLst>
                <a:outerShdw blurRad="95250" dist="28575" dir="5400000" algn="ctr" rotWithShape="0">
                  <a:srgbClr val="000000">
                    <a:alpha val="30000"/>
                  </a:srgbClr>
                </a:outerShdw>
              </a:effectLst>
            </p:spPr>
          </p:sp>
          <p:grpSp>
            <p:nvGrpSpPr>
              <p:cNvPr id="51" name="Group 51"/>
              <p:cNvGrpSpPr/>
              <p:nvPr/>
            </p:nvGrpSpPr>
            <p:grpSpPr>
              <a:xfrm>
                <a:off x="6413500" y="1557338"/>
                <a:ext cx="127000" cy="142875"/>
                <a:chOff x="6413500" y="1557338"/>
                <a:chExt cx="127000" cy="142875"/>
              </a:xfrm>
            </p:grpSpPr>
            <p:sp>
              <p:nvSpPr>
                <p:cNvPr id="48" name="Freeform 48"/>
                <p:cNvSpPr/>
                <p:nvPr/>
              </p:nvSpPr>
              <p:spPr>
                <a:xfrm>
                  <a:off x="6413500" y="1557338"/>
                  <a:ext cx="127000" cy="47625"/>
                </a:xfrm>
                <a:custGeom>
                  <a:avLst/>
                  <a:gdLst/>
                  <a:ahLst/>
                  <a:cxnLst/>
                  <a:rect l="l" t="t" r="r" b="b"/>
                  <a:pathLst>
                    <a:path w="127000" h="47625">
                      <a:moveTo>
                        <a:pt x="0" y="23812"/>
                      </a:moveTo>
                      <a:cubicBezTo>
                        <a:pt x="0" y="36964"/>
                        <a:pt x="28430" y="47625"/>
                        <a:pt x="63500" y="47625"/>
                      </a:cubicBezTo>
                      <a:cubicBezTo>
                        <a:pt x="98570" y="47625"/>
                        <a:pt x="127000" y="36964"/>
                        <a:pt x="127000" y="23812"/>
                      </a:cubicBezTo>
                      <a:cubicBezTo>
                        <a:pt x="127000" y="10661"/>
                        <a:pt x="98570" y="0"/>
                        <a:pt x="63500" y="0"/>
                      </a:cubicBezTo>
                      <a:cubicBezTo>
                        <a:pt x="28430" y="0"/>
                        <a:pt x="0" y="10661"/>
                        <a:pt x="0" y="23812"/>
                      </a:cubicBezTo>
                    </a:path>
                  </a:pathLst>
                </a:custGeom>
                <a:noFill/>
                <a:ln w="19050">
                  <a:solidFill>
                    <a:srgbClr val="FBBF24"/>
                  </a:solidFill>
                </a:ln>
                <a:effectLst>
                  <a:outerShdw blurRad="95250" dist="28575" dir="5400000" algn="ctr" rotWithShape="0">
                    <a:srgbClr val="000000">
                      <a:alpha val="30000"/>
                    </a:srgbClr>
                  </a:outerShdw>
                </a:effectLst>
              </p:spPr>
            </p:sp>
            <p:sp>
              <p:nvSpPr>
                <p:cNvPr id="49" name="Freeform 49"/>
                <p:cNvSpPr/>
                <p:nvPr/>
              </p:nvSpPr>
              <p:spPr>
                <a:xfrm>
                  <a:off x="6413500" y="1581150"/>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FBBF24"/>
                  </a:solidFill>
                </a:ln>
                <a:effectLst>
                  <a:outerShdw blurRad="95250" dist="28575" dir="5400000" algn="ctr" rotWithShape="0">
                    <a:srgbClr val="000000">
                      <a:alpha val="30000"/>
                    </a:srgbClr>
                  </a:outerShdw>
                </a:effectLst>
              </p:spPr>
            </p:sp>
            <p:sp>
              <p:nvSpPr>
                <p:cNvPr id="50" name="Freeform 50"/>
                <p:cNvSpPr/>
                <p:nvPr/>
              </p:nvSpPr>
              <p:spPr>
                <a:xfrm>
                  <a:off x="6413500" y="1628775"/>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FBBF24"/>
                  </a:solidFill>
                </a:ln>
                <a:effectLst>
                  <a:outerShdw blurRad="95250" dist="28575" dir="5400000" algn="ctr" rotWithShape="0">
                    <a:srgbClr val="000000">
                      <a:alpha val="30000"/>
                    </a:srgbClr>
                  </a:outerShdw>
                </a:effectLst>
              </p:spPr>
            </p:sp>
          </p:grpSp>
          <p:sp>
            <p:nvSpPr>
              <p:cNvPr id="52" name="Rectangle 52"/>
              <p:cNvSpPr/>
              <p:nvPr/>
            </p:nvSpPr>
            <p:spPr>
              <a:xfrm>
                <a:off x="6781800" y="145732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53" name="TextBox 53"/>
              <p:cNvSpPr txBox="1"/>
              <p:nvPr/>
            </p:nvSpPr>
            <p:spPr>
              <a:xfrm>
                <a:off x="6957417" y="150971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54" name="TextBox 54"/>
              <p:cNvSpPr txBox="1"/>
              <p:nvPr/>
            </p:nvSpPr>
            <p:spPr>
              <a:xfrm>
                <a:off x="6767512" y="1659731"/>
                <a:ext cx="1209973"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Nguyễn Đại Phát</a:t>
                </a:r>
              </a:p>
            </p:txBody>
          </p:sp>
          <p:sp>
            <p:nvSpPr>
              <p:cNvPr id="55" name="Line 55"/>
              <p:cNvSpPr/>
              <p:nvPr/>
            </p:nvSpPr>
            <p:spPr>
              <a:xfrm>
                <a:off x="6267450" y="193357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56" name="TextBox 56"/>
              <p:cNvSpPr txBox="1"/>
              <p:nvPr/>
            </p:nvSpPr>
            <p:spPr>
              <a:xfrm>
                <a:off x="6256020" y="204597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BBF24"/>
                    </a:solidFill>
                    <a:latin typeface="Segoe UI"/>
                    <a:ea typeface="Microsoft YaHei"/>
                    <a:cs typeface="Segoe UI"/>
                  </a:rPr>
                  <a:t>Vai trò &amp; Nhiệm vụ:</a:t>
                </a:r>
              </a:p>
            </p:txBody>
          </p:sp>
          <p:sp>
            <p:nvSpPr>
              <p:cNvPr id="57" name="TextBox 57"/>
              <p:cNvSpPr txBox="1"/>
              <p:nvPr/>
            </p:nvSpPr>
            <p:spPr>
              <a:xfrm>
                <a:off x="6256020" y="2245995"/>
                <a:ext cx="215912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Account Service nghiệp vụ</a:t>
                </a:r>
              </a:p>
            </p:txBody>
          </p:sp>
          <p:sp>
            <p:nvSpPr>
              <p:cNvPr id="58" name="TextBox 58"/>
              <p:cNvSpPr txBox="1"/>
              <p:nvPr/>
            </p:nvSpPr>
            <p:spPr>
              <a:xfrm>
                <a:off x="6256020" y="2446020"/>
                <a:ext cx="207511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Cấu hình Redis In-Memory Caching</a:t>
                </a:r>
              </a:p>
            </p:txBody>
          </p:sp>
          <p:sp>
            <p:nvSpPr>
              <p:cNvPr id="59" name="TextBox 59"/>
              <p:cNvSpPr txBox="1"/>
              <p:nvPr/>
            </p:nvSpPr>
            <p:spPr>
              <a:xfrm>
                <a:off x="6256020" y="2646045"/>
                <a:ext cx="212912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Tối ưu DTO Serializer &amp; Cache Evict</a:t>
                </a:r>
              </a:p>
            </p:txBody>
          </p:sp>
          <p:sp>
            <p:nvSpPr>
              <p:cNvPr id="60" name="TextBox 60"/>
              <p:cNvSpPr txBox="1"/>
              <p:nvPr/>
            </p:nvSpPr>
            <p:spPr>
              <a:xfrm>
                <a:off x="6256020" y="2846070"/>
                <a:ext cx="186509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Xử lý cộng/trừ số dư giao dịch</a:t>
                </a:r>
              </a:p>
            </p:txBody>
          </p:sp>
          <p:sp>
            <p:nvSpPr>
              <p:cNvPr id="61" name="Rectangle 61"/>
              <p:cNvSpPr/>
              <p:nvPr/>
            </p:nvSpPr>
            <p:spPr>
              <a:xfrm>
                <a:off x="6267450" y="3238500"/>
                <a:ext cx="2324100" cy="285750"/>
              </a:xfrm>
              <a:prstGeom prst="roundRect">
                <a:avLst>
                  <a:gd name="adj" fmla="val 20000"/>
                </a:avLst>
              </a:prstGeom>
              <a:solidFill>
                <a:srgbClr val="0F172A"/>
              </a:solidFill>
              <a:ln w="9525">
                <a:solidFill>
                  <a:srgbClr val="D97706"/>
                </a:solidFill>
              </a:ln>
              <a:effectLst>
                <a:outerShdw blurRad="95250" dist="28575" dir="5400000" algn="ctr" rotWithShape="0">
                  <a:srgbClr val="000000">
                    <a:alpha val="30000"/>
                  </a:srgbClr>
                </a:outerShdw>
              </a:effectLst>
            </p:spPr>
          </p:sp>
          <p:sp>
            <p:nvSpPr>
              <p:cNvPr id="62" name="TextBox 62"/>
              <p:cNvSpPr txBox="1"/>
              <p:nvPr/>
            </p:nvSpPr>
            <p:spPr>
              <a:xfrm>
                <a:off x="6798132" y="3330416"/>
                <a:ext cx="1262735"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FDE68A"/>
                    </a:solidFill>
                    <a:latin typeface="Segoe UI"/>
                    <a:ea typeface="Microsoft YaHei"/>
                    <a:cs typeface="Segoe UI"/>
                  </a:rPr>
                  <a:t>ACCOUNT &amp; REDIS CACHE</a:t>
                </a:r>
              </a:p>
            </p:txBody>
          </p:sp>
        </p:grpSp>
        <p:grpSp>
          <p:nvGrpSpPr>
            <p:cNvPr id="81" name="Group 81"/>
            <p:cNvGrpSpPr/>
            <p:nvPr/>
          </p:nvGrpSpPr>
          <p:grpSpPr>
            <a:xfrm>
              <a:off x="8915400" y="1285875"/>
              <a:ext cx="2590800" cy="2381250"/>
              <a:chOff x="8915400" y="1285875"/>
              <a:chExt cx="2590800" cy="2381250"/>
            </a:xfrm>
            <a:effectLst>
              <a:outerShdw blurRad="95250" dist="28575" dir="5400000" algn="ctr" rotWithShape="0">
                <a:srgbClr val="000000">
                  <a:alpha val="30000"/>
                </a:srgbClr>
              </a:outerShdw>
            </a:effectLst>
          </p:grpSpPr>
          <p:sp>
            <p:nvSpPr>
              <p:cNvPr id="64" name="Rectangle 64"/>
              <p:cNvSpPr/>
              <p:nvPr/>
            </p:nvSpPr>
            <p:spPr>
              <a:xfrm>
                <a:off x="8915400" y="128587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65" name="Rectangle 65"/>
              <p:cNvSpPr/>
              <p:nvPr/>
            </p:nvSpPr>
            <p:spPr>
              <a:xfrm>
                <a:off x="9048750" y="1419225"/>
                <a:ext cx="419100" cy="419100"/>
              </a:xfrm>
              <a:prstGeom prst="roundRect">
                <a:avLst>
                  <a:gd name="adj" fmla="val 50000"/>
                </a:avLst>
              </a:prstGeom>
              <a:solidFill>
                <a:srgbClr val="064E3B"/>
              </a:solidFill>
              <a:ln>
                <a:noFill/>
              </a:ln>
              <a:effectLst>
                <a:outerShdw blurRad="95250" dist="28575" dir="5400000" algn="ctr" rotWithShape="0">
                  <a:srgbClr val="000000">
                    <a:alpha val="30000"/>
                  </a:srgbClr>
                </a:outerShdw>
              </a:effectLst>
            </p:spPr>
          </p:sp>
          <p:grpSp>
            <p:nvGrpSpPr>
              <p:cNvPr id="69" name="Group 69"/>
              <p:cNvGrpSpPr/>
              <p:nvPr/>
            </p:nvGrpSpPr>
            <p:grpSpPr>
              <a:xfrm>
                <a:off x="9183557" y="1557338"/>
                <a:ext cx="149486" cy="142875"/>
                <a:chOff x="9183557" y="1557338"/>
                <a:chExt cx="149486" cy="142875"/>
              </a:xfrm>
            </p:grpSpPr>
            <p:sp>
              <p:nvSpPr>
                <p:cNvPr id="66" name="Freeform 66"/>
                <p:cNvSpPr/>
                <p:nvPr/>
              </p:nvSpPr>
              <p:spPr>
                <a:xfrm>
                  <a:off x="9183557" y="1557338"/>
                  <a:ext cx="149486" cy="142875"/>
                </a:xfrm>
                <a:custGeom>
                  <a:avLst/>
                  <a:gdLst/>
                  <a:ahLst/>
                  <a:cxnLst/>
                  <a:rect l="l" t="t" r="r" b="b"/>
                  <a:pathLst>
                    <a:path w="149486" h="142875">
                      <a:moveTo>
                        <a:pt x="74743" y="0"/>
                      </a:moveTo>
                      <a:cubicBezTo>
                        <a:pt x="93284" y="16403"/>
                        <a:pt x="117482" y="24944"/>
                        <a:pt x="142212" y="23812"/>
                      </a:cubicBezTo>
                      <a:cubicBezTo>
                        <a:pt x="149486" y="48558"/>
                        <a:pt x="146414" y="75195"/>
                        <a:pt x="133698" y="97635"/>
                      </a:cubicBezTo>
                      <a:cubicBezTo>
                        <a:pt x="120982" y="120075"/>
                        <a:pt x="99709" y="136399"/>
                        <a:pt x="74743" y="142875"/>
                      </a:cubicBezTo>
                      <a:cubicBezTo>
                        <a:pt x="49777" y="136399"/>
                        <a:pt x="28504" y="120075"/>
                        <a:pt x="15788" y="97635"/>
                      </a:cubicBezTo>
                      <a:cubicBezTo>
                        <a:pt x="3072" y="75195"/>
                        <a:pt x="0" y="48558"/>
                        <a:pt x="7274" y="23812"/>
                      </a:cubicBezTo>
                      <a:cubicBezTo>
                        <a:pt x="32004" y="24944"/>
                        <a:pt x="56202" y="16403"/>
                        <a:pt x="74743" y="0"/>
                      </a:cubicBezTo>
                    </a:path>
                  </a:pathLst>
                </a:custGeom>
                <a:noFill/>
                <a:ln w="19050">
                  <a:solidFill>
                    <a:srgbClr val="4ADE80"/>
                  </a:solidFill>
                </a:ln>
                <a:effectLst>
                  <a:outerShdw blurRad="95250" dist="28575" dir="5400000" algn="ctr" rotWithShape="0">
                    <a:srgbClr val="000000">
                      <a:alpha val="30000"/>
                    </a:srgbClr>
                  </a:outerShdw>
                </a:effectLst>
              </p:spPr>
            </p:sp>
            <p:sp>
              <p:nvSpPr>
                <p:cNvPr id="67" name="Freeform 67"/>
                <p:cNvSpPr/>
                <p:nvPr/>
              </p:nvSpPr>
              <p:spPr>
                <a:xfrm>
                  <a:off x="9250362" y="1612900"/>
                  <a:ext cx="15875" cy="15875"/>
                </a:xfrm>
                <a:custGeom>
                  <a:avLst/>
                  <a:gdLst/>
                  <a:ahLst/>
                  <a:cxnLst/>
                  <a:rect l="l" t="t" r="r" b="b"/>
                  <a:pathLst>
                    <a:path w="15875" h="15875">
                      <a:moveTo>
                        <a:pt x="0" y="7937"/>
                      </a:moveTo>
                      <a:cubicBezTo>
                        <a:pt x="0" y="12321"/>
                        <a:pt x="3554" y="15875"/>
                        <a:pt x="7938" y="15875"/>
                      </a:cubicBezTo>
                      <a:cubicBezTo>
                        <a:pt x="12321" y="15875"/>
                        <a:pt x="15875" y="12321"/>
                        <a:pt x="15875" y="7937"/>
                      </a:cubicBezTo>
                      <a:cubicBezTo>
                        <a:pt x="15875" y="3554"/>
                        <a:pt x="12321" y="0"/>
                        <a:pt x="7938" y="0"/>
                      </a:cubicBezTo>
                      <a:cubicBezTo>
                        <a:pt x="3554" y="0"/>
                        <a:pt x="0" y="3554"/>
                        <a:pt x="0" y="7937"/>
                      </a:cubicBezTo>
                    </a:path>
                  </a:pathLst>
                </a:custGeom>
                <a:noFill/>
                <a:ln w="19050">
                  <a:solidFill>
                    <a:srgbClr val="4ADE80"/>
                  </a:solidFill>
                </a:ln>
                <a:effectLst>
                  <a:outerShdw blurRad="95250" dist="28575" dir="5400000" algn="ctr" rotWithShape="0">
                    <a:srgbClr val="000000">
                      <a:alpha val="30000"/>
                    </a:srgbClr>
                  </a:outerShdw>
                </a:effectLst>
              </p:spPr>
            </p:sp>
            <p:sp>
              <p:nvSpPr>
                <p:cNvPr id="68" name="Freeform 68"/>
                <p:cNvSpPr/>
                <p:nvPr/>
              </p:nvSpPr>
              <p:spPr>
                <a:xfrm>
                  <a:off x="9258300" y="1628775"/>
                  <a:ext cx="9525" cy="19844"/>
                </a:xfrm>
                <a:custGeom>
                  <a:avLst/>
                  <a:gdLst/>
                  <a:ahLst/>
                  <a:cxnLst/>
                  <a:rect l="l" t="t" r="r" b="b"/>
                  <a:pathLst>
                    <a:path w="9525" h="19844">
                      <a:moveTo>
                        <a:pt x="0" y="0"/>
                      </a:moveTo>
                      <a:lnTo>
                        <a:pt x="0" y="19844"/>
                      </a:lnTo>
                    </a:path>
                  </a:pathLst>
                </a:custGeom>
                <a:noFill/>
                <a:ln w="19050">
                  <a:solidFill>
                    <a:srgbClr val="4ADE80"/>
                  </a:solidFill>
                </a:ln>
                <a:effectLst>
                  <a:outerShdw blurRad="95250" dist="28575" dir="5400000" algn="ctr" rotWithShape="0">
                    <a:srgbClr val="000000">
                      <a:alpha val="30000"/>
                    </a:srgbClr>
                  </a:outerShdw>
                </a:effectLst>
              </p:spPr>
            </p:sp>
          </p:grpSp>
          <p:sp>
            <p:nvSpPr>
              <p:cNvPr id="70" name="Rectangle 70"/>
              <p:cNvSpPr/>
              <p:nvPr/>
            </p:nvSpPr>
            <p:spPr>
              <a:xfrm>
                <a:off x="9563100" y="145732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71" name="TextBox 71"/>
              <p:cNvSpPr txBox="1"/>
              <p:nvPr/>
            </p:nvSpPr>
            <p:spPr>
              <a:xfrm>
                <a:off x="9738717" y="150971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72" name="TextBox 72"/>
              <p:cNvSpPr txBox="1"/>
              <p:nvPr/>
            </p:nvSpPr>
            <p:spPr>
              <a:xfrm>
                <a:off x="9548812" y="1659731"/>
                <a:ext cx="989445"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Phan Văn Đạt</a:t>
                </a:r>
              </a:p>
            </p:txBody>
          </p:sp>
          <p:sp>
            <p:nvSpPr>
              <p:cNvPr id="73" name="Line 73"/>
              <p:cNvSpPr/>
              <p:nvPr/>
            </p:nvSpPr>
            <p:spPr>
              <a:xfrm>
                <a:off x="9048750" y="193357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74" name="TextBox 74"/>
              <p:cNvSpPr txBox="1"/>
              <p:nvPr/>
            </p:nvSpPr>
            <p:spPr>
              <a:xfrm>
                <a:off x="9037320" y="204597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4ADE80"/>
                    </a:solidFill>
                    <a:latin typeface="Segoe UI"/>
                    <a:ea typeface="Microsoft YaHei"/>
                    <a:cs typeface="Segoe UI"/>
                  </a:rPr>
                  <a:t>Vai trò &amp; Nhiệm vụ:</a:t>
                </a:r>
              </a:p>
            </p:txBody>
          </p:sp>
          <p:sp>
            <p:nvSpPr>
              <p:cNvPr id="75" name="TextBox 75"/>
              <p:cNvSpPr txBox="1"/>
              <p:nvPr/>
            </p:nvSpPr>
            <p:spPr>
              <a:xfrm>
                <a:off x="9037320" y="2245995"/>
                <a:ext cx="2087118"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Identity Service bảo mật</a:t>
                </a:r>
              </a:p>
            </p:txBody>
          </p:sp>
          <p:sp>
            <p:nvSpPr>
              <p:cNvPr id="76" name="TextBox 76"/>
              <p:cNvSpPr txBox="1"/>
              <p:nvPr/>
            </p:nvSpPr>
            <p:spPr>
              <a:xfrm>
                <a:off x="9037320" y="2446020"/>
                <a:ext cx="2201132"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Mã hóa mật khẩu BCrypt &amp; ký số JWT</a:t>
                </a:r>
              </a:p>
            </p:txBody>
          </p:sp>
          <p:sp>
            <p:nvSpPr>
              <p:cNvPr id="77" name="TextBox 77"/>
              <p:cNvSpPr txBox="1"/>
              <p:nvPr/>
            </p:nvSpPr>
            <p:spPr>
              <a:xfrm>
                <a:off x="9037320" y="2646045"/>
                <a:ext cx="224313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Phân quyền Role-based (USER/ADMIN)</a:t>
                </a:r>
              </a:p>
            </p:txBody>
          </p:sp>
          <p:sp>
            <p:nvSpPr>
              <p:cNvPr id="78" name="TextBox 78"/>
              <p:cNvSpPr txBox="1"/>
              <p:nvPr/>
            </p:nvSpPr>
            <p:spPr>
              <a:xfrm>
                <a:off x="9037320" y="2846070"/>
                <a:ext cx="231514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Kiểm định Stateless qua Bearer Token</a:t>
                </a:r>
              </a:p>
            </p:txBody>
          </p:sp>
          <p:sp>
            <p:nvSpPr>
              <p:cNvPr id="79" name="Rectangle 79"/>
              <p:cNvSpPr/>
              <p:nvPr/>
            </p:nvSpPr>
            <p:spPr>
              <a:xfrm>
                <a:off x="9048750" y="3238500"/>
                <a:ext cx="2324100" cy="285750"/>
              </a:xfrm>
              <a:prstGeom prst="roundRect">
                <a:avLst>
                  <a:gd name="adj" fmla="val 20000"/>
                </a:avLst>
              </a:prstGeom>
              <a:solidFill>
                <a:srgbClr val="0F172A"/>
              </a:solidFill>
              <a:ln w="9525">
                <a:solidFill>
                  <a:srgbClr val="16A34A"/>
                </a:solidFill>
              </a:ln>
              <a:effectLst>
                <a:outerShdw blurRad="95250" dist="28575" dir="5400000" algn="ctr" rotWithShape="0">
                  <a:srgbClr val="000000">
                    <a:alpha val="30000"/>
                  </a:srgbClr>
                </a:outerShdw>
              </a:effectLst>
            </p:spPr>
          </p:sp>
          <p:sp>
            <p:nvSpPr>
              <p:cNvPr id="80" name="TextBox 80"/>
              <p:cNvSpPr txBox="1"/>
              <p:nvPr/>
            </p:nvSpPr>
            <p:spPr>
              <a:xfrm>
                <a:off x="9530339" y="3330416"/>
                <a:ext cx="136092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86EFAC"/>
                    </a:solidFill>
                    <a:latin typeface="Segoe UI"/>
                    <a:ea typeface="Microsoft YaHei"/>
                    <a:cs typeface="Segoe UI"/>
                  </a:rPr>
                  <a:t>SECURITY &amp; JWT ENGINEER</a:t>
                </a:r>
              </a:p>
            </p:txBody>
          </p:sp>
        </p:grpSp>
      </p:grpSp>
      <p:grpSp>
        <p:nvGrpSpPr>
          <p:cNvPr id="158" name="Group 158"/>
          <p:cNvGrpSpPr/>
          <p:nvPr/>
        </p:nvGrpSpPr>
        <p:grpSpPr>
          <a:xfrm>
            <a:off x="571500" y="3857625"/>
            <a:ext cx="10934700" cy="2381250"/>
            <a:chOff x="571500" y="3857625"/>
            <a:chExt cx="10934700" cy="2381250"/>
          </a:xfrm>
        </p:grpSpPr>
        <p:grpSp>
          <p:nvGrpSpPr>
            <p:cNvPr id="99" name="Group 99"/>
            <p:cNvGrpSpPr/>
            <p:nvPr/>
          </p:nvGrpSpPr>
          <p:grpSpPr>
            <a:xfrm>
              <a:off x="571500" y="3857625"/>
              <a:ext cx="2590800" cy="2381250"/>
              <a:chOff x="571500" y="3857625"/>
              <a:chExt cx="2590800" cy="2381250"/>
            </a:xfrm>
            <a:effectLst>
              <a:outerShdw blurRad="95250" dist="28575" dir="5400000" algn="ctr" rotWithShape="0">
                <a:srgbClr val="000000">
                  <a:alpha val="30000"/>
                </a:srgbClr>
              </a:outerShdw>
            </a:effectLst>
          </p:grpSpPr>
          <p:sp>
            <p:nvSpPr>
              <p:cNvPr id="83" name="Rectangle 83"/>
              <p:cNvSpPr/>
              <p:nvPr/>
            </p:nvSpPr>
            <p:spPr>
              <a:xfrm>
                <a:off x="571500" y="385762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84" name="Rectangle 84"/>
              <p:cNvSpPr/>
              <p:nvPr/>
            </p:nvSpPr>
            <p:spPr>
              <a:xfrm>
                <a:off x="704850" y="3990975"/>
                <a:ext cx="419100" cy="419100"/>
              </a:xfrm>
              <a:prstGeom prst="roundRect">
                <a:avLst>
                  <a:gd name="adj" fmla="val 50000"/>
                </a:avLst>
              </a:prstGeom>
              <a:solidFill>
                <a:srgbClr val="164E63"/>
              </a:solidFill>
              <a:ln>
                <a:noFill/>
              </a:ln>
              <a:effectLst>
                <a:outerShdw blurRad="95250" dist="28575" dir="5400000" algn="ctr" rotWithShape="0">
                  <a:srgbClr val="000000">
                    <a:alpha val="30000"/>
                  </a:srgbClr>
                </a:outerShdw>
              </a:effectLst>
            </p:spPr>
          </p:sp>
          <p:grpSp>
            <p:nvGrpSpPr>
              <p:cNvPr id="87" name="Group 87"/>
              <p:cNvGrpSpPr/>
              <p:nvPr/>
            </p:nvGrpSpPr>
            <p:grpSpPr>
              <a:xfrm>
                <a:off x="839657" y="4129088"/>
                <a:ext cx="149486" cy="142875"/>
                <a:chOff x="839657" y="4129088"/>
                <a:chExt cx="149486" cy="142875"/>
              </a:xfrm>
            </p:grpSpPr>
            <p:sp>
              <p:nvSpPr>
                <p:cNvPr id="85" name="Freeform 85"/>
                <p:cNvSpPr/>
                <p:nvPr/>
              </p:nvSpPr>
              <p:spPr>
                <a:xfrm>
                  <a:off x="839657" y="4129088"/>
                  <a:ext cx="149486" cy="142875"/>
                </a:xfrm>
                <a:custGeom>
                  <a:avLst/>
                  <a:gdLst/>
                  <a:ahLst/>
                  <a:cxnLst/>
                  <a:rect l="l" t="t" r="r" b="b"/>
                  <a:pathLst>
                    <a:path w="149486" h="142875">
                      <a:moveTo>
                        <a:pt x="74743" y="0"/>
                      </a:moveTo>
                      <a:cubicBezTo>
                        <a:pt x="93284" y="16403"/>
                        <a:pt x="117482" y="24944"/>
                        <a:pt x="142212" y="23812"/>
                      </a:cubicBezTo>
                      <a:cubicBezTo>
                        <a:pt x="149486" y="48558"/>
                        <a:pt x="146414" y="75195"/>
                        <a:pt x="133698" y="97635"/>
                      </a:cubicBezTo>
                      <a:cubicBezTo>
                        <a:pt x="120982" y="120075"/>
                        <a:pt x="99709" y="136399"/>
                        <a:pt x="74743" y="142875"/>
                      </a:cubicBezTo>
                      <a:cubicBezTo>
                        <a:pt x="49777" y="136399"/>
                        <a:pt x="28504" y="120075"/>
                        <a:pt x="15788" y="97635"/>
                      </a:cubicBezTo>
                      <a:cubicBezTo>
                        <a:pt x="3072" y="75195"/>
                        <a:pt x="0" y="48558"/>
                        <a:pt x="7274" y="23812"/>
                      </a:cubicBezTo>
                      <a:cubicBezTo>
                        <a:pt x="32004" y="24944"/>
                        <a:pt x="56202" y="16403"/>
                        <a:pt x="74743" y="0"/>
                      </a:cubicBezTo>
                    </a:path>
                  </a:pathLst>
                </a:custGeom>
                <a:noFill/>
                <a:ln w="19050">
                  <a:solidFill>
                    <a:srgbClr val="22D3EE"/>
                  </a:solidFill>
                </a:ln>
                <a:effectLst>
                  <a:outerShdw blurRad="95250" dist="28575" dir="5400000" algn="ctr" rotWithShape="0">
                    <a:srgbClr val="000000">
                      <a:alpha val="30000"/>
                    </a:srgbClr>
                  </a:outerShdw>
                </a:effectLst>
              </p:spPr>
            </p:sp>
            <p:sp>
              <p:nvSpPr>
                <p:cNvPr id="86" name="Freeform 86"/>
                <p:cNvSpPr/>
                <p:nvPr/>
              </p:nvSpPr>
              <p:spPr>
                <a:xfrm>
                  <a:off x="914400" y="4129088"/>
                  <a:ext cx="9525" cy="142875"/>
                </a:xfrm>
                <a:custGeom>
                  <a:avLst/>
                  <a:gdLst/>
                  <a:ahLst/>
                  <a:cxnLst/>
                  <a:rect l="l" t="t" r="r" b="b"/>
                  <a:pathLst>
                    <a:path w="9525" h="142875">
                      <a:moveTo>
                        <a:pt x="0" y="0"/>
                      </a:moveTo>
                      <a:lnTo>
                        <a:pt x="0" y="142875"/>
                      </a:lnTo>
                    </a:path>
                  </a:pathLst>
                </a:custGeom>
                <a:noFill/>
                <a:ln w="19050">
                  <a:solidFill>
                    <a:srgbClr val="22D3EE"/>
                  </a:solidFill>
                </a:ln>
                <a:effectLst>
                  <a:outerShdw blurRad="95250" dist="28575" dir="5400000" algn="ctr" rotWithShape="0">
                    <a:srgbClr val="000000">
                      <a:alpha val="30000"/>
                    </a:srgbClr>
                  </a:outerShdw>
                </a:effectLst>
              </p:spPr>
            </p:sp>
          </p:grpSp>
          <p:sp>
            <p:nvSpPr>
              <p:cNvPr id="88" name="Rectangle 88"/>
              <p:cNvSpPr/>
              <p:nvPr/>
            </p:nvSpPr>
            <p:spPr>
              <a:xfrm>
                <a:off x="1219200" y="402907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89" name="TextBox 89"/>
              <p:cNvSpPr txBox="1"/>
              <p:nvPr/>
            </p:nvSpPr>
            <p:spPr>
              <a:xfrm>
                <a:off x="1394817" y="408146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90" name="TextBox 90"/>
              <p:cNvSpPr txBox="1"/>
              <p:nvPr/>
            </p:nvSpPr>
            <p:spPr>
              <a:xfrm>
                <a:off x="1204912" y="4231481"/>
                <a:ext cx="1335988"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Dương Phúc Thịnh</a:t>
                </a:r>
              </a:p>
            </p:txBody>
          </p:sp>
          <p:sp>
            <p:nvSpPr>
              <p:cNvPr id="91" name="Line 91"/>
              <p:cNvSpPr/>
              <p:nvPr/>
            </p:nvSpPr>
            <p:spPr>
              <a:xfrm>
                <a:off x="704850" y="450532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92" name="TextBox 92"/>
              <p:cNvSpPr txBox="1"/>
              <p:nvPr/>
            </p:nvSpPr>
            <p:spPr>
              <a:xfrm>
                <a:off x="693420" y="461772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22D3EE"/>
                    </a:solidFill>
                    <a:latin typeface="Segoe UI"/>
                    <a:ea typeface="Microsoft YaHei"/>
                    <a:cs typeface="Segoe UI"/>
                  </a:rPr>
                  <a:t>Vai trò &amp; Nhiệm vụ:</a:t>
                </a:r>
              </a:p>
            </p:txBody>
          </p:sp>
          <p:sp>
            <p:nvSpPr>
              <p:cNvPr id="93" name="TextBox 93"/>
              <p:cNvSpPr txBox="1"/>
              <p:nvPr/>
            </p:nvSpPr>
            <p:spPr>
              <a:xfrm>
                <a:off x="693420" y="4817745"/>
                <a:ext cx="226714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Cấu hình Circuit Breaker Resilience4j</a:t>
                </a:r>
              </a:p>
            </p:txBody>
          </p:sp>
          <p:sp>
            <p:nvSpPr>
              <p:cNvPr id="94" name="TextBox 94"/>
              <p:cNvSpPr txBox="1"/>
              <p:nvPr/>
            </p:nvSpPr>
            <p:spPr>
              <a:xfrm>
                <a:off x="693420" y="5017770"/>
                <a:ext cx="188909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bộ lọc Gateway Filter</a:t>
                </a:r>
              </a:p>
            </p:txBody>
          </p:sp>
          <p:sp>
            <p:nvSpPr>
              <p:cNvPr id="95" name="TextBox 95"/>
              <p:cNvSpPr txBox="1"/>
              <p:nvPr/>
            </p:nvSpPr>
            <p:spPr>
              <a:xfrm>
                <a:off x="693420" y="5217795"/>
                <a:ext cx="2435161"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Thiết lập cơ chế Fallback ngăn sập nguồn</a:t>
                </a:r>
              </a:p>
            </p:txBody>
          </p:sp>
          <p:sp>
            <p:nvSpPr>
              <p:cNvPr id="96" name="TextBox 96"/>
              <p:cNvSpPr txBox="1"/>
              <p:nvPr/>
            </p:nvSpPr>
            <p:spPr>
              <a:xfrm>
                <a:off x="693420" y="5417820"/>
                <a:ext cx="205711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Giám sát các chỉ số phản hồi HTTP</a:t>
                </a:r>
              </a:p>
            </p:txBody>
          </p:sp>
          <p:sp>
            <p:nvSpPr>
              <p:cNvPr id="97" name="Rectangle 97"/>
              <p:cNvSpPr/>
              <p:nvPr/>
            </p:nvSpPr>
            <p:spPr>
              <a:xfrm>
                <a:off x="704850" y="5810250"/>
                <a:ext cx="2324100" cy="285750"/>
              </a:xfrm>
              <a:prstGeom prst="roundRect">
                <a:avLst>
                  <a:gd name="adj" fmla="val 20000"/>
                </a:avLst>
              </a:prstGeom>
              <a:solidFill>
                <a:srgbClr val="0F172A"/>
              </a:solidFill>
              <a:ln w="9525">
                <a:solidFill>
                  <a:srgbClr val="0891B2"/>
                </a:solidFill>
              </a:ln>
              <a:effectLst>
                <a:outerShdw blurRad="95250" dist="28575" dir="5400000" algn="ctr" rotWithShape="0">
                  <a:srgbClr val="000000">
                    <a:alpha val="30000"/>
                  </a:srgbClr>
                </a:outerShdw>
              </a:effectLst>
            </p:spPr>
          </p:sp>
          <p:sp>
            <p:nvSpPr>
              <p:cNvPr id="98" name="TextBox 98"/>
              <p:cNvSpPr txBox="1"/>
              <p:nvPr/>
            </p:nvSpPr>
            <p:spPr>
              <a:xfrm>
                <a:off x="1027606" y="5902166"/>
                <a:ext cx="1678587"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67E8F9"/>
                    </a:solidFill>
                    <a:latin typeface="Segoe UI"/>
                    <a:ea typeface="Microsoft YaHei"/>
                    <a:cs typeface="Segoe UI"/>
                  </a:rPr>
                  <a:t>RESILIENCE &amp; FAULT TOLERANCE</a:t>
                </a:r>
              </a:p>
            </p:txBody>
          </p:sp>
        </p:grpSp>
        <p:grpSp>
          <p:nvGrpSpPr>
            <p:cNvPr id="118" name="Group 118"/>
            <p:cNvGrpSpPr/>
            <p:nvPr/>
          </p:nvGrpSpPr>
          <p:grpSpPr>
            <a:xfrm>
              <a:off x="3352800" y="3857625"/>
              <a:ext cx="2590800" cy="2381250"/>
              <a:chOff x="3352800" y="3857625"/>
              <a:chExt cx="2590800" cy="2381250"/>
            </a:xfrm>
            <a:effectLst>
              <a:outerShdw blurRad="95250" dist="28575" dir="5400000" algn="ctr" rotWithShape="0">
                <a:srgbClr val="000000">
                  <a:alpha val="30000"/>
                </a:srgbClr>
              </a:outerShdw>
            </a:effectLst>
          </p:grpSpPr>
          <p:sp>
            <p:nvSpPr>
              <p:cNvPr id="100" name="Rectangle 100"/>
              <p:cNvSpPr/>
              <p:nvPr/>
            </p:nvSpPr>
            <p:spPr>
              <a:xfrm>
                <a:off x="3352800" y="385762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101" name="Rectangle 101"/>
              <p:cNvSpPr/>
              <p:nvPr/>
            </p:nvSpPr>
            <p:spPr>
              <a:xfrm>
                <a:off x="3486150" y="3990975"/>
                <a:ext cx="419100" cy="419100"/>
              </a:xfrm>
              <a:prstGeom prst="roundRect">
                <a:avLst>
                  <a:gd name="adj" fmla="val 50000"/>
                </a:avLst>
              </a:prstGeom>
              <a:solidFill>
                <a:srgbClr val="431407"/>
              </a:solidFill>
              <a:ln>
                <a:noFill/>
              </a:ln>
              <a:effectLst>
                <a:outerShdw blurRad="95250" dist="28575" dir="5400000" algn="ctr" rotWithShape="0">
                  <a:srgbClr val="000000">
                    <a:alpha val="30000"/>
                  </a:srgbClr>
                </a:outerShdw>
              </a:effectLst>
            </p:spPr>
          </p:sp>
          <p:grpSp>
            <p:nvGrpSpPr>
              <p:cNvPr id="106" name="Group 106"/>
              <p:cNvGrpSpPr/>
              <p:nvPr/>
            </p:nvGrpSpPr>
            <p:grpSpPr>
              <a:xfrm>
                <a:off x="3624262" y="4129088"/>
                <a:ext cx="142875" cy="142875"/>
                <a:chOff x="3624262" y="4129088"/>
                <a:chExt cx="142875" cy="142875"/>
              </a:xfrm>
            </p:grpSpPr>
            <p:sp>
              <p:nvSpPr>
                <p:cNvPr id="102" name="Freeform 102"/>
                <p:cNvSpPr/>
                <p:nvPr/>
              </p:nvSpPr>
              <p:spPr>
                <a:xfrm>
                  <a:off x="3640138" y="4129088"/>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FB923C"/>
                  </a:solidFill>
                </a:ln>
                <a:effectLst>
                  <a:outerShdw blurRad="95250" dist="28575" dir="5400000" algn="ctr" rotWithShape="0">
                    <a:srgbClr val="000000">
                      <a:alpha val="30000"/>
                    </a:srgbClr>
                  </a:outerShdw>
                </a:effectLst>
              </p:spPr>
            </p:sp>
            <p:sp>
              <p:nvSpPr>
                <p:cNvPr id="103" name="Freeform 103"/>
                <p:cNvSpPr/>
                <p:nvPr/>
              </p:nvSpPr>
              <p:spPr>
                <a:xfrm>
                  <a:off x="3624262" y="4224338"/>
                  <a:ext cx="95250" cy="47625"/>
                </a:xfrm>
                <a:custGeom>
                  <a:avLst/>
                  <a:gdLst/>
                  <a:ahLst/>
                  <a:cxnLst/>
                  <a:rect l="l" t="t" r="r" b="b"/>
                  <a:pathLst>
                    <a:path w="95250" h="47625">
                      <a:moveTo>
                        <a:pt x="0" y="47625"/>
                      </a:moveTo>
                      <a:lnTo>
                        <a:pt x="0" y="31750"/>
                      </a:lnTo>
                      <a:cubicBezTo>
                        <a:pt x="0" y="14215"/>
                        <a:pt x="14215" y="0"/>
                        <a:pt x="31750" y="0"/>
                      </a:cubicBezTo>
                      <a:lnTo>
                        <a:pt x="63500" y="0"/>
                      </a:lnTo>
                      <a:cubicBezTo>
                        <a:pt x="81035" y="0"/>
                        <a:pt x="95250" y="14215"/>
                        <a:pt x="95250" y="31750"/>
                      </a:cubicBezTo>
                      <a:lnTo>
                        <a:pt x="95250" y="47625"/>
                      </a:lnTo>
                    </a:path>
                  </a:pathLst>
                </a:custGeom>
                <a:noFill/>
                <a:ln w="19050">
                  <a:solidFill>
                    <a:srgbClr val="FB923C"/>
                  </a:solidFill>
                </a:ln>
                <a:effectLst>
                  <a:outerShdw blurRad="95250" dist="28575" dir="5400000" algn="ctr" rotWithShape="0">
                    <a:srgbClr val="000000">
                      <a:alpha val="30000"/>
                    </a:srgbClr>
                  </a:outerShdw>
                </a:effectLst>
              </p:spPr>
            </p:sp>
            <p:sp>
              <p:nvSpPr>
                <p:cNvPr id="104" name="Freeform 104"/>
                <p:cNvSpPr/>
                <p:nvPr/>
              </p:nvSpPr>
              <p:spPr>
                <a:xfrm>
                  <a:off x="3727450" y="4130119"/>
                  <a:ext cx="23875" cy="61516"/>
                </a:xfrm>
                <a:custGeom>
                  <a:avLst/>
                  <a:gdLst/>
                  <a:ahLst/>
                  <a:cxnLst/>
                  <a:rect l="l" t="t" r="r" b="b"/>
                  <a:pathLst>
                    <a:path w="23875" h="61516">
                      <a:moveTo>
                        <a:pt x="0" y="0"/>
                      </a:moveTo>
                      <a:cubicBezTo>
                        <a:pt x="14049" y="3597"/>
                        <a:pt x="23875" y="16256"/>
                        <a:pt x="23875" y="30758"/>
                      </a:cubicBezTo>
                      <a:cubicBezTo>
                        <a:pt x="23875" y="45260"/>
                        <a:pt x="14049" y="57919"/>
                        <a:pt x="0" y="61516"/>
                      </a:cubicBezTo>
                    </a:path>
                  </a:pathLst>
                </a:custGeom>
                <a:noFill/>
                <a:ln w="19050">
                  <a:solidFill>
                    <a:srgbClr val="FB923C"/>
                  </a:solidFill>
                </a:ln>
                <a:effectLst>
                  <a:outerShdw blurRad="95250" dist="28575" dir="5400000" algn="ctr" rotWithShape="0">
                    <a:srgbClr val="000000">
                      <a:alpha val="30000"/>
                    </a:srgbClr>
                  </a:outerShdw>
                </a:effectLst>
              </p:spPr>
            </p:sp>
            <p:sp>
              <p:nvSpPr>
                <p:cNvPr id="105" name="Freeform 105"/>
                <p:cNvSpPr/>
                <p:nvPr/>
              </p:nvSpPr>
              <p:spPr>
                <a:xfrm>
                  <a:off x="3743325" y="4225528"/>
                  <a:ext cx="23812" cy="46434"/>
                </a:xfrm>
                <a:custGeom>
                  <a:avLst/>
                  <a:gdLst/>
                  <a:ahLst/>
                  <a:cxnLst/>
                  <a:rect l="l" t="t" r="r" b="b"/>
                  <a:pathLst>
                    <a:path w="23812" h="46434">
                      <a:moveTo>
                        <a:pt x="23812" y="46434"/>
                      </a:moveTo>
                      <a:lnTo>
                        <a:pt x="23812" y="30559"/>
                      </a:lnTo>
                      <a:cubicBezTo>
                        <a:pt x="23730" y="16149"/>
                        <a:pt x="13953" y="3602"/>
                        <a:pt x="0" y="0"/>
                      </a:cubicBezTo>
                    </a:path>
                  </a:pathLst>
                </a:custGeom>
                <a:noFill/>
                <a:ln w="19050">
                  <a:solidFill>
                    <a:srgbClr val="FB923C"/>
                  </a:solidFill>
                </a:ln>
                <a:effectLst>
                  <a:outerShdw blurRad="95250" dist="28575" dir="5400000" algn="ctr" rotWithShape="0">
                    <a:srgbClr val="000000">
                      <a:alpha val="30000"/>
                    </a:srgbClr>
                  </a:outerShdw>
                </a:effectLst>
              </p:spPr>
            </p:sp>
          </p:grpSp>
          <p:sp>
            <p:nvSpPr>
              <p:cNvPr id="107" name="Rectangle 107"/>
              <p:cNvSpPr/>
              <p:nvPr/>
            </p:nvSpPr>
            <p:spPr>
              <a:xfrm>
                <a:off x="4000500" y="402907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108" name="TextBox 108"/>
              <p:cNvSpPr txBox="1"/>
              <p:nvPr/>
            </p:nvSpPr>
            <p:spPr>
              <a:xfrm>
                <a:off x="4176117" y="408146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109" name="TextBox 109"/>
              <p:cNvSpPr txBox="1"/>
              <p:nvPr/>
            </p:nvSpPr>
            <p:spPr>
              <a:xfrm>
                <a:off x="3986212" y="4231481"/>
                <a:ext cx="1076081" cy="2286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Cao Tất Thành</a:t>
                </a:r>
              </a:p>
            </p:txBody>
          </p:sp>
          <p:sp>
            <p:nvSpPr>
              <p:cNvPr id="110" name="Line 110"/>
              <p:cNvSpPr/>
              <p:nvPr/>
            </p:nvSpPr>
            <p:spPr>
              <a:xfrm>
                <a:off x="3486150" y="450532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111" name="TextBox 111"/>
              <p:cNvSpPr txBox="1"/>
              <p:nvPr/>
            </p:nvSpPr>
            <p:spPr>
              <a:xfrm>
                <a:off x="3474720" y="461772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B923C"/>
                    </a:solidFill>
                    <a:latin typeface="Segoe UI"/>
                    <a:ea typeface="Microsoft YaHei"/>
                    <a:cs typeface="Segoe UI"/>
                  </a:rPr>
                  <a:t>Vai trò &amp; Nhiệm vụ:</a:t>
                </a:r>
              </a:p>
            </p:txBody>
          </p:sp>
          <p:sp>
            <p:nvSpPr>
              <p:cNvPr id="112" name="TextBox 112"/>
              <p:cNvSpPr txBox="1"/>
              <p:nvPr/>
            </p:nvSpPr>
            <p:spPr>
              <a:xfrm>
                <a:off x="3474720" y="4817745"/>
                <a:ext cx="2249138"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Customer Service thông tin</a:t>
                </a:r>
              </a:p>
            </p:txBody>
          </p:sp>
          <p:sp>
            <p:nvSpPr>
              <p:cNvPr id="113" name="TextBox 113"/>
              <p:cNvSpPr txBox="1"/>
              <p:nvPr/>
            </p:nvSpPr>
            <p:spPr>
              <a:xfrm>
                <a:off x="3474720" y="5017770"/>
                <a:ext cx="221913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Thiết kế CSDL Database-per-service</a:t>
                </a:r>
              </a:p>
            </p:txBody>
          </p:sp>
          <p:sp>
            <p:nvSpPr>
              <p:cNvPr id="114" name="TextBox 114"/>
              <p:cNvSpPr txBox="1"/>
              <p:nvPr/>
            </p:nvSpPr>
            <p:spPr>
              <a:xfrm>
                <a:off x="3474720" y="5217795"/>
                <a:ext cx="212912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Viết kịch bản khởi tạo init.sql mẫu</a:t>
                </a:r>
              </a:p>
            </p:txBody>
          </p:sp>
          <p:sp>
            <p:nvSpPr>
              <p:cNvPr id="115" name="TextBox 115"/>
              <p:cNvSpPr txBox="1"/>
              <p:nvPr/>
            </p:nvSpPr>
            <p:spPr>
              <a:xfrm>
                <a:off x="3474720" y="5417820"/>
                <a:ext cx="223113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Chuẩn hóa quan hệ dữ liệu khách hàng</a:t>
                </a:r>
              </a:p>
            </p:txBody>
          </p:sp>
          <p:sp>
            <p:nvSpPr>
              <p:cNvPr id="116" name="Rectangle 116"/>
              <p:cNvSpPr/>
              <p:nvPr/>
            </p:nvSpPr>
            <p:spPr>
              <a:xfrm>
                <a:off x="3486150" y="5810250"/>
                <a:ext cx="2324100" cy="285750"/>
              </a:xfrm>
              <a:prstGeom prst="roundRect">
                <a:avLst>
                  <a:gd name="adj" fmla="val 20000"/>
                </a:avLst>
              </a:prstGeom>
              <a:solidFill>
                <a:srgbClr val="0F172A"/>
              </a:solidFill>
              <a:ln w="9525">
                <a:solidFill>
                  <a:srgbClr val="EA580C"/>
                </a:solidFill>
              </a:ln>
              <a:effectLst>
                <a:outerShdw blurRad="95250" dist="28575" dir="5400000" algn="ctr" rotWithShape="0">
                  <a:srgbClr val="000000">
                    <a:alpha val="30000"/>
                  </a:srgbClr>
                </a:outerShdw>
              </a:effectLst>
            </p:spPr>
          </p:sp>
          <p:sp>
            <p:nvSpPr>
              <p:cNvPr id="117" name="TextBox 117"/>
              <p:cNvSpPr txBox="1"/>
              <p:nvPr/>
            </p:nvSpPr>
            <p:spPr>
              <a:xfrm>
                <a:off x="3846449" y="5902166"/>
                <a:ext cx="1603503"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FDBA74"/>
                    </a:solidFill>
                    <a:latin typeface="Segoe UI"/>
                    <a:ea typeface="Microsoft YaHei"/>
                    <a:cs typeface="Segoe UI"/>
                  </a:rPr>
                  <a:t>CUSTOMER &amp; DATABASE DESIGN</a:t>
                </a:r>
              </a:p>
            </p:txBody>
          </p:sp>
        </p:grpSp>
        <p:grpSp>
          <p:nvGrpSpPr>
            <p:cNvPr id="137" name="Group 137"/>
            <p:cNvGrpSpPr/>
            <p:nvPr/>
          </p:nvGrpSpPr>
          <p:grpSpPr>
            <a:xfrm>
              <a:off x="6134100" y="3857625"/>
              <a:ext cx="2590800" cy="2381250"/>
              <a:chOff x="6134100" y="3857625"/>
              <a:chExt cx="2590800" cy="2381250"/>
            </a:xfrm>
            <a:effectLst>
              <a:outerShdw blurRad="95250" dist="28575" dir="5400000" algn="ctr" rotWithShape="0">
                <a:srgbClr val="000000">
                  <a:alpha val="30000"/>
                </a:srgbClr>
              </a:outerShdw>
            </a:effectLst>
          </p:grpSpPr>
          <p:sp>
            <p:nvSpPr>
              <p:cNvPr id="119" name="Rectangle 119"/>
              <p:cNvSpPr/>
              <p:nvPr/>
            </p:nvSpPr>
            <p:spPr>
              <a:xfrm>
                <a:off x="6134100" y="3857625"/>
                <a:ext cx="259080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120" name="Rectangle 120"/>
              <p:cNvSpPr/>
              <p:nvPr/>
            </p:nvSpPr>
            <p:spPr>
              <a:xfrm>
                <a:off x="6267450" y="3990975"/>
                <a:ext cx="419100" cy="419100"/>
              </a:xfrm>
              <a:prstGeom prst="roundRect">
                <a:avLst>
                  <a:gd name="adj" fmla="val 50000"/>
                </a:avLst>
              </a:prstGeom>
              <a:solidFill>
                <a:srgbClr val="3B0764"/>
              </a:solidFill>
              <a:ln>
                <a:noFill/>
              </a:ln>
              <a:effectLst>
                <a:outerShdw blurRad="95250" dist="28575" dir="5400000" algn="ctr" rotWithShape="0">
                  <a:srgbClr val="000000">
                    <a:alpha val="30000"/>
                  </a:srgbClr>
                </a:outerShdw>
              </a:effectLst>
            </p:spPr>
          </p:sp>
          <p:grpSp>
            <p:nvGrpSpPr>
              <p:cNvPr id="125" name="Group 125"/>
              <p:cNvGrpSpPr/>
              <p:nvPr/>
            </p:nvGrpSpPr>
            <p:grpSpPr>
              <a:xfrm>
                <a:off x="6405562" y="4129088"/>
                <a:ext cx="142875" cy="142874"/>
                <a:chOff x="6405562" y="4129088"/>
                <a:chExt cx="142875" cy="142874"/>
              </a:xfrm>
            </p:grpSpPr>
            <p:sp>
              <p:nvSpPr>
                <p:cNvPr id="121" name="Freeform 121"/>
                <p:cNvSpPr/>
                <p:nvPr/>
              </p:nvSpPr>
              <p:spPr>
                <a:xfrm>
                  <a:off x="6413500" y="4129088"/>
                  <a:ext cx="127000" cy="111125"/>
                </a:xfrm>
                <a:custGeom>
                  <a:avLst/>
                  <a:gdLst/>
                  <a:ahLst/>
                  <a:cxnLst/>
                  <a:rect l="l" t="t" r="r" b="b"/>
                  <a:pathLst>
                    <a:path w="127000" h="111125">
                      <a:moveTo>
                        <a:pt x="47625" y="15875"/>
                      </a:moveTo>
                      <a:cubicBezTo>
                        <a:pt x="47625" y="7107"/>
                        <a:pt x="54732" y="0"/>
                        <a:pt x="63500" y="0"/>
                      </a:cubicBezTo>
                      <a:cubicBezTo>
                        <a:pt x="72268" y="0"/>
                        <a:pt x="79375" y="7107"/>
                        <a:pt x="79375" y="15875"/>
                      </a:cubicBezTo>
                      <a:cubicBezTo>
                        <a:pt x="97950" y="24658"/>
                        <a:pt x="110162" y="42976"/>
                        <a:pt x="111125" y="63500"/>
                      </a:cubicBezTo>
                      <a:lnTo>
                        <a:pt x="111125" y="87313"/>
                      </a:lnTo>
                      <a:cubicBezTo>
                        <a:pt x="112336" y="97320"/>
                        <a:pt x="118228" y="106158"/>
                        <a:pt x="127000" y="111125"/>
                      </a:cubicBezTo>
                      <a:lnTo>
                        <a:pt x="0" y="111125"/>
                      </a:lnTo>
                      <a:cubicBezTo>
                        <a:pt x="8772" y="106158"/>
                        <a:pt x="14664" y="97320"/>
                        <a:pt x="15875" y="87313"/>
                      </a:cubicBezTo>
                      <a:lnTo>
                        <a:pt x="15875" y="63500"/>
                      </a:lnTo>
                      <a:cubicBezTo>
                        <a:pt x="16838" y="42976"/>
                        <a:pt x="29050" y="24658"/>
                        <a:pt x="47625" y="15875"/>
                      </a:cubicBezTo>
                    </a:path>
                  </a:pathLst>
                </a:custGeom>
                <a:noFill/>
                <a:ln w="19050">
                  <a:solidFill>
                    <a:srgbClr val="C084FC"/>
                  </a:solidFill>
                </a:ln>
                <a:effectLst>
                  <a:outerShdw blurRad="95250" dist="28575" dir="5400000" algn="ctr" rotWithShape="0">
                    <a:srgbClr val="000000">
                      <a:alpha val="30000"/>
                    </a:srgbClr>
                  </a:outerShdw>
                </a:effectLst>
              </p:spPr>
            </p:sp>
            <p:sp>
              <p:nvSpPr>
                <p:cNvPr id="122" name="Freeform 122"/>
                <p:cNvSpPr/>
                <p:nvPr/>
              </p:nvSpPr>
              <p:spPr>
                <a:xfrm>
                  <a:off x="6453188" y="4240212"/>
                  <a:ext cx="47625" cy="31750"/>
                </a:xfrm>
                <a:custGeom>
                  <a:avLst/>
                  <a:gdLst/>
                  <a:ahLst/>
                  <a:cxnLst/>
                  <a:rect l="l" t="t" r="r" b="b"/>
                  <a:pathLst>
                    <a:path w="47625" h="31750">
                      <a:moveTo>
                        <a:pt x="0" y="0"/>
                      </a:moveTo>
                      <a:lnTo>
                        <a:pt x="0" y="7937"/>
                      </a:lnTo>
                      <a:cubicBezTo>
                        <a:pt x="0" y="21089"/>
                        <a:pt x="10661" y="31750"/>
                        <a:pt x="23812" y="31750"/>
                      </a:cubicBezTo>
                      <a:cubicBezTo>
                        <a:pt x="36964" y="31750"/>
                        <a:pt x="47625" y="21089"/>
                        <a:pt x="47625" y="7937"/>
                      </a:cubicBezTo>
                      <a:lnTo>
                        <a:pt x="47625" y="0"/>
                      </a:lnTo>
                    </a:path>
                  </a:pathLst>
                </a:custGeom>
                <a:noFill/>
                <a:ln w="19050">
                  <a:solidFill>
                    <a:srgbClr val="C084FC"/>
                  </a:solidFill>
                </a:ln>
                <a:effectLst>
                  <a:outerShdw blurRad="95250" dist="28575" dir="5400000" algn="ctr" rotWithShape="0">
                    <a:srgbClr val="000000">
                      <a:alpha val="30000"/>
                    </a:srgbClr>
                  </a:outerShdw>
                </a:effectLst>
              </p:spPr>
            </p:sp>
            <p:sp>
              <p:nvSpPr>
                <p:cNvPr id="123" name="Freeform 123"/>
                <p:cNvSpPr/>
                <p:nvPr/>
              </p:nvSpPr>
              <p:spPr>
                <a:xfrm>
                  <a:off x="6526260" y="4129088"/>
                  <a:ext cx="22177" cy="29583"/>
                </a:xfrm>
                <a:custGeom>
                  <a:avLst/>
                  <a:gdLst/>
                  <a:ahLst/>
                  <a:cxnLst/>
                  <a:rect l="l" t="t" r="r" b="b"/>
                  <a:pathLst>
                    <a:path w="22177" h="29583">
                      <a:moveTo>
                        <a:pt x="22177" y="29583"/>
                      </a:moveTo>
                      <a:cubicBezTo>
                        <a:pt x="16971" y="18258"/>
                        <a:pt x="9410" y="8173"/>
                        <a:pt x="0" y="0"/>
                      </a:cubicBezTo>
                    </a:path>
                  </a:pathLst>
                </a:custGeom>
                <a:noFill/>
                <a:ln w="19050">
                  <a:solidFill>
                    <a:srgbClr val="C084FC"/>
                  </a:solidFill>
                </a:ln>
                <a:effectLst>
                  <a:outerShdw blurRad="95250" dist="28575" dir="5400000" algn="ctr" rotWithShape="0">
                    <a:srgbClr val="000000">
                      <a:alpha val="30000"/>
                    </a:srgbClr>
                  </a:outerShdw>
                </a:effectLst>
              </p:spPr>
            </p:sp>
            <p:sp>
              <p:nvSpPr>
                <p:cNvPr id="124" name="Freeform 124"/>
                <p:cNvSpPr/>
                <p:nvPr/>
              </p:nvSpPr>
              <p:spPr>
                <a:xfrm>
                  <a:off x="6405562" y="4129088"/>
                  <a:ext cx="22162" cy="29583"/>
                </a:xfrm>
                <a:custGeom>
                  <a:avLst/>
                  <a:gdLst/>
                  <a:ahLst/>
                  <a:cxnLst/>
                  <a:rect l="l" t="t" r="r" b="b"/>
                  <a:pathLst>
                    <a:path w="22162" h="29583">
                      <a:moveTo>
                        <a:pt x="0" y="29583"/>
                      </a:moveTo>
                      <a:cubicBezTo>
                        <a:pt x="5202" y="18260"/>
                        <a:pt x="12757" y="8175"/>
                        <a:pt x="22162" y="0"/>
                      </a:cubicBezTo>
                    </a:path>
                  </a:pathLst>
                </a:custGeom>
                <a:noFill/>
                <a:ln w="19050">
                  <a:solidFill>
                    <a:srgbClr val="C084FC"/>
                  </a:solidFill>
                </a:ln>
                <a:effectLst>
                  <a:outerShdw blurRad="95250" dist="28575" dir="5400000" algn="ctr" rotWithShape="0">
                    <a:srgbClr val="000000">
                      <a:alpha val="30000"/>
                    </a:srgbClr>
                  </a:outerShdw>
                </a:effectLst>
              </p:spPr>
            </p:sp>
          </p:grpSp>
          <p:sp>
            <p:nvSpPr>
              <p:cNvPr id="126" name="Rectangle 126"/>
              <p:cNvSpPr/>
              <p:nvPr/>
            </p:nvSpPr>
            <p:spPr>
              <a:xfrm>
                <a:off x="6781800" y="4029075"/>
                <a:ext cx="904875" cy="190500"/>
              </a:xfrm>
              <a:prstGeom prst="roundRect">
                <a:avLst>
                  <a:gd name="adj" fmla="val 20000"/>
                </a:avLst>
              </a:prstGeom>
              <a:solidFill>
                <a:srgbClr val="0F172A"/>
              </a:solidFill>
              <a:ln>
                <a:noFill/>
              </a:ln>
              <a:effectLst>
                <a:outerShdw blurRad="95250" dist="28575" dir="5400000" algn="ctr" rotWithShape="0">
                  <a:srgbClr val="000000">
                    <a:alpha val="30000"/>
                  </a:srgbClr>
                </a:outerShdw>
              </a:effectLst>
            </p:spPr>
          </p:sp>
          <p:sp>
            <p:nvSpPr>
              <p:cNvPr id="127" name="TextBox 127"/>
              <p:cNvSpPr txBox="1"/>
              <p:nvPr/>
            </p:nvSpPr>
            <p:spPr>
              <a:xfrm>
                <a:off x="6957417" y="4081462"/>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94A3B8"/>
                    </a:solidFill>
                    <a:latin typeface="Segoe UI"/>
                    <a:ea typeface="Microsoft YaHei"/>
                    <a:cs typeface="Segoe UI"/>
                  </a:rPr>
                  <a:t>THÀNH VIÊN</a:t>
                </a:r>
              </a:p>
            </p:txBody>
          </p:sp>
          <p:sp>
            <p:nvSpPr>
              <p:cNvPr id="128" name="TextBox 128"/>
              <p:cNvSpPr txBox="1"/>
              <p:nvPr/>
            </p:nvSpPr>
            <p:spPr>
              <a:xfrm>
                <a:off x="6767989" y="4235529"/>
                <a:ext cx="1839624" cy="2209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88" b="1" dirty="0">
                    <a:solidFill>
                      <a:srgbClr val="F8FAFC"/>
                    </a:solidFill>
                    <a:latin typeface="Segoe UI"/>
                    <a:ea typeface="Microsoft YaHei"/>
                    <a:cs typeface="Segoe UI"/>
                  </a:rPr>
                  <a:t>Nguyễn Trọng Đăng Dương</a:t>
                </a:r>
              </a:p>
            </p:txBody>
          </p:sp>
          <p:sp>
            <p:nvSpPr>
              <p:cNvPr id="129" name="Line 129"/>
              <p:cNvSpPr/>
              <p:nvPr/>
            </p:nvSpPr>
            <p:spPr>
              <a:xfrm>
                <a:off x="6267450" y="450532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130" name="TextBox 130"/>
              <p:cNvSpPr txBox="1"/>
              <p:nvPr/>
            </p:nvSpPr>
            <p:spPr>
              <a:xfrm>
                <a:off x="6256020" y="4617720"/>
                <a:ext cx="117590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C084FC"/>
                    </a:solidFill>
                    <a:latin typeface="Segoe UI"/>
                    <a:ea typeface="Microsoft YaHei"/>
                    <a:cs typeface="Segoe UI"/>
                  </a:rPr>
                  <a:t>Vai trò &amp; Nhiệm vụ:</a:t>
                </a:r>
              </a:p>
            </p:txBody>
          </p:sp>
          <p:sp>
            <p:nvSpPr>
              <p:cNvPr id="131" name="TextBox 131"/>
              <p:cNvSpPr txBox="1"/>
              <p:nvPr/>
            </p:nvSpPr>
            <p:spPr>
              <a:xfrm>
                <a:off x="6256020" y="4817745"/>
                <a:ext cx="182908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Notification Service</a:t>
                </a:r>
              </a:p>
            </p:txBody>
          </p:sp>
          <p:sp>
            <p:nvSpPr>
              <p:cNvPr id="132" name="TextBox 132"/>
              <p:cNvSpPr txBox="1"/>
              <p:nvPr/>
            </p:nvSpPr>
            <p:spPr>
              <a:xfrm>
                <a:off x="6256020" y="5017770"/>
                <a:ext cx="2303145"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Tiêu thụ sự kiện biến động số dư Kafka</a:t>
                </a:r>
              </a:p>
            </p:txBody>
          </p:sp>
          <p:sp>
            <p:nvSpPr>
              <p:cNvPr id="133" name="TextBox 133"/>
              <p:cNvSpPr txBox="1"/>
              <p:nvPr/>
            </p:nvSpPr>
            <p:spPr>
              <a:xfrm>
                <a:off x="6256020" y="5217795"/>
                <a:ext cx="202111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Xây dựng Postman Collection v2.1</a:t>
                </a:r>
              </a:p>
            </p:txBody>
          </p:sp>
          <p:sp>
            <p:nvSpPr>
              <p:cNvPr id="134" name="TextBox 134"/>
              <p:cNvSpPr txBox="1"/>
              <p:nvPr/>
            </p:nvSpPr>
            <p:spPr>
              <a:xfrm>
                <a:off x="6256020" y="5417820"/>
                <a:ext cx="2225135"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Kiểm thử API Endpoints &amp; Test Script</a:t>
                </a:r>
              </a:p>
            </p:txBody>
          </p:sp>
          <p:sp>
            <p:nvSpPr>
              <p:cNvPr id="135" name="Rectangle 135"/>
              <p:cNvSpPr/>
              <p:nvPr/>
            </p:nvSpPr>
            <p:spPr>
              <a:xfrm>
                <a:off x="6267450" y="5810250"/>
                <a:ext cx="2324100" cy="285750"/>
              </a:xfrm>
              <a:prstGeom prst="roundRect">
                <a:avLst>
                  <a:gd name="adj" fmla="val 20000"/>
                </a:avLst>
              </a:prstGeom>
              <a:solidFill>
                <a:srgbClr val="0F172A"/>
              </a:solidFill>
              <a:ln w="9525">
                <a:solidFill>
                  <a:srgbClr val="9333EA"/>
                </a:solidFill>
              </a:ln>
              <a:effectLst>
                <a:outerShdw blurRad="95250" dist="28575" dir="5400000" algn="ctr" rotWithShape="0">
                  <a:srgbClr val="000000">
                    <a:alpha val="30000"/>
                  </a:srgbClr>
                </a:outerShdw>
              </a:effectLst>
            </p:spPr>
          </p:sp>
          <p:sp>
            <p:nvSpPr>
              <p:cNvPr id="136" name="TextBox 136"/>
              <p:cNvSpPr txBox="1"/>
              <p:nvPr/>
            </p:nvSpPr>
            <p:spPr>
              <a:xfrm>
                <a:off x="6691282" y="5902166"/>
                <a:ext cx="1476437"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E9D5FF"/>
                    </a:solidFill>
                    <a:latin typeface="Segoe UI"/>
                    <a:ea typeface="Microsoft YaHei"/>
                    <a:cs typeface="Segoe UI"/>
                  </a:rPr>
                  <a:t>NOTIFICATION &amp; QA TESTING</a:t>
                </a:r>
              </a:p>
            </p:txBody>
          </p:sp>
        </p:grpSp>
        <p:grpSp>
          <p:nvGrpSpPr>
            <p:cNvPr id="157" name="Group 157"/>
            <p:cNvGrpSpPr/>
            <p:nvPr/>
          </p:nvGrpSpPr>
          <p:grpSpPr>
            <a:xfrm>
              <a:off x="8915400" y="3857625"/>
              <a:ext cx="2590800" cy="2381250"/>
              <a:chOff x="8915400" y="3857625"/>
              <a:chExt cx="2590800" cy="2381250"/>
            </a:xfrm>
            <a:effectLst>
              <a:outerShdw blurRad="95250" dist="28575" dir="5400000" algn="ctr" rotWithShape="0">
                <a:srgbClr val="000000">
                  <a:alpha val="30000"/>
                </a:srgbClr>
              </a:outerShdw>
            </a:effectLst>
          </p:grpSpPr>
          <p:sp>
            <p:nvSpPr>
              <p:cNvPr id="138" name="Rectangle 138"/>
              <p:cNvSpPr/>
              <p:nvPr/>
            </p:nvSpPr>
            <p:spPr>
              <a:xfrm>
                <a:off x="8915400" y="3857625"/>
                <a:ext cx="2590800" cy="2381250"/>
              </a:xfrm>
              <a:prstGeom prst="roundRect">
                <a:avLst>
                  <a:gd name="adj" fmla="val 4800"/>
                </a:avLst>
              </a:prstGeom>
              <a:solidFill>
                <a:srgbClr val="0F172A"/>
              </a:solidFill>
              <a:ln w="14288">
                <a:solidFill>
                  <a:srgbClr val="06B6D4"/>
                </a:solidFill>
              </a:ln>
              <a:effectLst>
                <a:outerShdw blurRad="95250" dist="28575" dir="5400000" algn="ctr" rotWithShape="0">
                  <a:srgbClr val="000000">
                    <a:alpha val="30000"/>
                  </a:srgbClr>
                </a:outerShdw>
              </a:effectLst>
            </p:spPr>
          </p:sp>
          <p:sp>
            <p:nvSpPr>
              <p:cNvPr id="139" name="Rectangle 139"/>
              <p:cNvSpPr/>
              <p:nvPr/>
            </p:nvSpPr>
            <p:spPr>
              <a:xfrm>
                <a:off x="9048750" y="3990975"/>
                <a:ext cx="419100" cy="419100"/>
              </a:xfrm>
              <a:prstGeom prst="roundRect">
                <a:avLst>
                  <a:gd name="adj" fmla="val 50000"/>
                </a:avLst>
              </a:prstGeom>
              <a:solidFill>
                <a:srgbClr val="083344"/>
              </a:solidFill>
              <a:ln w="9525">
                <a:solidFill>
                  <a:srgbClr val="06B6D4"/>
                </a:solidFill>
              </a:ln>
              <a:effectLst>
                <a:outerShdw blurRad="95250" dist="28575" dir="5400000" algn="ctr" rotWithShape="0">
                  <a:srgbClr val="000000">
                    <a:alpha val="30000"/>
                  </a:srgbClr>
                </a:outerShdw>
              </a:effectLst>
            </p:spPr>
          </p:sp>
          <p:grpSp>
            <p:nvGrpSpPr>
              <p:cNvPr id="146" name="Group 146"/>
              <p:cNvGrpSpPr/>
              <p:nvPr/>
            </p:nvGrpSpPr>
            <p:grpSpPr>
              <a:xfrm>
                <a:off x="9186862" y="4137025"/>
                <a:ext cx="142876" cy="144462"/>
                <a:chOff x="9186862" y="4137025"/>
                <a:chExt cx="142876" cy="144462"/>
              </a:xfrm>
            </p:grpSpPr>
            <p:sp>
              <p:nvSpPr>
                <p:cNvPr id="140" name="Freeform 140"/>
                <p:cNvSpPr/>
                <p:nvPr/>
              </p:nvSpPr>
              <p:spPr>
                <a:xfrm>
                  <a:off x="9226550" y="4271962"/>
                  <a:ext cx="63500" cy="9525"/>
                </a:xfrm>
                <a:custGeom>
                  <a:avLst/>
                  <a:gdLst/>
                  <a:ahLst/>
                  <a:cxnLst/>
                  <a:rect l="l" t="t" r="r" b="b"/>
                  <a:pathLst>
                    <a:path w="63500" h="9525">
                      <a:moveTo>
                        <a:pt x="0" y="0"/>
                      </a:moveTo>
                      <a:lnTo>
                        <a:pt x="63500" y="0"/>
                      </a:lnTo>
                    </a:path>
                  </a:pathLst>
                </a:custGeom>
                <a:noFill/>
                <a:ln w="19050">
                  <a:solidFill>
                    <a:srgbClr val="FACC15"/>
                  </a:solidFill>
                </a:ln>
                <a:effectLst>
                  <a:outerShdw blurRad="95250" dist="28575" dir="5400000" algn="ctr" rotWithShape="0">
                    <a:srgbClr val="000000">
                      <a:alpha val="30000"/>
                    </a:srgbClr>
                  </a:outerShdw>
                </a:effectLst>
              </p:spPr>
            </p:sp>
            <p:sp>
              <p:nvSpPr>
                <p:cNvPr id="141" name="Freeform 141"/>
                <p:cNvSpPr/>
                <p:nvPr/>
              </p:nvSpPr>
              <p:spPr>
                <a:xfrm>
                  <a:off x="9258300" y="4240212"/>
                  <a:ext cx="9525" cy="31750"/>
                </a:xfrm>
                <a:custGeom>
                  <a:avLst/>
                  <a:gdLst/>
                  <a:ahLst/>
                  <a:cxnLst/>
                  <a:rect l="l" t="t" r="r" b="b"/>
                  <a:pathLst>
                    <a:path w="9525" h="31750">
                      <a:moveTo>
                        <a:pt x="0" y="0"/>
                      </a:moveTo>
                      <a:lnTo>
                        <a:pt x="0" y="31750"/>
                      </a:lnTo>
                    </a:path>
                  </a:pathLst>
                </a:custGeom>
                <a:noFill/>
                <a:ln w="19050">
                  <a:solidFill>
                    <a:srgbClr val="FACC15"/>
                  </a:solidFill>
                </a:ln>
                <a:effectLst>
                  <a:outerShdw blurRad="95250" dist="28575" dir="5400000" algn="ctr" rotWithShape="0">
                    <a:srgbClr val="000000">
                      <a:alpha val="30000"/>
                    </a:srgbClr>
                  </a:outerShdw>
                </a:effectLst>
              </p:spPr>
            </p:sp>
            <p:sp>
              <p:nvSpPr>
                <p:cNvPr id="142" name="Freeform 142"/>
                <p:cNvSpPr/>
                <p:nvPr/>
              </p:nvSpPr>
              <p:spPr>
                <a:xfrm>
                  <a:off x="9218612" y="4137025"/>
                  <a:ext cx="79375" cy="9525"/>
                </a:xfrm>
                <a:custGeom>
                  <a:avLst/>
                  <a:gdLst/>
                  <a:ahLst/>
                  <a:cxnLst/>
                  <a:rect l="l" t="t" r="r" b="b"/>
                  <a:pathLst>
                    <a:path w="79375" h="9525">
                      <a:moveTo>
                        <a:pt x="0" y="0"/>
                      </a:moveTo>
                      <a:lnTo>
                        <a:pt x="79375" y="0"/>
                      </a:lnTo>
                    </a:path>
                  </a:pathLst>
                </a:custGeom>
                <a:noFill/>
                <a:ln w="19050">
                  <a:solidFill>
                    <a:srgbClr val="FACC15"/>
                  </a:solidFill>
                </a:ln>
                <a:effectLst>
                  <a:outerShdw blurRad="95250" dist="28575" dir="5400000" algn="ctr" rotWithShape="0">
                    <a:srgbClr val="000000">
                      <a:alpha val="30000"/>
                    </a:srgbClr>
                  </a:outerShdw>
                </a:effectLst>
              </p:spPr>
            </p:sp>
            <p:sp>
              <p:nvSpPr>
                <p:cNvPr id="143" name="Freeform 143"/>
                <p:cNvSpPr/>
                <p:nvPr/>
              </p:nvSpPr>
              <p:spPr>
                <a:xfrm>
                  <a:off x="9218612" y="4137025"/>
                  <a:ext cx="79375" cy="103188"/>
                </a:xfrm>
                <a:custGeom>
                  <a:avLst/>
                  <a:gdLst/>
                  <a:ahLst/>
                  <a:cxnLst/>
                  <a:rect l="l" t="t" r="r" b="b"/>
                  <a:pathLst>
                    <a:path w="79375" h="103188">
                      <a:moveTo>
                        <a:pt x="79375" y="0"/>
                      </a:moveTo>
                      <a:lnTo>
                        <a:pt x="79375" y="63500"/>
                      </a:lnTo>
                      <a:cubicBezTo>
                        <a:pt x="79375" y="85419"/>
                        <a:pt x="61606" y="103188"/>
                        <a:pt x="39687" y="103188"/>
                      </a:cubicBezTo>
                      <a:cubicBezTo>
                        <a:pt x="17769" y="103188"/>
                        <a:pt x="0" y="85419"/>
                        <a:pt x="0" y="63500"/>
                      </a:cubicBezTo>
                      <a:lnTo>
                        <a:pt x="0" y="0"/>
                      </a:lnTo>
                    </a:path>
                  </a:pathLst>
                </a:custGeom>
                <a:noFill/>
                <a:ln w="19050">
                  <a:solidFill>
                    <a:srgbClr val="FACC15"/>
                  </a:solidFill>
                </a:ln>
                <a:effectLst>
                  <a:outerShdw blurRad="95250" dist="28575" dir="5400000" algn="ctr" rotWithShape="0">
                    <a:srgbClr val="000000">
                      <a:alpha val="30000"/>
                    </a:srgbClr>
                  </a:outerShdw>
                </a:effectLst>
              </p:spPr>
            </p:sp>
            <p:sp>
              <p:nvSpPr>
                <p:cNvPr id="144" name="Freeform 144"/>
                <p:cNvSpPr/>
                <p:nvPr/>
              </p:nvSpPr>
              <p:spPr>
                <a:xfrm>
                  <a:off x="9186862" y="4160838"/>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ACC15"/>
                  </a:solidFill>
                </a:ln>
                <a:effectLst>
                  <a:outerShdw blurRad="95250" dist="28575" dir="5400000" algn="ctr" rotWithShape="0">
                    <a:srgbClr val="000000">
                      <a:alpha val="30000"/>
                    </a:srgbClr>
                  </a:outerShdw>
                </a:effectLst>
              </p:spPr>
            </p:sp>
            <p:sp>
              <p:nvSpPr>
                <p:cNvPr id="145" name="Freeform 145"/>
                <p:cNvSpPr/>
                <p:nvPr/>
              </p:nvSpPr>
              <p:spPr>
                <a:xfrm>
                  <a:off x="9297988" y="4160838"/>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ACC15"/>
                  </a:solidFill>
                </a:ln>
                <a:effectLst>
                  <a:outerShdw blurRad="95250" dist="28575" dir="5400000" algn="ctr" rotWithShape="0">
                    <a:srgbClr val="000000">
                      <a:alpha val="30000"/>
                    </a:srgbClr>
                  </a:outerShdw>
                </a:effectLst>
              </p:spPr>
            </p:sp>
          </p:grpSp>
          <p:sp>
            <p:nvSpPr>
              <p:cNvPr id="147" name="TextBox 147"/>
              <p:cNvSpPr txBox="1"/>
              <p:nvPr/>
            </p:nvSpPr>
            <p:spPr>
              <a:xfrm>
                <a:off x="9550718" y="4076224"/>
                <a:ext cx="1000862"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TẬP THỂ NHÓM 3</a:t>
                </a:r>
              </a:p>
            </p:txBody>
          </p:sp>
          <p:sp>
            <p:nvSpPr>
              <p:cNvPr id="148" name="TextBox 148"/>
              <p:cNvSpPr txBox="1"/>
              <p:nvPr/>
            </p:nvSpPr>
            <p:spPr>
              <a:xfrm>
                <a:off x="9552146" y="4259818"/>
                <a:ext cx="114329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22D3EE"/>
                    </a:solidFill>
                    <a:latin typeface="Segoe UI"/>
                    <a:ea typeface="Microsoft YaHei"/>
                    <a:cs typeface="Segoe UI"/>
                  </a:rPr>
                  <a:t>7 Thành Viên Hợp Tác</a:t>
                </a:r>
              </a:p>
            </p:txBody>
          </p:sp>
          <p:sp>
            <p:nvSpPr>
              <p:cNvPr id="149" name="Line 149"/>
              <p:cNvSpPr/>
              <p:nvPr/>
            </p:nvSpPr>
            <p:spPr>
              <a:xfrm>
                <a:off x="9048750" y="4505325"/>
                <a:ext cx="2324100" cy="9525"/>
              </a:xfrm>
              <a:custGeom>
                <a:avLst/>
                <a:gdLst/>
                <a:ahLst/>
                <a:cxnLst/>
                <a:rect l="l" t="t" r="r" b="b"/>
                <a:pathLst>
                  <a:path w="2324100" h="9525">
                    <a:moveTo>
                      <a:pt x="0" y="0"/>
                    </a:moveTo>
                    <a:lnTo>
                      <a:pt x="2324100" y="0"/>
                    </a:lnTo>
                  </a:path>
                </a:pathLst>
              </a:custGeom>
              <a:noFill/>
              <a:ln w="9525">
                <a:solidFill>
                  <a:srgbClr val="334155"/>
                </a:solidFill>
              </a:ln>
            </p:spPr>
          </p:sp>
          <p:sp>
            <p:nvSpPr>
              <p:cNvPr id="150" name="TextBox 150"/>
              <p:cNvSpPr txBox="1"/>
              <p:nvPr/>
            </p:nvSpPr>
            <p:spPr>
              <a:xfrm>
                <a:off x="9037320" y="4617720"/>
                <a:ext cx="103728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Thành tựu dự án:</a:t>
                </a:r>
              </a:p>
            </p:txBody>
          </p:sp>
          <p:sp>
            <p:nvSpPr>
              <p:cNvPr id="151" name="TextBox 151"/>
              <p:cNvSpPr txBox="1"/>
              <p:nvPr/>
            </p:nvSpPr>
            <p:spPr>
              <a:xfrm>
                <a:off x="9037320" y="4817745"/>
                <a:ext cx="170307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Hoàn thành 100% tài liệu SRS</a:t>
                </a:r>
              </a:p>
            </p:txBody>
          </p:sp>
          <p:sp>
            <p:nvSpPr>
              <p:cNvPr id="152" name="TextBox 152"/>
              <p:cNvSpPr txBox="1"/>
              <p:nvPr/>
            </p:nvSpPr>
            <p:spPr>
              <a:xfrm>
                <a:off x="9037320" y="5017770"/>
                <a:ext cx="199710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Triển khai thành công 6 services</a:t>
                </a:r>
              </a:p>
            </p:txBody>
          </p:sp>
          <p:sp>
            <p:nvSpPr>
              <p:cNvPr id="153" name="TextBox 153"/>
              <p:cNvSpPr txBox="1"/>
              <p:nvPr/>
            </p:nvSpPr>
            <p:spPr>
              <a:xfrm>
                <a:off x="9037320" y="5217795"/>
                <a:ext cx="2009108"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Kiểm thử thực tế Postman đầy đủ</a:t>
                </a:r>
              </a:p>
            </p:txBody>
          </p:sp>
          <p:sp>
            <p:nvSpPr>
              <p:cNvPr id="154" name="TextBox 154"/>
              <p:cNvSpPr txBox="1"/>
              <p:nvPr/>
            </p:nvSpPr>
            <p:spPr>
              <a:xfrm>
                <a:off x="9037320" y="5417820"/>
                <a:ext cx="1859089"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Sẵn sàng chuyển giao sản xuất</a:t>
                </a:r>
              </a:p>
            </p:txBody>
          </p:sp>
          <p:sp>
            <p:nvSpPr>
              <p:cNvPr id="155" name="Rectangle 155"/>
              <p:cNvSpPr/>
              <p:nvPr/>
            </p:nvSpPr>
            <p:spPr>
              <a:xfrm>
                <a:off x="9048750" y="5810250"/>
                <a:ext cx="2324100" cy="285750"/>
              </a:xfrm>
              <a:prstGeom prst="roundRect">
                <a:avLst>
                  <a:gd name="adj" fmla="val 20000"/>
                </a:avLst>
              </a:prstGeom>
              <a:solidFill>
                <a:srgbClr val="1E293B"/>
              </a:solidFill>
              <a:ln w="9525">
                <a:solidFill>
                  <a:srgbClr val="06B6D4"/>
                </a:solidFill>
              </a:ln>
              <a:effectLst>
                <a:outerShdw blurRad="95250" dist="28575" dir="5400000" algn="ctr" rotWithShape="0">
                  <a:srgbClr val="000000">
                    <a:alpha val="30000"/>
                  </a:srgbClr>
                </a:outerShdw>
              </a:effectLst>
            </p:spPr>
          </p:sp>
          <p:sp>
            <p:nvSpPr>
              <p:cNvPr id="156" name="TextBox 156"/>
              <p:cNvSpPr txBox="1"/>
              <p:nvPr/>
            </p:nvSpPr>
            <p:spPr>
              <a:xfrm>
                <a:off x="9588096" y="5902166"/>
                <a:ext cx="1245408"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22D3EE"/>
                    </a:solidFill>
                    <a:latin typeface="Segoe UI"/>
                    <a:ea typeface="Microsoft YaHei"/>
                    <a:cs typeface="Segoe UI"/>
                  </a:rPr>
                  <a:t>✓ 100% COLLABORATION</a:t>
                </a:r>
              </a:p>
            </p:txBody>
          </p:sp>
        </p:grpSp>
      </p:grpSp>
      <p:grpSp>
        <p:nvGrpSpPr>
          <p:cNvPr id="161" name="Group 161"/>
          <p:cNvGrpSpPr/>
          <p:nvPr/>
        </p:nvGrpSpPr>
        <p:grpSpPr>
          <a:xfrm>
            <a:off x="560070" y="6522720"/>
            <a:ext cx="11071860" cy="182880"/>
            <a:chOff x="560070" y="6522720"/>
            <a:chExt cx="11071860" cy="182880"/>
          </a:xfrm>
        </p:grpSpPr>
        <p:sp>
          <p:nvSpPr>
            <p:cNvPr id="159" name="TextBox 159"/>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160" name="TextBox 160"/>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400"/>
                                        <p:tgtEl>
                                          <p:spTgt spid="8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8"/>
                                        </p:tgtEl>
                                        <p:attrNameLst>
                                          <p:attrName>style.visibility</p:attrName>
                                        </p:attrNameLst>
                                      </p:cBhvr>
                                      <p:to>
                                        <p:strVal val="visible"/>
                                      </p:to>
                                    </p:set>
                                    <p:animEffect transition="in" filter="wipe(left)">
                                      <p:cBhvr>
                                        <p:cTn id="11" dur="4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15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EF4444">
                    <a:alpha val="10000"/>
                  </a:srgbClr>
                </a:gs>
                <a:gs pos="100000">
                  <a:srgbClr val="0B1120">
                    <a:alpha val="0"/>
                  </a:srgbClr>
                </a:gs>
              </a:gsLst>
              <a:path path="circle">
                <a:fillToRect l="50000" t="50000" r="50000" b="50000"/>
              </a:path>
            </a:gradFill>
            <a:ln>
              <a:noFill/>
            </a:ln>
          </p:spPr>
        </p:sp>
        <p:sp>
          <p:nvSpPr>
            <p:cNvPr id="5" name="Rectangle 5"/>
            <p:cNvSpPr/>
            <p:nvPr/>
          </p:nvSpPr>
          <p:spPr>
            <a:xfrm>
              <a:off x="0" y="0"/>
              <a:ext cx="12192000" cy="6858000"/>
            </a:xfrm>
            <a:prstGeom prst="rect">
              <a:avLst/>
            </a:prstGeom>
            <a:gradFill>
              <a:gsLst>
                <a:gs pos="0">
                  <a:srgbClr val="06B6D4">
                    <a:alpha val="12000"/>
                  </a:srgbClr>
                </a:gs>
                <a:gs pos="100000">
                  <a:srgbClr val="0B1120">
                    <a:alpha val="0"/>
                  </a:srgbClr>
                </a:gs>
              </a:gsLst>
              <a:path path="circle">
                <a:fillToRect l="50000" t="50000" r="50000" b="50000"/>
              </a:path>
            </a:gradFill>
            <a:ln>
              <a:noFill/>
            </a:ln>
          </p:spPr>
        </p:sp>
        <p:sp>
          <p:nvSpPr>
            <p:cNvPr id="6" name="Line 6"/>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2" name="Group 12"/>
          <p:cNvGrpSpPr/>
          <p:nvPr/>
        </p:nvGrpSpPr>
        <p:grpSpPr>
          <a:xfrm>
            <a:off x="548640" y="342900"/>
            <a:ext cx="7770485" cy="797719"/>
            <a:chOff x="548640" y="342900"/>
            <a:chExt cx="7770485" cy="797719"/>
          </a:xfrm>
        </p:grpSpPr>
        <p:sp>
          <p:nvSpPr>
            <p:cNvPr id="8" name="Rectangle 8"/>
            <p:cNvSpPr/>
            <p:nvPr/>
          </p:nvSpPr>
          <p:spPr>
            <a:xfrm>
              <a:off x="571500" y="342900"/>
              <a:ext cx="1333500" cy="247650"/>
            </a:xfrm>
            <a:prstGeom prst="roundRect">
              <a:avLst>
                <a:gd name="adj" fmla="val 50000"/>
              </a:avLst>
            </a:prstGeom>
            <a:solidFill>
              <a:srgbClr val="1E293B"/>
            </a:solidFill>
            <a:ln w="9525">
              <a:solidFill>
                <a:srgbClr val="06B6D4"/>
              </a:solidFill>
            </a:ln>
          </p:spPr>
        </p:sp>
        <p:sp>
          <p:nvSpPr>
            <p:cNvPr id="9" name="TextBox 9"/>
            <p:cNvSpPr txBox="1"/>
            <p:nvPr/>
          </p:nvSpPr>
          <p:spPr>
            <a:xfrm>
              <a:off x="713733" y="415766"/>
              <a:ext cx="1049033" cy="167640"/>
            </a:xfrm>
            <a:prstGeom prst="rect">
              <a:avLst/>
            </a:prstGeom>
            <a:noFill/>
            <a:ln>
              <a:noFill/>
            </a:ln>
          </p:spPr>
          <p:txBody>
            <a:bodyPr wrap="none" lIns="0" tIns="0" rIns="0" bIns="0" anchor="t" anchorCtr="0">
              <a:spAutoFit/>
            </a:bodyPr>
            <a:lstStyle/>
            <a:p>
              <a:pPr algn="ctr"/>
              <a:r>
                <a:rPr lang="zh-CN" sz="825" b="1" dirty="0">
                  <a:solidFill>
                    <a:srgbClr val="06B6D4"/>
                  </a:solidFill>
                  <a:latin typeface="Segoe UI"/>
                  <a:ea typeface="Microsoft YaHei"/>
                  <a:cs typeface="Segoe UI"/>
                </a:rPr>
                <a:t>KIẾN TRÚC HỆ THỐNG</a:t>
              </a:r>
            </a:p>
          </p:txBody>
        </p:sp>
        <p:sp>
          <p:nvSpPr>
            <p:cNvPr id="10" name="TextBox 10"/>
            <p:cNvSpPr txBox="1"/>
            <p:nvPr/>
          </p:nvSpPr>
          <p:spPr>
            <a:xfrm>
              <a:off x="548640" y="624840"/>
              <a:ext cx="7770485"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Chuyển Dịch Kiến Trúc: Từ Monolithic Sang Microservices (MSA)</a:t>
              </a:r>
            </a:p>
          </p:txBody>
        </p:sp>
        <p:sp>
          <p:nvSpPr>
            <p:cNvPr id="11" name="TextBox 11"/>
            <p:cNvSpPr txBox="1"/>
            <p:nvPr/>
          </p:nvSpPr>
          <p:spPr>
            <a:xfrm>
              <a:off x="559118" y="942499"/>
              <a:ext cx="5772133"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Phân tích động lực nghiệp vụ và lý do sống còn của việc phân tán hóa hệ thống ngân hàng</a:t>
              </a:r>
            </a:p>
          </p:txBody>
        </p:sp>
      </p:grpSp>
      <p:grpSp>
        <p:nvGrpSpPr>
          <p:cNvPr id="20" name="Group 20"/>
          <p:cNvGrpSpPr/>
          <p:nvPr/>
        </p:nvGrpSpPr>
        <p:grpSpPr>
          <a:xfrm>
            <a:off x="571500" y="1257300"/>
            <a:ext cx="5238750" cy="361950"/>
            <a:chOff x="571500" y="1257300"/>
            <a:chExt cx="5238750" cy="361950"/>
          </a:xfrm>
        </p:grpSpPr>
        <p:sp>
          <p:nvSpPr>
            <p:cNvPr id="13" name="Rectangle 13"/>
            <p:cNvSpPr/>
            <p:nvPr/>
          </p:nvSpPr>
          <p:spPr>
            <a:xfrm>
              <a:off x="571500" y="1257300"/>
              <a:ext cx="5238750" cy="361950"/>
            </a:xfrm>
            <a:prstGeom prst="roundRect">
              <a:avLst>
                <a:gd name="adj" fmla="val 21053"/>
              </a:avLst>
            </a:prstGeom>
            <a:solidFill>
              <a:srgbClr val="1E293B"/>
            </a:solidFill>
            <a:ln w="14288">
              <a:solidFill>
                <a:srgbClr val="EF4444">
                  <a:alpha val="60000"/>
                </a:srgbClr>
              </a:solidFill>
            </a:ln>
          </p:spPr>
        </p:sp>
        <p:sp>
          <p:nvSpPr>
            <p:cNvPr id="14" name="Ellipse 14"/>
            <p:cNvSpPr/>
            <p:nvPr/>
          </p:nvSpPr>
          <p:spPr>
            <a:xfrm>
              <a:off x="714375" y="1343025"/>
              <a:ext cx="190500" cy="190500"/>
            </a:xfrm>
            <a:prstGeom prst="ellipse">
              <a:avLst/>
            </a:prstGeom>
            <a:solidFill>
              <a:srgbClr val="7F1D1D"/>
            </a:solidFill>
            <a:ln>
              <a:noFill/>
            </a:ln>
          </p:spPr>
        </p:sp>
        <p:grpSp>
          <p:nvGrpSpPr>
            <p:cNvPr id="17" name="Group 17"/>
            <p:cNvGrpSpPr/>
            <p:nvPr/>
          </p:nvGrpSpPr>
          <p:grpSpPr>
            <a:xfrm>
              <a:off x="771525" y="1400175"/>
              <a:ext cx="76200" cy="76200"/>
              <a:chOff x="771525" y="1400175"/>
              <a:chExt cx="76200" cy="76200"/>
            </a:xfrm>
          </p:grpSpPr>
          <p:sp>
            <p:nvSpPr>
              <p:cNvPr id="15" name="Freeform 15"/>
              <p:cNvSpPr/>
              <p:nvPr/>
            </p:nvSpPr>
            <p:spPr>
              <a:xfrm>
                <a:off x="771525" y="1400175"/>
                <a:ext cx="76200" cy="76200"/>
              </a:xfrm>
              <a:custGeom>
                <a:avLst/>
                <a:gdLst/>
                <a:ahLst/>
                <a:cxnLst/>
                <a:rect l="l" t="t" r="r" b="b"/>
                <a:pathLst>
                  <a:path w="76200" h="76200">
                    <a:moveTo>
                      <a:pt x="76200" y="0"/>
                    </a:moveTo>
                    <a:lnTo>
                      <a:pt x="0" y="76200"/>
                    </a:lnTo>
                  </a:path>
                </a:pathLst>
              </a:custGeom>
              <a:noFill/>
              <a:ln w="19050">
                <a:solidFill>
                  <a:srgbClr val="EF4444"/>
                </a:solidFill>
              </a:ln>
            </p:spPr>
          </p:sp>
          <p:sp>
            <p:nvSpPr>
              <p:cNvPr id="16" name="Freeform 16"/>
              <p:cNvSpPr/>
              <p:nvPr/>
            </p:nvSpPr>
            <p:spPr>
              <a:xfrm>
                <a:off x="771525" y="1400175"/>
                <a:ext cx="76200" cy="76200"/>
              </a:xfrm>
              <a:custGeom>
                <a:avLst/>
                <a:gdLst/>
                <a:ahLst/>
                <a:cxnLst/>
                <a:rect l="l" t="t" r="r" b="b"/>
                <a:pathLst>
                  <a:path w="76200" h="76200">
                    <a:moveTo>
                      <a:pt x="0" y="0"/>
                    </a:moveTo>
                    <a:lnTo>
                      <a:pt x="76200" y="76200"/>
                    </a:lnTo>
                  </a:path>
                </a:pathLst>
              </a:custGeom>
              <a:noFill/>
              <a:ln w="19050">
                <a:solidFill>
                  <a:srgbClr val="EF4444"/>
                </a:solidFill>
              </a:ln>
            </p:spPr>
          </p:sp>
        </p:grpSp>
        <p:sp>
          <p:nvSpPr>
            <p:cNvPr id="18" name="TextBox 18"/>
            <p:cNvSpPr txBox="1"/>
            <p:nvPr/>
          </p:nvSpPr>
          <p:spPr>
            <a:xfrm>
              <a:off x="1015365" y="1372552"/>
              <a:ext cx="2981739" cy="213360"/>
            </a:xfrm>
            <a:prstGeom prst="rect">
              <a:avLst/>
            </a:prstGeom>
            <a:noFill/>
            <a:ln>
              <a:noFill/>
            </a:ln>
          </p:spPr>
          <p:txBody>
            <a:bodyPr wrap="none" lIns="0" tIns="0" rIns="0" bIns="0" anchor="t" anchorCtr="0">
              <a:spAutoFit/>
            </a:bodyPr>
            <a:lstStyle/>
            <a:p>
              <a:pPr algn="l"/>
              <a:r>
                <a:rPr lang="zh-CN" sz="1050" b="1" dirty="0">
                  <a:solidFill>
                    <a:srgbClr val="F87171"/>
                  </a:solidFill>
                  <a:latin typeface="Segoe UI"/>
                  <a:ea typeface="Microsoft YaHei"/>
                  <a:cs typeface="Segoe UI"/>
                </a:rPr>
                <a:t>HỆ THỐNG HIỆN TẠI (MONOLITHIC TẬP TRUNG)</a:t>
              </a:r>
            </a:p>
          </p:txBody>
        </p:sp>
        <p:sp>
          <p:nvSpPr>
            <p:cNvPr id="19" name="TextBox 19"/>
            <p:cNvSpPr txBox="1"/>
            <p:nvPr/>
          </p:nvSpPr>
          <p:spPr>
            <a:xfrm>
              <a:off x="4587592" y="1388745"/>
              <a:ext cx="1043588"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Segoe UI"/>
                  <a:ea typeface="Microsoft YaHei"/>
                  <a:cs typeface="Segoe UI"/>
                </a:rPr>
                <a:t>Rủi ro &amp; Nút thắt</a:t>
              </a:r>
            </a:p>
          </p:txBody>
        </p:sp>
      </p:grpSp>
      <p:grpSp>
        <p:nvGrpSpPr>
          <p:cNvPr id="26" name="Group 26"/>
          <p:cNvGrpSpPr/>
          <p:nvPr/>
        </p:nvGrpSpPr>
        <p:grpSpPr>
          <a:xfrm>
            <a:off x="6381750" y="1257300"/>
            <a:ext cx="5238750" cy="361950"/>
            <a:chOff x="6381750" y="1257300"/>
            <a:chExt cx="5238750" cy="361950"/>
          </a:xfrm>
        </p:grpSpPr>
        <p:sp>
          <p:nvSpPr>
            <p:cNvPr id="21" name="Rectangle 21"/>
            <p:cNvSpPr/>
            <p:nvPr/>
          </p:nvSpPr>
          <p:spPr>
            <a:xfrm>
              <a:off x="6381750" y="1257300"/>
              <a:ext cx="5238750" cy="361950"/>
            </a:xfrm>
            <a:prstGeom prst="roundRect">
              <a:avLst>
                <a:gd name="adj" fmla="val 21053"/>
              </a:avLst>
            </a:prstGeom>
            <a:solidFill>
              <a:srgbClr val="1E293B"/>
            </a:solidFill>
            <a:ln w="14288">
              <a:solidFill>
                <a:srgbClr val="06B6D4">
                  <a:alpha val="60000"/>
                </a:srgbClr>
              </a:solidFill>
            </a:ln>
          </p:spPr>
        </p:sp>
        <p:sp>
          <p:nvSpPr>
            <p:cNvPr id="22" name="Ellipse 22"/>
            <p:cNvSpPr/>
            <p:nvPr/>
          </p:nvSpPr>
          <p:spPr>
            <a:xfrm>
              <a:off x="6524625" y="1343025"/>
              <a:ext cx="190500" cy="190500"/>
            </a:xfrm>
            <a:prstGeom prst="ellipse">
              <a:avLst/>
            </a:prstGeom>
            <a:solidFill>
              <a:srgbClr val="164E63"/>
            </a:solidFill>
            <a:ln>
              <a:noFill/>
            </a:ln>
          </p:spPr>
        </p:sp>
        <p:sp>
          <p:nvSpPr>
            <p:cNvPr id="23" name="Freeform 23"/>
            <p:cNvSpPr/>
            <p:nvPr/>
          </p:nvSpPr>
          <p:spPr>
            <a:xfrm>
              <a:off x="6575425" y="1406525"/>
              <a:ext cx="95250" cy="63500"/>
            </a:xfrm>
            <a:custGeom>
              <a:avLst/>
              <a:gdLst/>
              <a:ahLst/>
              <a:cxnLst/>
              <a:rect l="l" t="t" r="r" b="b"/>
              <a:pathLst>
                <a:path w="95250" h="63500">
                  <a:moveTo>
                    <a:pt x="0" y="31750"/>
                  </a:moveTo>
                  <a:lnTo>
                    <a:pt x="31750" y="63500"/>
                  </a:lnTo>
                  <a:lnTo>
                    <a:pt x="95250" y="0"/>
                  </a:lnTo>
                </a:path>
              </a:pathLst>
            </a:custGeom>
            <a:noFill/>
            <a:ln w="19050">
              <a:solidFill>
                <a:srgbClr val="06B6D4"/>
              </a:solidFill>
            </a:ln>
          </p:spPr>
        </p:sp>
        <p:sp>
          <p:nvSpPr>
            <p:cNvPr id="24" name="TextBox 24"/>
            <p:cNvSpPr txBox="1"/>
            <p:nvPr/>
          </p:nvSpPr>
          <p:spPr>
            <a:xfrm>
              <a:off x="6825615" y="1372552"/>
              <a:ext cx="3452198" cy="213360"/>
            </a:xfrm>
            <a:prstGeom prst="rect">
              <a:avLst/>
            </a:prstGeom>
            <a:noFill/>
            <a:ln>
              <a:noFill/>
            </a:ln>
          </p:spPr>
          <p:txBody>
            <a:bodyPr wrap="none" lIns="0" tIns="0" rIns="0" bIns="0" anchor="t" anchorCtr="0">
              <a:spAutoFit/>
            </a:bodyPr>
            <a:lstStyle/>
            <a:p>
              <a:pPr algn="l"/>
              <a:r>
                <a:rPr lang="zh-CN" sz="1050" b="1" dirty="0">
                  <a:solidFill>
                    <a:srgbClr val="22D3EE"/>
                  </a:solidFill>
                  <a:latin typeface="Segoe UI"/>
                  <a:ea typeface="Microsoft YaHei"/>
                  <a:cs typeface="Segoe UI"/>
                </a:rPr>
                <a:t>MÔ HÌNH MỤC TIÊU (MICROSERVICES ARCHITECTURE)</a:t>
              </a:r>
            </a:p>
          </p:txBody>
        </p:sp>
        <p:sp>
          <p:nvSpPr>
            <p:cNvPr id="25" name="TextBox 25"/>
            <p:cNvSpPr txBox="1"/>
            <p:nvPr/>
          </p:nvSpPr>
          <p:spPr>
            <a:xfrm>
              <a:off x="10504956" y="1388745"/>
              <a:ext cx="936474"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Segoe UI"/>
                  <a:ea typeface="Microsoft YaHei"/>
                  <a:cs typeface="Segoe UI"/>
                </a:rPr>
                <a:t>Lợi ích đột phá</a:t>
              </a:r>
            </a:p>
          </p:txBody>
        </p:sp>
      </p:grpSp>
      <p:grpSp>
        <p:nvGrpSpPr>
          <p:cNvPr id="30" name="Group 30"/>
          <p:cNvGrpSpPr/>
          <p:nvPr/>
        </p:nvGrpSpPr>
        <p:grpSpPr>
          <a:xfrm>
            <a:off x="5905500" y="1714500"/>
            <a:ext cx="381000" cy="3619500"/>
            <a:chOff x="5905500" y="1714500"/>
            <a:chExt cx="381000" cy="3619500"/>
          </a:xfrm>
        </p:grpSpPr>
        <p:sp>
          <p:nvSpPr>
            <p:cNvPr id="27" name="Line 27"/>
            <p:cNvSpPr/>
            <p:nvPr/>
          </p:nvSpPr>
          <p:spPr>
            <a:xfrm>
              <a:off x="6096000" y="1714500"/>
              <a:ext cx="9525" cy="3619500"/>
            </a:xfrm>
            <a:custGeom>
              <a:avLst/>
              <a:gdLst/>
              <a:ahLst/>
              <a:cxnLst/>
              <a:rect l="l" t="t" r="r" b="b"/>
              <a:pathLst>
                <a:path w="9525" h="3619500">
                  <a:moveTo>
                    <a:pt x="0" y="0"/>
                  </a:moveTo>
                  <a:lnTo>
                    <a:pt x="0" y="3619500"/>
                  </a:lnTo>
                </a:path>
              </a:pathLst>
            </a:custGeom>
            <a:noFill/>
            <a:ln w="19050">
              <a:solidFill>
                <a:srgbClr val="334155"/>
              </a:solidFill>
              <a:custDash>
                <a:ds d="300000" sp="300000"/>
              </a:custDash>
            </a:ln>
          </p:spPr>
        </p:sp>
        <p:sp>
          <p:nvSpPr>
            <p:cNvPr id="28" name="Ellipse 28"/>
            <p:cNvSpPr/>
            <p:nvPr/>
          </p:nvSpPr>
          <p:spPr>
            <a:xfrm>
              <a:off x="5905500" y="3333750"/>
              <a:ext cx="381000" cy="381000"/>
            </a:xfrm>
            <a:prstGeom prst="ellipse">
              <a:avLst/>
            </a:prstGeom>
            <a:solidFill>
              <a:srgbClr val="0F172A"/>
            </a:solidFill>
            <a:ln w="14288">
              <a:solidFill>
                <a:srgbClr val="06B6D4"/>
              </a:solidFill>
            </a:ln>
          </p:spPr>
        </p:sp>
        <p:sp>
          <p:nvSpPr>
            <p:cNvPr id="29" name="TextBox 29"/>
            <p:cNvSpPr txBox="1"/>
            <p:nvPr/>
          </p:nvSpPr>
          <p:spPr>
            <a:xfrm>
              <a:off x="6015261" y="3474720"/>
              <a:ext cx="161477" cy="182880"/>
            </a:xfrm>
            <a:prstGeom prst="rect">
              <a:avLst/>
            </a:prstGeom>
            <a:noFill/>
            <a:ln>
              <a:noFill/>
            </a:ln>
          </p:spPr>
          <p:txBody>
            <a:bodyPr wrap="none" lIns="0" tIns="0" rIns="0" bIns="0" anchor="t" anchorCtr="0">
              <a:spAutoFit/>
            </a:bodyPr>
            <a:lstStyle/>
            <a:p>
              <a:pPr algn="ctr"/>
              <a:r>
                <a:rPr lang="zh-CN" sz="900" b="1" dirty="0">
                  <a:solidFill>
                    <a:srgbClr val="06B6D4"/>
                  </a:solidFill>
                  <a:latin typeface="Arial"/>
                  <a:ea typeface="Microsoft YaHei"/>
                  <a:cs typeface="Arial"/>
                </a:rPr>
                <a:t>VS</a:t>
              </a:r>
            </a:p>
          </p:txBody>
        </p:sp>
      </p:grpSp>
      <p:grpSp>
        <p:nvGrpSpPr>
          <p:cNvPr id="42" name="Group 42"/>
          <p:cNvGrpSpPr/>
          <p:nvPr/>
        </p:nvGrpSpPr>
        <p:grpSpPr>
          <a:xfrm>
            <a:off x="571500" y="1714500"/>
            <a:ext cx="5238750" cy="1162050"/>
            <a:chOff x="571500" y="1714500"/>
            <a:chExt cx="5238750" cy="1162050"/>
          </a:xfrm>
          <a:effectLst>
            <a:outerShdw blurRad="95250" dist="28575" dir="5400000" algn="ctr" rotWithShape="0">
              <a:srgbClr val="000000">
                <a:alpha val="26250"/>
              </a:srgbClr>
            </a:outerShdw>
          </a:effectLst>
        </p:grpSpPr>
        <p:sp>
          <p:nvSpPr>
            <p:cNvPr id="31" name="Rectangle 31"/>
            <p:cNvSpPr/>
            <p:nvPr/>
          </p:nvSpPr>
          <p:spPr>
            <a:xfrm>
              <a:off x="571500" y="17145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32" name="Line 32"/>
            <p:cNvSpPr/>
            <p:nvPr/>
          </p:nvSpPr>
          <p:spPr>
            <a:xfrm>
              <a:off x="647700" y="1857375"/>
              <a:ext cx="9525" cy="876300"/>
            </a:xfrm>
            <a:custGeom>
              <a:avLst/>
              <a:gdLst/>
              <a:ahLst/>
              <a:cxnLst/>
              <a:rect l="l" t="t" r="r" b="b"/>
              <a:pathLst>
                <a:path w="9525" h="876300">
                  <a:moveTo>
                    <a:pt x="0" y="0"/>
                  </a:moveTo>
                  <a:lnTo>
                    <a:pt x="0" y="876300"/>
                  </a:lnTo>
                </a:path>
              </a:pathLst>
            </a:custGeom>
            <a:noFill/>
            <a:ln w="47625" cap="rnd">
              <a:solidFill>
                <a:srgbClr val="EF4444"/>
              </a:solidFill>
            </a:ln>
          </p:spPr>
        </p:sp>
        <p:sp>
          <p:nvSpPr>
            <p:cNvPr id="33" name="Ellipse 33"/>
            <p:cNvSpPr/>
            <p:nvPr/>
          </p:nvSpPr>
          <p:spPr>
            <a:xfrm>
              <a:off x="800100" y="1943100"/>
              <a:ext cx="342900" cy="342900"/>
            </a:xfrm>
            <a:prstGeom prst="ellipse">
              <a:avLst/>
            </a:prstGeom>
            <a:solidFill>
              <a:srgbClr val="0F172A"/>
            </a:solidFill>
            <a:ln w="9525">
              <a:solidFill>
                <a:srgbClr val="EF4444"/>
              </a:solidFill>
            </a:ln>
            <a:effectLst>
              <a:outerShdw blurRad="95250" dist="28575" dir="5400000" algn="ctr" rotWithShape="0">
                <a:srgbClr val="000000">
                  <a:alpha val="26250"/>
                </a:srgbClr>
              </a:outerShdw>
            </a:effectLst>
          </p:spPr>
        </p:sp>
        <p:grpSp>
          <p:nvGrpSpPr>
            <p:cNvPr id="37" name="Group 37"/>
            <p:cNvGrpSpPr/>
            <p:nvPr/>
          </p:nvGrpSpPr>
          <p:grpSpPr>
            <a:xfrm>
              <a:off x="908050" y="2043112"/>
              <a:ext cx="127000" cy="142876"/>
              <a:chOff x="908050" y="2043112"/>
              <a:chExt cx="127000" cy="142876"/>
            </a:xfrm>
          </p:grpSpPr>
          <p:sp>
            <p:nvSpPr>
              <p:cNvPr id="34" name="Freeform 34"/>
              <p:cNvSpPr/>
              <p:nvPr/>
            </p:nvSpPr>
            <p:spPr>
              <a:xfrm>
                <a:off x="908050" y="2043112"/>
                <a:ext cx="127000" cy="47625"/>
              </a:xfrm>
              <a:custGeom>
                <a:avLst/>
                <a:gdLst/>
                <a:ahLst/>
                <a:cxnLst/>
                <a:rect l="l" t="t" r="r" b="b"/>
                <a:pathLst>
                  <a:path w="127000" h="47625">
                    <a:moveTo>
                      <a:pt x="0" y="23812"/>
                    </a:moveTo>
                    <a:cubicBezTo>
                      <a:pt x="0" y="36964"/>
                      <a:pt x="28430" y="47625"/>
                      <a:pt x="63500" y="47625"/>
                    </a:cubicBezTo>
                    <a:cubicBezTo>
                      <a:pt x="98570" y="47625"/>
                      <a:pt x="127000" y="36964"/>
                      <a:pt x="127000" y="23812"/>
                    </a:cubicBezTo>
                    <a:cubicBezTo>
                      <a:pt x="127000" y="10661"/>
                      <a:pt x="98570" y="0"/>
                      <a:pt x="63500" y="0"/>
                    </a:cubicBezTo>
                    <a:cubicBezTo>
                      <a:pt x="28430" y="0"/>
                      <a:pt x="0" y="10661"/>
                      <a:pt x="0" y="23812"/>
                    </a:cubicBezTo>
                  </a:path>
                </a:pathLst>
              </a:custGeom>
              <a:noFill/>
              <a:ln w="19050">
                <a:solidFill>
                  <a:srgbClr val="EF4444"/>
                </a:solidFill>
              </a:ln>
              <a:effectLst>
                <a:outerShdw blurRad="95250" dist="28575" dir="5400000" algn="ctr" rotWithShape="0">
                  <a:srgbClr val="000000">
                    <a:alpha val="26250"/>
                  </a:srgbClr>
                </a:outerShdw>
              </a:effectLst>
            </p:spPr>
          </p:sp>
          <p:sp>
            <p:nvSpPr>
              <p:cNvPr id="35" name="Freeform 35"/>
              <p:cNvSpPr/>
              <p:nvPr/>
            </p:nvSpPr>
            <p:spPr>
              <a:xfrm>
                <a:off x="908050" y="2066925"/>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EF4444"/>
                </a:solidFill>
              </a:ln>
              <a:effectLst>
                <a:outerShdw blurRad="95250" dist="28575" dir="5400000" algn="ctr" rotWithShape="0">
                  <a:srgbClr val="000000">
                    <a:alpha val="26250"/>
                  </a:srgbClr>
                </a:outerShdw>
              </a:effectLst>
            </p:spPr>
          </p:sp>
          <p:sp>
            <p:nvSpPr>
              <p:cNvPr id="36" name="Freeform 36"/>
              <p:cNvSpPr/>
              <p:nvPr/>
            </p:nvSpPr>
            <p:spPr>
              <a:xfrm>
                <a:off x="908050" y="2114550"/>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EF4444"/>
                </a:solidFill>
              </a:ln>
              <a:effectLst>
                <a:outerShdw blurRad="95250" dist="28575" dir="5400000" algn="ctr" rotWithShape="0">
                  <a:srgbClr val="000000">
                    <a:alpha val="26250"/>
                  </a:srgbClr>
                </a:outerShdw>
              </a:effectLst>
            </p:spPr>
          </p:sp>
        </p:grpSp>
        <p:sp>
          <p:nvSpPr>
            <p:cNvPr id="38" name="TextBox 38"/>
            <p:cNvSpPr txBox="1"/>
            <p:nvPr/>
          </p:nvSpPr>
          <p:spPr>
            <a:xfrm>
              <a:off x="1271588" y="1926431"/>
              <a:ext cx="3683032"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Cơ Sở Dữ Liệu Tập Trung (Single Point of Failure)</a:t>
              </a:r>
            </a:p>
          </p:txBody>
        </p:sp>
        <p:sp>
          <p:nvSpPr>
            <p:cNvPr id="39" name="TextBox 39"/>
            <p:cNvSpPr txBox="1"/>
            <p:nvPr/>
          </p:nvSpPr>
          <p:spPr>
            <a:xfrm>
              <a:off x="1273492" y="2180749"/>
              <a:ext cx="3489698"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Mọi nghiệp vụ cùng truy vấn chung 1 Database duy nhất.</a:t>
              </a:r>
            </a:p>
          </p:txBody>
        </p:sp>
        <p:sp>
          <p:nvSpPr>
            <p:cNvPr id="40" name="TextBox 40"/>
            <p:cNvSpPr txBox="1"/>
            <p:nvPr/>
          </p:nvSpPr>
          <p:spPr>
            <a:xfrm>
              <a:off x="1273492" y="2371249"/>
              <a:ext cx="3717226"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Rủi ro khóa bảng (table lock), nghẽn I/O khi giao dịch tăng</a:t>
              </a:r>
            </a:p>
          </p:txBody>
        </p:sp>
        <p:sp>
          <p:nvSpPr>
            <p:cNvPr id="41" name="TextBox 41"/>
            <p:cNvSpPr txBox="1"/>
            <p:nvPr/>
          </p:nvSpPr>
          <p:spPr>
            <a:xfrm>
              <a:off x="1273492" y="2561749"/>
              <a:ext cx="3678222"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vọt vào giờ cao điểm, ảnh hưởng tê liệt toàn bộ ngân hàng.</a:t>
              </a:r>
            </a:p>
          </p:txBody>
        </p:sp>
      </p:grpSp>
      <p:grpSp>
        <p:nvGrpSpPr>
          <p:cNvPr id="54" name="Group 54"/>
          <p:cNvGrpSpPr/>
          <p:nvPr/>
        </p:nvGrpSpPr>
        <p:grpSpPr>
          <a:xfrm>
            <a:off x="571500" y="2971800"/>
            <a:ext cx="5238750" cy="1162050"/>
            <a:chOff x="571500" y="2971800"/>
            <a:chExt cx="5238750" cy="1162050"/>
          </a:xfrm>
          <a:effectLst>
            <a:outerShdw blurRad="95250" dist="28575" dir="5400000" algn="ctr" rotWithShape="0">
              <a:srgbClr val="000000">
                <a:alpha val="26250"/>
              </a:srgbClr>
            </a:outerShdw>
          </a:effectLst>
        </p:grpSpPr>
        <p:sp>
          <p:nvSpPr>
            <p:cNvPr id="43" name="Rectangle 43"/>
            <p:cNvSpPr/>
            <p:nvPr/>
          </p:nvSpPr>
          <p:spPr>
            <a:xfrm>
              <a:off x="571500" y="29718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44" name="Line 44"/>
            <p:cNvSpPr/>
            <p:nvPr/>
          </p:nvSpPr>
          <p:spPr>
            <a:xfrm>
              <a:off x="647700" y="3114675"/>
              <a:ext cx="9525" cy="876300"/>
            </a:xfrm>
            <a:custGeom>
              <a:avLst/>
              <a:gdLst/>
              <a:ahLst/>
              <a:cxnLst/>
              <a:rect l="l" t="t" r="r" b="b"/>
              <a:pathLst>
                <a:path w="9525" h="876300">
                  <a:moveTo>
                    <a:pt x="0" y="0"/>
                  </a:moveTo>
                  <a:lnTo>
                    <a:pt x="0" y="876300"/>
                  </a:lnTo>
                </a:path>
              </a:pathLst>
            </a:custGeom>
            <a:noFill/>
            <a:ln w="47625" cap="rnd">
              <a:solidFill>
                <a:srgbClr val="EF4444"/>
              </a:solidFill>
            </a:ln>
          </p:spPr>
        </p:sp>
        <p:sp>
          <p:nvSpPr>
            <p:cNvPr id="45" name="Ellipse 45"/>
            <p:cNvSpPr/>
            <p:nvPr/>
          </p:nvSpPr>
          <p:spPr>
            <a:xfrm>
              <a:off x="800100" y="3200400"/>
              <a:ext cx="342900" cy="342900"/>
            </a:xfrm>
            <a:prstGeom prst="ellipse">
              <a:avLst/>
            </a:prstGeom>
            <a:solidFill>
              <a:srgbClr val="0F172A"/>
            </a:solidFill>
            <a:ln w="9525">
              <a:solidFill>
                <a:srgbClr val="EF4444"/>
              </a:solidFill>
            </a:ln>
            <a:effectLst>
              <a:outerShdw blurRad="95250" dist="28575" dir="5400000" algn="ctr" rotWithShape="0">
                <a:srgbClr val="000000">
                  <a:alpha val="26250"/>
                </a:srgbClr>
              </a:outerShdw>
            </a:effectLst>
          </p:spPr>
        </p:sp>
        <p:grpSp>
          <p:nvGrpSpPr>
            <p:cNvPr id="49" name="Group 49"/>
            <p:cNvGrpSpPr/>
            <p:nvPr/>
          </p:nvGrpSpPr>
          <p:grpSpPr>
            <a:xfrm>
              <a:off x="891499" y="3297776"/>
              <a:ext cx="160095" cy="137543"/>
              <a:chOff x="891499" y="3297776"/>
              <a:chExt cx="160095" cy="137543"/>
            </a:xfrm>
          </p:grpSpPr>
          <p:sp>
            <p:nvSpPr>
              <p:cNvPr id="46" name="Freeform 46"/>
              <p:cNvSpPr/>
              <p:nvPr/>
            </p:nvSpPr>
            <p:spPr>
              <a:xfrm>
                <a:off x="971550" y="3348038"/>
                <a:ext cx="9525" cy="31750"/>
              </a:xfrm>
              <a:custGeom>
                <a:avLst/>
                <a:gdLst/>
                <a:ahLst/>
                <a:cxnLst/>
                <a:rect l="l" t="t" r="r" b="b"/>
                <a:pathLst>
                  <a:path w="9525" h="31750">
                    <a:moveTo>
                      <a:pt x="0" y="0"/>
                    </a:moveTo>
                    <a:lnTo>
                      <a:pt x="0" y="31750"/>
                    </a:lnTo>
                  </a:path>
                </a:pathLst>
              </a:custGeom>
              <a:noFill/>
              <a:ln w="19050">
                <a:solidFill>
                  <a:srgbClr val="EF4444"/>
                </a:solidFill>
              </a:ln>
              <a:effectLst>
                <a:outerShdw blurRad="95250" dist="28575" dir="5400000" algn="ctr" rotWithShape="0">
                  <a:srgbClr val="000000">
                    <a:alpha val="26250"/>
                  </a:srgbClr>
                </a:outerShdw>
              </a:effectLst>
            </p:spPr>
          </p:sp>
          <p:sp>
            <p:nvSpPr>
              <p:cNvPr id="47" name="Freeform 47"/>
              <p:cNvSpPr/>
              <p:nvPr/>
            </p:nvSpPr>
            <p:spPr>
              <a:xfrm>
                <a:off x="891499" y="3297776"/>
                <a:ext cx="160095" cy="137543"/>
              </a:xfrm>
              <a:custGeom>
                <a:avLst/>
                <a:gdLst/>
                <a:ahLst/>
                <a:cxnLst/>
                <a:rect l="l" t="t" r="r" b="b"/>
                <a:pathLst>
                  <a:path w="160095" h="137543">
                    <a:moveTo>
                      <a:pt x="67057" y="7328"/>
                    </a:moveTo>
                    <a:lnTo>
                      <a:pt x="2716" y="114754"/>
                    </a:lnTo>
                    <a:cubicBezTo>
                      <a:pt x="16" y="119428"/>
                      <a:pt x="0" y="125184"/>
                      <a:pt x="2672" y="129873"/>
                    </a:cubicBezTo>
                    <a:cubicBezTo>
                      <a:pt x="5344" y="134563"/>
                      <a:pt x="10304" y="137482"/>
                      <a:pt x="15701" y="137543"/>
                    </a:cubicBezTo>
                    <a:lnTo>
                      <a:pt x="144400" y="137543"/>
                    </a:lnTo>
                    <a:cubicBezTo>
                      <a:pt x="149795" y="137481"/>
                      <a:pt x="154752"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9050">
                <a:solidFill>
                  <a:srgbClr val="EF4444"/>
                </a:solidFill>
              </a:ln>
              <a:effectLst>
                <a:outerShdw blurRad="95250" dist="28575" dir="5400000" algn="ctr" rotWithShape="0">
                  <a:srgbClr val="000000">
                    <a:alpha val="26250"/>
                  </a:srgbClr>
                </a:outerShdw>
              </a:effectLst>
            </p:spPr>
          </p:sp>
          <p:sp>
            <p:nvSpPr>
              <p:cNvPr id="48" name="Freeform 48"/>
              <p:cNvSpPr/>
              <p:nvPr/>
            </p:nvSpPr>
            <p:spPr>
              <a:xfrm>
                <a:off x="971550" y="3403600"/>
                <a:ext cx="9525" cy="9525"/>
              </a:xfrm>
              <a:custGeom>
                <a:avLst/>
                <a:gdLst/>
                <a:ahLst/>
                <a:cxnLst/>
                <a:rect l="l" t="t" r="r" b="b"/>
                <a:pathLst>
                  <a:path w="9525" h="9525">
                    <a:moveTo>
                      <a:pt x="0" y="0"/>
                    </a:moveTo>
                    <a:lnTo>
                      <a:pt x="79" y="0"/>
                    </a:lnTo>
                  </a:path>
                </a:pathLst>
              </a:custGeom>
              <a:noFill/>
              <a:ln w="19050">
                <a:solidFill>
                  <a:srgbClr val="EF4444"/>
                </a:solidFill>
              </a:ln>
              <a:effectLst>
                <a:outerShdw blurRad="95250" dist="28575" dir="5400000" algn="ctr" rotWithShape="0">
                  <a:srgbClr val="000000">
                    <a:alpha val="26250"/>
                  </a:srgbClr>
                </a:outerShdw>
              </a:effectLst>
            </p:spPr>
          </p:sp>
        </p:grpSp>
        <p:sp>
          <p:nvSpPr>
            <p:cNvPr id="50" name="TextBox 50"/>
            <p:cNvSpPr txBox="1"/>
            <p:nvPr/>
          </p:nvSpPr>
          <p:spPr>
            <a:xfrm>
              <a:off x="1271588" y="3183731"/>
              <a:ext cx="2856053"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Lan Truyền Sự Cố (Cascading Outage)</a:t>
              </a:r>
            </a:p>
          </p:txBody>
        </p:sp>
        <p:sp>
          <p:nvSpPr>
            <p:cNvPr id="51" name="TextBox 51"/>
            <p:cNvSpPr txBox="1"/>
            <p:nvPr/>
          </p:nvSpPr>
          <p:spPr>
            <a:xfrm>
              <a:off x="1273492" y="3438049"/>
              <a:ext cx="3275171"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Một lỗi bộ nhớ hoặc vòng lặp vô tận ở module báo cáo</a:t>
              </a:r>
            </a:p>
          </p:txBody>
        </p:sp>
        <p:sp>
          <p:nvSpPr>
            <p:cNvPr id="52" name="TextBox 52"/>
            <p:cNvSpPr txBox="1"/>
            <p:nvPr/>
          </p:nvSpPr>
          <p:spPr>
            <a:xfrm>
              <a:off x="1273492" y="3628549"/>
              <a:ext cx="3483197"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có thể làm cạn kiệt tài nguyên JVM, kéo theo chức năng</a:t>
              </a:r>
            </a:p>
          </p:txBody>
        </p:sp>
        <p:sp>
          <p:nvSpPr>
            <p:cNvPr id="53" name="TextBox 53"/>
            <p:cNvSpPr txBox="1"/>
            <p:nvPr/>
          </p:nvSpPr>
          <p:spPr>
            <a:xfrm>
              <a:off x="1273492" y="3819049"/>
              <a:ext cx="3502700"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chuyển khoản cốt lõi và tra cứu số dư bị sập hoàn toàn.</a:t>
              </a:r>
            </a:p>
          </p:txBody>
        </p:sp>
      </p:grpSp>
      <p:grpSp>
        <p:nvGrpSpPr>
          <p:cNvPr id="73" name="Group 73"/>
          <p:cNvGrpSpPr/>
          <p:nvPr/>
        </p:nvGrpSpPr>
        <p:grpSpPr>
          <a:xfrm>
            <a:off x="571500" y="4229100"/>
            <a:ext cx="5238750" cy="1162050"/>
            <a:chOff x="571500" y="4229100"/>
            <a:chExt cx="5238750" cy="1162050"/>
          </a:xfrm>
          <a:effectLst>
            <a:outerShdw blurRad="95250" dist="28575" dir="5400000" algn="ctr" rotWithShape="0">
              <a:srgbClr val="000000">
                <a:alpha val="26250"/>
              </a:srgbClr>
            </a:outerShdw>
          </a:effectLst>
        </p:grpSpPr>
        <p:sp>
          <p:nvSpPr>
            <p:cNvPr id="55" name="Rectangle 55"/>
            <p:cNvSpPr/>
            <p:nvPr/>
          </p:nvSpPr>
          <p:spPr>
            <a:xfrm>
              <a:off x="571500" y="42291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56" name="Line 56"/>
            <p:cNvSpPr/>
            <p:nvPr/>
          </p:nvSpPr>
          <p:spPr>
            <a:xfrm>
              <a:off x="647700" y="4371975"/>
              <a:ext cx="9525" cy="876300"/>
            </a:xfrm>
            <a:custGeom>
              <a:avLst/>
              <a:gdLst/>
              <a:ahLst/>
              <a:cxnLst/>
              <a:rect l="l" t="t" r="r" b="b"/>
              <a:pathLst>
                <a:path w="9525" h="876300">
                  <a:moveTo>
                    <a:pt x="0" y="0"/>
                  </a:moveTo>
                  <a:lnTo>
                    <a:pt x="0" y="876300"/>
                  </a:lnTo>
                </a:path>
              </a:pathLst>
            </a:custGeom>
            <a:noFill/>
            <a:ln w="47625" cap="rnd">
              <a:solidFill>
                <a:srgbClr val="EF4444"/>
              </a:solidFill>
            </a:ln>
          </p:spPr>
        </p:sp>
        <p:sp>
          <p:nvSpPr>
            <p:cNvPr id="57" name="Ellipse 57"/>
            <p:cNvSpPr/>
            <p:nvPr/>
          </p:nvSpPr>
          <p:spPr>
            <a:xfrm>
              <a:off x="800100" y="4457700"/>
              <a:ext cx="342900" cy="342900"/>
            </a:xfrm>
            <a:prstGeom prst="ellipse">
              <a:avLst/>
            </a:prstGeom>
            <a:solidFill>
              <a:srgbClr val="0F172A"/>
            </a:solidFill>
            <a:ln w="9525">
              <a:solidFill>
                <a:srgbClr val="EF4444"/>
              </a:solidFill>
            </a:ln>
            <a:effectLst>
              <a:outerShdw blurRad="95250" dist="28575" dir="5400000" algn="ctr" rotWithShape="0">
                <a:srgbClr val="000000">
                  <a:alpha val="26250"/>
                </a:srgbClr>
              </a:outerShdw>
            </a:effectLst>
          </p:spPr>
        </p:sp>
        <p:grpSp>
          <p:nvGrpSpPr>
            <p:cNvPr id="68" name="Group 68"/>
            <p:cNvGrpSpPr/>
            <p:nvPr/>
          </p:nvGrpSpPr>
          <p:grpSpPr>
            <a:xfrm>
              <a:off x="900112" y="4557712"/>
              <a:ext cx="142875" cy="142875"/>
              <a:chOff x="900112" y="4557712"/>
              <a:chExt cx="142875" cy="142875"/>
            </a:xfrm>
          </p:grpSpPr>
          <p:sp>
            <p:nvSpPr>
              <p:cNvPr id="58" name="Freeform 58"/>
              <p:cNvSpPr/>
              <p:nvPr/>
            </p:nvSpPr>
            <p:spPr>
              <a:xfrm>
                <a:off x="915988" y="4573588"/>
                <a:ext cx="111125" cy="111125"/>
              </a:xfrm>
              <a:custGeom>
                <a:avLst/>
                <a:gdLst/>
                <a:ahLst/>
                <a:cxnLst/>
                <a:rect l="l" t="t" r="r" b="b"/>
                <a:pathLst>
                  <a:path w="111125" h="111125">
                    <a:moveTo>
                      <a:pt x="0" y="7937"/>
                    </a:moveTo>
                    <a:cubicBezTo>
                      <a:pt x="0" y="3554"/>
                      <a:pt x="3554" y="0"/>
                      <a:pt x="7937" y="0"/>
                    </a:cubicBezTo>
                    <a:lnTo>
                      <a:pt x="103187" y="0"/>
                    </a:lnTo>
                    <a:cubicBezTo>
                      <a:pt x="107571" y="0"/>
                      <a:pt x="111125" y="3554"/>
                      <a:pt x="111125" y="7937"/>
                    </a:cubicBezTo>
                    <a:lnTo>
                      <a:pt x="111125" y="103187"/>
                    </a:lnTo>
                    <a:cubicBezTo>
                      <a:pt x="111125" y="107571"/>
                      <a:pt x="107571" y="111125"/>
                      <a:pt x="103187" y="111125"/>
                    </a:cubicBezTo>
                    <a:lnTo>
                      <a:pt x="7937" y="111125"/>
                    </a:lnTo>
                    <a:cubicBezTo>
                      <a:pt x="3554" y="111125"/>
                      <a:pt x="0" y="107571"/>
                      <a:pt x="0" y="103187"/>
                    </a:cubicBezTo>
                    <a:lnTo>
                      <a:pt x="0" y="7937"/>
                    </a:lnTo>
                  </a:path>
                </a:pathLst>
              </a:custGeom>
              <a:noFill/>
              <a:ln w="19050">
                <a:solidFill>
                  <a:srgbClr val="EF4444"/>
                </a:solidFill>
              </a:ln>
              <a:effectLst>
                <a:outerShdw blurRad="95250" dist="28575" dir="5400000" algn="ctr" rotWithShape="0">
                  <a:srgbClr val="000000">
                    <a:alpha val="26250"/>
                  </a:srgbClr>
                </a:outerShdw>
              </a:effectLst>
            </p:spPr>
          </p:sp>
          <p:sp>
            <p:nvSpPr>
              <p:cNvPr id="59" name="Freeform 59"/>
              <p:cNvSpPr/>
              <p:nvPr/>
            </p:nvSpPr>
            <p:spPr>
              <a:xfrm>
                <a:off x="947738" y="4605338"/>
                <a:ext cx="47625" cy="47625"/>
              </a:xfrm>
              <a:custGeom>
                <a:avLst/>
                <a:gdLst/>
                <a:ahLst/>
                <a:cxnLst/>
                <a:rect l="l" t="t" r="r" b="b"/>
                <a:pathLst>
                  <a:path w="47625" h="47625">
                    <a:moveTo>
                      <a:pt x="0" y="0"/>
                    </a:moveTo>
                    <a:lnTo>
                      <a:pt x="47625" y="0"/>
                    </a:lnTo>
                    <a:lnTo>
                      <a:pt x="47625" y="47625"/>
                    </a:lnTo>
                    <a:lnTo>
                      <a:pt x="0" y="47625"/>
                    </a:lnTo>
                    <a:lnTo>
                      <a:pt x="0" y="0"/>
                    </a:lnTo>
                  </a:path>
                </a:pathLst>
              </a:custGeom>
              <a:noFill/>
              <a:ln w="19050">
                <a:solidFill>
                  <a:srgbClr val="EF4444"/>
                </a:solidFill>
              </a:ln>
              <a:effectLst>
                <a:outerShdw blurRad="95250" dist="28575" dir="5400000" algn="ctr" rotWithShape="0">
                  <a:srgbClr val="000000">
                    <a:alpha val="26250"/>
                  </a:srgbClr>
                </a:outerShdw>
              </a:effectLst>
            </p:spPr>
          </p:sp>
          <p:sp>
            <p:nvSpPr>
              <p:cNvPr id="60" name="Freeform 60"/>
              <p:cNvSpPr/>
              <p:nvPr/>
            </p:nvSpPr>
            <p:spPr>
              <a:xfrm>
                <a:off x="900112" y="4613275"/>
                <a:ext cx="15875" cy="9525"/>
              </a:xfrm>
              <a:custGeom>
                <a:avLst/>
                <a:gdLst/>
                <a:ahLst/>
                <a:cxnLst/>
                <a:rect l="l" t="t" r="r" b="b"/>
                <a:pathLst>
                  <a:path w="15875" h="9525">
                    <a:moveTo>
                      <a:pt x="0" y="0"/>
                    </a:moveTo>
                    <a:lnTo>
                      <a:pt x="15875" y="0"/>
                    </a:lnTo>
                  </a:path>
                </a:pathLst>
              </a:custGeom>
              <a:noFill/>
              <a:ln w="19050">
                <a:solidFill>
                  <a:srgbClr val="EF4444"/>
                </a:solidFill>
              </a:ln>
              <a:effectLst>
                <a:outerShdw blurRad="95250" dist="28575" dir="5400000" algn="ctr" rotWithShape="0">
                  <a:srgbClr val="000000">
                    <a:alpha val="26250"/>
                  </a:srgbClr>
                </a:outerShdw>
              </a:effectLst>
            </p:spPr>
          </p:sp>
          <p:sp>
            <p:nvSpPr>
              <p:cNvPr id="61" name="Freeform 61"/>
              <p:cNvSpPr/>
              <p:nvPr/>
            </p:nvSpPr>
            <p:spPr>
              <a:xfrm>
                <a:off x="900112" y="4645025"/>
                <a:ext cx="15875" cy="9525"/>
              </a:xfrm>
              <a:custGeom>
                <a:avLst/>
                <a:gdLst/>
                <a:ahLst/>
                <a:cxnLst/>
                <a:rect l="l" t="t" r="r" b="b"/>
                <a:pathLst>
                  <a:path w="15875" h="9525">
                    <a:moveTo>
                      <a:pt x="0" y="0"/>
                    </a:moveTo>
                    <a:lnTo>
                      <a:pt x="15875" y="0"/>
                    </a:lnTo>
                  </a:path>
                </a:pathLst>
              </a:custGeom>
              <a:noFill/>
              <a:ln w="19050">
                <a:solidFill>
                  <a:srgbClr val="EF4444"/>
                </a:solidFill>
              </a:ln>
              <a:effectLst>
                <a:outerShdw blurRad="95250" dist="28575" dir="5400000" algn="ctr" rotWithShape="0">
                  <a:srgbClr val="000000">
                    <a:alpha val="26250"/>
                  </a:srgbClr>
                </a:outerShdw>
              </a:effectLst>
            </p:spPr>
          </p:sp>
          <p:sp>
            <p:nvSpPr>
              <p:cNvPr id="62" name="Freeform 62"/>
              <p:cNvSpPr/>
              <p:nvPr/>
            </p:nvSpPr>
            <p:spPr>
              <a:xfrm>
                <a:off x="955675" y="4557712"/>
                <a:ext cx="9525" cy="15875"/>
              </a:xfrm>
              <a:custGeom>
                <a:avLst/>
                <a:gdLst/>
                <a:ahLst/>
                <a:cxnLst/>
                <a:rect l="l" t="t" r="r" b="b"/>
                <a:pathLst>
                  <a:path w="9525" h="15875">
                    <a:moveTo>
                      <a:pt x="0" y="0"/>
                    </a:moveTo>
                    <a:lnTo>
                      <a:pt x="0" y="15875"/>
                    </a:lnTo>
                  </a:path>
                </a:pathLst>
              </a:custGeom>
              <a:noFill/>
              <a:ln w="19050">
                <a:solidFill>
                  <a:srgbClr val="EF4444"/>
                </a:solidFill>
              </a:ln>
              <a:effectLst>
                <a:outerShdw blurRad="95250" dist="28575" dir="5400000" algn="ctr" rotWithShape="0">
                  <a:srgbClr val="000000">
                    <a:alpha val="26250"/>
                  </a:srgbClr>
                </a:outerShdw>
              </a:effectLst>
            </p:spPr>
          </p:sp>
          <p:sp>
            <p:nvSpPr>
              <p:cNvPr id="63" name="Freeform 63"/>
              <p:cNvSpPr/>
              <p:nvPr/>
            </p:nvSpPr>
            <p:spPr>
              <a:xfrm>
                <a:off x="987425" y="4557712"/>
                <a:ext cx="9525" cy="15875"/>
              </a:xfrm>
              <a:custGeom>
                <a:avLst/>
                <a:gdLst/>
                <a:ahLst/>
                <a:cxnLst/>
                <a:rect l="l" t="t" r="r" b="b"/>
                <a:pathLst>
                  <a:path w="9525" h="15875">
                    <a:moveTo>
                      <a:pt x="0" y="0"/>
                    </a:moveTo>
                    <a:lnTo>
                      <a:pt x="0" y="15875"/>
                    </a:lnTo>
                  </a:path>
                </a:pathLst>
              </a:custGeom>
              <a:noFill/>
              <a:ln w="19050">
                <a:solidFill>
                  <a:srgbClr val="EF4444"/>
                </a:solidFill>
              </a:ln>
              <a:effectLst>
                <a:outerShdw blurRad="95250" dist="28575" dir="5400000" algn="ctr" rotWithShape="0">
                  <a:srgbClr val="000000">
                    <a:alpha val="26250"/>
                  </a:srgbClr>
                </a:outerShdw>
              </a:effectLst>
            </p:spPr>
          </p:sp>
          <p:sp>
            <p:nvSpPr>
              <p:cNvPr id="64" name="Freeform 64"/>
              <p:cNvSpPr/>
              <p:nvPr/>
            </p:nvSpPr>
            <p:spPr>
              <a:xfrm>
                <a:off x="1027112" y="4613275"/>
                <a:ext cx="15875" cy="9525"/>
              </a:xfrm>
              <a:custGeom>
                <a:avLst/>
                <a:gdLst/>
                <a:ahLst/>
                <a:cxnLst/>
                <a:rect l="l" t="t" r="r" b="b"/>
                <a:pathLst>
                  <a:path w="15875" h="9525">
                    <a:moveTo>
                      <a:pt x="15875" y="0"/>
                    </a:moveTo>
                    <a:lnTo>
                      <a:pt x="0" y="0"/>
                    </a:lnTo>
                  </a:path>
                </a:pathLst>
              </a:custGeom>
              <a:noFill/>
              <a:ln w="19050">
                <a:solidFill>
                  <a:srgbClr val="EF4444"/>
                </a:solidFill>
              </a:ln>
              <a:effectLst>
                <a:outerShdw blurRad="95250" dist="28575" dir="5400000" algn="ctr" rotWithShape="0">
                  <a:srgbClr val="000000">
                    <a:alpha val="26250"/>
                  </a:srgbClr>
                </a:outerShdw>
              </a:effectLst>
            </p:spPr>
          </p:sp>
          <p:sp>
            <p:nvSpPr>
              <p:cNvPr id="65" name="Freeform 65"/>
              <p:cNvSpPr/>
              <p:nvPr/>
            </p:nvSpPr>
            <p:spPr>
              <a:xfrm>
                <a:off x="1027112" y="4645025"/>
                <a:ext cx="15875" cy="9525"/>
              </a:xfrm>
              <a:custGeom>
                <a:avLst/>
                <a:gdLst/>
                <a:ahLst/>
                <a:cxnLst/>
                <a:rect l="l" t="t" r="r" b="b"/>
                <a:pathLst>
                  <a:path w="15875" h="9525">
                    <a:moveTo>
                      <a:pt x="15875" y="0"/>
                    </a:moveTo>
                    <a:lnTo>
                      <a:pt x="0" y="0"/>
                    </a:lnTo>
                  </a:path>
                </a:pathLst>
              </a:custGeom>
              <a:noFill/>
              <a:ln w="19050">
                <a:solidFill>
                  <a:srgbClr val="EF4444"/>
                </a:solidFill>
              </a:ln>
              <a:effectLst>
                <a:outerShdw blurRad="95250" dist="28575" dir="5400000" algn="ctr" rotWithShape="0">
                  <a:srgbClr val="000000">
                    <a:alpha val="26250"/>
                  </a:srgbClr>
                </a:outerShdw>
              </a:effectLst>
            </p:spPr>
          </p:sp>
          <p:sp>
            <p:nvSpPr>
              <p:cNvPr id="66" name="Freeform 66"/>
              <p:cNvSpPr/>
              <p:nvPr/>
            </p:nvSpPr>
            <p:spPr>
              <a:xfrm>
                <a:off x="987425" y="4684712"/>
                <a:ext cx="9525" cy="15875"/>
              </a:xfrm>
              <a:custGeom>
                <a:avLst/>
                <a:gdLst/>
                <a:ahLst/>
                <a:cxnLst/>
                <a:rect l="l" t="t" r="r" b="b"/>
                <a:pathLst>
                  <a:path w="9525" h="15875">
                    <a:moveTo>
                      <a:pt x="0" y="15875"/>
                    </a:moveTo>
                    <a:lnTo>
                      <a:pt x="0" y="0"/>
                    </a:lnTo>
                  </a:path>
                </a:pathLst>
              </a:custGeom>
              <a:noFill/>
              <a:ln w="19050">
                <a:solidFill>
                  <a:srgbClr val="EF4444"/>
                </a:solidFill>
              </a:ln>
              <a:effectLst>
                <a:outerShdw blurRad="95250" dist="28575" dir="5400000" algn="ctr" rotWithShape="0">
                  <a:srgbClr val="000000">
                    <a:alpha val="26250"/>
                  </a:srgbClr>
                </a:outerShdw>
              </a:effectLst>
            </p:spPr>
          </p:sp>
          <p:sp>
            <p:nvSpPr>
              <p:cNvPr id="67" name="Freeform 67"/>
              <p:cNvSpPr/>
              <p:nvPr/>
            </p:nvSpPr>
            <p:spPr>
              <a:xfrm>
                <a:off x="955675" y="4684712"/>
                <a:ext cx="9525" cy="15875"/>
              </a:xfrm>
              <a:custGeom>
                <a:avLst/>
                <a:gdLst/>
                <a:ahLst/>
                <a:cxnLst/>
                <a:rect l="l" t="t" r="r" b="b"/>
                <a:pathLst>
                  <a:path w="9525" h="15875">
                    <a:moveTo>
                      <a:pt x="0" y="15875"/>
                    </a:moveTo>
                    <a:lnTo>
                      <a:pt x="0" y="0"/>
                    </a:lnTo>
                  </a:path>
                </a:pathLst>
              </a:custGeom>
              <a:noFill/>
              <a:ln w="19050">
                <a:solidFill>
                  <a:srgbClr val="EF4444"/>
                </a:solidFill>
              </a:ln>
              <a:effectLst>
                <a:outerShdw blurRad="95250" dist="28575" dir="5400000" algn="ctr" rotWithShape="0">
                  <a:srgbClr val="000000">
                    <a:alpha val="26250"/>
                  </a:srgbClr>
                </a:outerShdw>
              </a:effectLst>
            </p:spPr>
          </p:sp>
        </p:grpSp>
        <p:sp>
          <p:nvSpPr>
            <p:cNvPr id="69" name="TextBox 69"/>
            <p:cNvSpPr txBox="1"/>
            <p:nvPr/>
          </p:nvSpPr>
          <p:spPr>
            <a:xfrm>
              <a:off x="1271588" y="4441031"/>
              <a:ext cx="3037201"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Khó Mở Rộng Linh Hoạt &amp; Chậm Triển Khai</a:t>
              </a:r>
            </a:p>
          </p:txBody>
        </p:sp>
        <p:sp>
          <p:nvSpPr>
            <p:cNvPr id="70" name="TextBox 70"/>
            <p:cNvSpPr txBox="1"/>
            <p:nvPr/>
          </p:nvSpPr>
          <p:spPr>
            <a:xfrm>
              <a:off x="1273492" y="4695349"/>
              <a:ext cx="360671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Bắt buộc phải nhân bản toàn bộ monolith khi chỉ cần scale</a:t>
              </a:r>
            </a:p>
          </p:txBody>
        </p:sp>
        <p:sp>
          <p:nvSpPr>
            <p:cNvPr id="71" name="TextBox 71"/>
            <p:cNvSpPr txBox="1"/>
            <p:nvPr/>
          </p:nvSpPr>
          <p:spPr>
            <a:xfrm>
              <a:off x="1273492" y="4885849"/>
              <a:ext cx="3535204"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chức năng giao dịch chuyển khoản. Triển khai bản vá nhỏ</a:t>
              </a:r>
            </a:p>
          </p:txBody>
        </p:sp>
        <p:sp>
          <p:nvSpPr>
            <p:cNvPr id="72" name="TextBox 72"/>
            <p:cNvSpPr txBox="1"/>
            <p:nvPr/>
          </p:nvSpPr>
          <p:spPr>
            <a:xfrm>
              <a:off x="1273492" y="5076349"/>
              <a:ext cx="3444192"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cũng đòi hỏi build lại toàn bộ hệ thống và dừng dịch vụ.</a:t>
              </a:r>
            </a:p>
          </p:txBody>
        </p:sp>
      </p:grpSp>
      <p:grpSp>
        <p:nvGrpSpPr>
          <p:cNvPr id="85" name="Group 85"/>
          <p:cNvGrpSpPr/>
          <p:nvPr/>
        </p:nvGrpSpPr>
        <p:grpSpPr>
          <a:xfrm>
            <a:off x="6381750" y="1714500"/>
            <a:ext cx="5238750" cy="1162050"/>
            <a:chOff x="6381750" y="1714500"/>
            <a:chExt cx="5238750" cy="1162050"/>
          </a:xfrm>
          <a:effectLst>
            <a:outerShdw blurRad="95250" dist="28575" dir="5400000" algn="ctr" rotWithShape="0">
              <a:srgbClr val="000000">
                <a:alpha val="26250"/>
              </a:srgbClr>
            </a:outerShdw>
          </a:effectLst>
        </p:grpSpPr>
        <p:sp>
          <p:nvSpPr>
            <p:cNvPr id="74" name="Rectangle 74"/>
            <p:cNvSpPr/>
            <p:nvPr/>
          </p:nvSpPr>
          <p:spPr>
            <a:xfrm>
              <a:off x="6381750" y="17145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75" name="Line 75"/>
            <p:cNvSpPr/>
            <p:nvPr/>
          </p:nvSpPr>
          <p:spPr>
            <a:xfrm>
              <a:off x="11544300" y="1857375"/>
              <a:ext cx="9525" cy="876300"/>
            </a:xfrm>
            <a:custGeom>
              <a:avLst/>
              <a:gdLst/>
              <a:ahLst/>
              <a:cxnLst/>
              <a:rect l="l" t="t" r="r" b="b"/>
              <a:pathLst>
                <a:path w="9525" h="876300">
                  <a:moveTo>
                    <a:pt x="0" y="0"/>
                  </a:moveTo>
                  <a:lnTo>
                    <a:pt x="0" y="876300"/>
                  </a:lnTo>
                </a:path>
              </a:pathLst>
            </a:custGeom>
            <a:noFill/>
            <a:ln w="47625" cap="rnd">
              <a:solidFill>
                <a:srgbClr val="06B6D4"/>
              </a:solidFill>
            </a:ln>
          </p:spPr>
        </p:sp>
        <p:sp>
          <p:nvSpPr>
            <p:cNvPr id="76" name="Ellipse 76"/>
            <p:cNvSpPr/>
            <p:nvPr/>
          </p:nvSpPr>
          <p:spPr>
            <a:xfrm>
              <a:off x="6610350" y="1943100"/>
              <a:ext cx="342900" cy="342900"/>
            </a:xfrm>
            <a:prstGeom prst="ellipse">
              <a:avLst/>
            </a:prstGeom>
            <a:solidFill>
              <a:srgbClr val="0F172A"/>
            </a:solidFill>
            <a:ln w="9525">
              <a:solidFill>
                <a:srgbClr val="06B6D4"/>
              </a:solidFill>
            </a:ln>
            <a:effectLst>
              <a:outerShdw blurRad="95250" dist="28575" dir="5400000" algn="ctr" rotWithShape="0">
                <a:srgbClr val="000000">
                  <a:alpha val="26250"/>
                </a:srgbClr>
              </a:outerShdw>
            </a:effectLst>
          </p:spPr>
        </p:sp>
        <p:grpSp>
          <p:nvGrpSpPr>
            <p:cNvPr id="80" name="Group 80"/>
            <p:cNvGrpSpPr/>
            <p:nvPr/>
          </p:nvGrpSpPr>
          <p:grpSpPr>
            <a:xfrm>
              <a:off x="6718300" y="2043112"/>
              <a:ext cx="127000" cy="142876"/>
              <a:chOff x="6718300" y="2043112"/>
              <a:chExt cx="127000" cy="142876"/>
            </a:xfrm>
          </p:grpSpPr>
          <p:sp>
            <p:nvSpPr>
              <p:cNvPr id="77" name="Freeform 77"/>
              <p:cNvSpPr/>
              <p:nvPr/>
            </p:nvSpPr>
            <p:spPr>
              <a:xfrm>
                <a:off x="6718300" y="2043112"/>
                <a:ext cx="127000" cy="47625"/>
              </a:xfrm>
              <a:custGeom>
                <a:avLst/>
                <a:gdLst/>
                <a:ahLst/>
                <a:cxnLst/>
                <a:rect l="l" t="t" r="r" b="b"/>
                <a:pathLst>
                  <a:path w="127000" h="47625">
                    <a:moveTo>
                      <a:pt x="0" y="23812"/>
                    </a:moveTo>
                    <a:cubicBezTo>
                      <a:pt x="0" y="36964"/>
                      <a:pt x="28430" y="47625"/>
                      <a:pt x="63500" y="47625"/>
                    </a:cubicBezTo>
                    <a:cubicBezTo>
                      <a:pt x="98570" y="47625"/>
                      <a:pt x="127000" y="36964"/>
                      <a:pt x="127000" y="23812"/>
                    </a:cubicBezTo>
                    <a:cubicBezTo>
                      <a:pt x="127000" y="10661"/>
                      <a:pt x="98570" y="0"/>
                      <a:pt x="63500" y="0"/>
                    </a:cubicBezTo>
                    <a:cubicBezTo>
                      <a:pt x="28430" y="0"/>
                      <a:pt x="0" y="10661"/>
                      <a:pt x="0" y="23812"/>
                    </a:cubicBezTo>
                  </a:path>
                </a:pathLst>
              </a:custGeom>
              <a:noFill/>
              <a:ln w="19050">
                <a:solidFill>
                  <a:srgbClr val="06B6D4"/>
                </a:solidFill>
              </a:ln>
              <a:effectLst>
                <a:outerShdw blurRad="95250" dist="28575" dir="5400000" algn="ctr" rotWithShape="0">
                  <a:srgbClr val="000000">
                    <a:alpha val="26250"/>
                  </a:srgbClr>
                </a:outerShdw>
              </a:effectLst>
            </p:spPr>
          </p:sp>
          <p:sp>
            <p:nvSpPr>
              <p:cNvPr id="78" name="Freeform 78"/>
              <p:cNvSpPr/>
              <p:nvPr/>
            </p:nvSpPr>
            <p:spPr>
              <a:xfrm>
                <a:off x="6718300" y="2066925"/>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06B6D4"/>
                </a:solidFill>
              </a:ln>
              <a:effectLst>
                <a:outerShdw blurRad="95250" dist="28575" dir="5400000" algn="ctr" rotWithShape="0">
                  <a:srgbClr val="000000">
                    <a:alpha val="26250"/>
                  </a:srgbClr>
                </a:outerShdw>
              </a:effectLst>
            </p:spPr>
          </p:sp>
          <p:sp>
            <p:nvSpPr>
              <p:cNvPr id="79" name="Freeform 79"/>
              <p:cNvSpPr/>
              <p:nvPr/>
            </p:nvSpPr>
            <p:spPr>
              <a:xfrm>
                <a:off x="6718300" y="2114550"/>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06B6D4"/>
                </a:solidFill>
              </a:ln>
              <a:effectLst>
                <a:outerShdw blurRad="95250" dist="28575" dir="5400000" algn="ctr" rotWithShape="0">
                  <a:srgbClr val="000000">
                    <a:alpha val="26250"/>
                  </a:srgbClr>
                </a:outerShdw>
              </a:effectLst>
            </p:spPr>
          </p:sp>
        </p:grpSp>
        <p:sp>
          <p:nvSpPr>
            <p:cNvPr id="81" name="TextBox 81"/>
            <p:cNvSpPr txBox="1"/>
            <p:nvPr/>
          </p:nvSpPr>
          <p:spPr>
            <a:xfrm>
              <a:off x="7081838" y="1926431"/>
              <a:ext cx="3643652"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Mô Hình Database-Per-Service Cô Lập Tuyệt Đối</a:t>
              </a:r>
            </a:p>
          </p:txBody>
        </p:sp>
        <p:sp>
          <p:nvSpPr>
            <p:cNvPr id="82" name="TextBox 82"/>
            <p:cNvSpPr txBox="1"/>
            <p:nvPr/>
          </p:nvSpPr>
          <p:spPr>
            <a:xfrm>
              <a:off x="7083742" y="2180749"/>
              <a:ext cx="3782235"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Mỗi microservice (Account, Customer, Transaction) sở hữu</a:t>
              </a:r>
            </a:p>
          </p:txBody>
        </p:sp>
        <p:sp>
          <p:nvSpPr>
            <p:cNvPr id="83" name="TextBox 83"/>
            <p:cNvSpPr txBox="1"/>
            <p:nvPr/>
          </p:nvSpPr>
          <p:spPr>
            <a:xfrm>
              <a:off x="7083742" y="2371249"/>
              <a:ext cx="3756231"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database riêng biệt, tuyệt đối không truy cập chéo dữ liệu;</a:t>
              </a:r>
            </a:p>
          </p:txBody>
        </p:sp>
        <p:sp>
          <p:nvSpPr>
            <p:cNvPr id="84" name="TextBox 84"/>
            <p:cNvSpPr txBox="1"/>
            <p:nvPr/>
          </p:nvSpPr>
          <p:spPr>
            <a:xfrm>
              <a:off x="7083742" y="2561749"/>
              <a:ext cx="3645718"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bảo toàn tính trọn vẹn và tối ưu cấu trúc theo nghiệp vụ.</a:t>
              </a:r>
            </a:p>
          </p:txBody>
        </p:sp>
      </p:grpSp>
      <p:grpSp>
        <p:nvGrpSpPr>
          <p:cNvPr id="96" name="Group 96"/>
          <p:cNvGrpSpPr/>
          <p:nvPr/>
        </p:nvGrpSpPr>
        <p:grpSpPr>
          <a:xfrm>
            <a:off x="6381750" y="2971800"/>
            <a:ext cx="5238750" cy="1162050"/>
            <a:chOff x="6381750" y="2971800"/>
            <a:chExt cx="5238750" cy="1162050"/>
          </a:xfrm>
          <a:effectLst>
            <a:outerShdw blurRad="95250" dist="28575" dir="5400000" algn="ctr" rotWithShape="0">
              <a:srgbClr val="000000">
                <a:alpha val="26250"/>
              </a:srgbClr>
            </a:outerShdw>
          </a:effectLst>
        </p:grpSpPr>
        <p:sp>
          <p:nvSpPr>
            <p:cNvPr id="86" name="Rectangle 86"/>
            <p:cNvSpPr/>
            <p:nvPr/>
          </p:nvSpPr>
          <p:spPr>
            <a:xfrm>
              <a:off x="6381750" y="29718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87" name="Line 87"/>
            <p:cNvSpPr/>
            <p:nvPr/>
          </p:nvSpPr>
          <p:spPr>
            <a:xfrm>
              <a:off x="11544300" y="3114675"/>
              <a:ext cx="9525" cy="876300"/>
            </a:xfrm>
            <a:custGeom>
              <a:avLst/>
              <a:gdLst/>
              <a:ahLst/>
              <a:cxnLst/>
              <a:rect l="l" t="t" r="r" b="b"/>
              <a:pathLst>
                <a:path w="9525" h="876300">
                  <a:moveTo>
                    <a:pt x="0" y="0"/>
                  </a:moveTo>
                  <a:lnTo>
                    <a:pt x="0" y="876300"/>
                  </a:lnTo>
                </a:path>
              </a:pathLst>
            </a:custGeom>
            <a:noFill/>
            <a:ln w="47625" cap="rnd">
              <a:solidFill>
                <a:srgbClr val="06B6D4"/>
              </a:solidFill>
            </a:ln>
          </p:spPr>
        </p:sp>
        <p:sp>
          <p:nvSpPr>
            <p:cNvPr id="88" name="Ellipse 88"/>
            <p:cNvSpPr/>
            <p:nvPr/>
          </p:nvSpPr>
          <p:spPr>
            <a:xfrm>
              <a:off x="6610350" y="3200400"/>
              <a:ext cx="342900" cy="342900"/>
            </a:xfrm>
            <a:prstGeom prst="ellipse">
              <a:avLst/>
            </a:prstGeom>
            <a:solidFill>
              <a:srgbClr val="0F172A"/>
            </a:solidFill>
            <a:ln w="9525">
              <a:solidFill>
                <a:srgbClr val="06B6D4"/>
              </a:solidFill>
            </a:ln>
            <a:effectLst>
              <a:outerShdw blurRad="95250" dist="28575" dir="5400000" algn="ctr" rotWithShape="0">
                <a:srgbClr val="000000">
                  <a:alpha val="26250"/>
                </a:srgbClr>
              </a:outerShdw>
            </a:effectLst>
          </p:spPr>
        </p:sp>
        <p:grpSp>
          <p:nvGrpSpPr>
            <p:cNvPr id="91" name="Group 91"/>
            <p:cNvGrpSpPr/>
            <p:nvPr/>
          </p:nvGrpSpPr>
          <p:grpSpPr>
            <a:xfrm>
              <a:off x="6699650" y="3300412"/>
              <a:ext cx="155005" cy="142876"/>
              <a:chOff x="6699650" y="3300412"/>
              <a:chExt cx="155005" cy="142876"/>
            </a:xfrm>
          </p:grpSpPr>
          <p:sp>
            <p:nvSpPr>
              <p:cNvPr id="89" name="Freeform 89"/>
              <p:cNvSpPr/>
              <p:nvPr/>
            </p:nvSpPr>
            <p:spPr>
              <a:xfrm>
                <a:off x="6699650" y="330041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9050">
                <a:solidFill>
                  <a:srgbClr val="06B6D4"/>
                </a:solidFill>
              </a:ln>
              <a:effectLst>
                <a:outerShdw blurRad="95250" dist="28575" dir="5400000" algn="ctr" rotWithShape="0">
                  <a:srgbClr val="000000">
                    <a:alpha val="26250"/>
                  </a:srgbClr>
                </a:outerShdw>
              </a:effectLst>
            </p:spPr>
          </p:sp>
          <p:sp>
            <p:nvSpPr>
              <p:cNvPr id="90" name="Freeform 90"/>
              <p:cNvSpPr/>
              <p:nvPr/>
            </p:nvSpPr>
            <p:spPr>
              <a:xfrm>
                <a:off x="6805612" y="3411538"/>
                <a:ext cx="47625" cy="31750"/>
              </a:xfrm>
              <a:custGeom>
                <a:avLst/>
                <a:gdLst/>
                <a:ahLst/>
                <a:cxnLst/>
                <a:rect l="l" t="t" r="r" b="b"/>
                <a:pathLst>
                  <a:path w="47625" h="31750">
                    <a:moveTo>
                      <a:pt x="0" y="15875"/>
                    </a:moveTo>
                    <a:lnTo>
                      <a:pt x="15875" y="31750"/>
                    </a:lnTo>
                    <a:lnTo>
                      <a:pt x="47625" y="0"/>
                    </a:lnTo>
                  </a:path>
                </a:pathLst>
              </a:custGeom>
              <a:noFill/>
              <a:ln w="19050">
                <a:solidFill>
                  <a:srgbClr val="06B6D4"/>
                </a:solidFill>
              </a:ln>
              <a:effectLst>
                <a:outerShdw blurRad="95250" dist="28575" dir="5400000" algn="ctr" rotWithShape="0">
                  <a:srgbClr val="000000">
                    <a:alpha val="26250"/>
                  </a:srgbClr>
                </a:outerShdw>
              </a:effectLst>
            </p:spPr>
          </p:sp>
        </p:grpSp>
        <p:sp>
          <p:nvSpPr>
            <p:cNvPr id="92" name="TextBox 92"/>
            <p:cNvSpPr txBox="1"/>
            <p:nvPr/>
          </p:nvSpPr>
          <p:spPr>
            <a:xfrm>
              <a:off x="7081838" y="3183731"/>
              <a:ext cx="2706410"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Kháng Lỗi &amp; Chống Cascading Failure</a:t>
              </a:r>
            </a:p>
          </p:txBody>
        </p:sp>
        <p:sp>
          <p:nvSpPr>
            <p:cNvPr id="93" name="TextBox 93"/>
            <p:cNvSpPr txBox="1"/>
            <p:nvPr/>
          </p:nvSpPr>
          <p:spPr>
            <a:xfrm>
              <a:off x="7083742" y="3438049"/>
              <a:ext cx="3944755"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Tích hợp Resilience4j Circuit Breaker 3 trạng thái và Fallback.</a:t>
              </a:r>
            </a:p>
          </p:txBody>
        </p:sp>
        <p:sp>
          <p:nvSpPr>
            <p:cNvPr id="94" name="TextBox 94"/>
            <p:cNvSpPr txBox="1"/>
            <p:nvPr/>
          </p:nvSpPr>
          <p:spPr>
            <a:xfrm>
              <a:off x="7083742" y="3628549"/>
              <a:ext cx="3782235"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Khi service phụ gặp sự cố, mạch tự ngắt bảo vệ luồng chính,</a:t>
              </a:r>
            </a:p>
          </p:txBody>
        </p:sp>
        <p:sp>
          <p:nvSpPr>
            <p:cNvPr id="95" name="TextBox 95"/>
            <p:cNvSpPr txBox="1"/>
            <p:nvPr/>
          </p:nvSpPr>
          <p:spPr>
            <a:xfrm>
              <a:off x="7083742" y="3819049"/>
              <a:ext cx="3320677"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giữ hệ thống vận hành bền bỉ và không gây gián đoạn.</a:t>
              </a:r>
            </a:p>
          </p:txBody>
        </p:sp>
      </p:grpSp>
      <p:grpSp>
        <p:nvGrpSpPr>
          <p:cNvPr id="113" name="Group 113"/>
          <p:cNvGrpSpPr/>
          <p:nvPr/>
        </p:nvGrpSpPr>
        <p:grpSpPr>
          <a:xfrm>
            <a:off x="6381750" y="4229100"/>
            <a:ext cx="5238750" cy="1162050"/>
            <a:chOff x="6381750" y="4229100"/>
            <a:chExt cx="5238750" cy="1162050"/>
          </a:xfrm>
          <a:effectLst>
            <a:outerShdw blurRad="95250" dist="28575" dir="5400000" algn="ctr" rotWithShape="0">
              <a:srgbClr val="000000">
                <a:alpha val="26250"/>
              </a:srgbClr>
            </a:outerShdw>
          </a:effectLst>
        </p:grpSpPr>
        <p:sp>
          <p:nvSpPr>
            <p:cNvPr id="97" name="Rectangle 97"/>
            <p:cNvSpPr/>
            <p:nvPr/>
          </p:nvSpPr>
          <p:spPr>
            <a:xfrm>
              <a:off x="6381750" y="4229100"/>
              <a:ext cx="5238750" cy="1162050"/>
            </a:xfrm>
            <a:prstGeom prst="roundRect">
              <a:avLst>
                <a:gd name="adj" fmla="val 9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98" name="Line 98"/>
            <p:cNvSpPr/>
            <p:nvPr/>
          </p:nvSpPr>
          <p:spPr>
            <a:xfrm>
              <a:off x="11544300" y="4371975"/>
              <a:ext cx="9525" cy="876300"/>
            </a:xfrm>
            <a:custGeom>
              <a:avLst/>
              <a:gdLst/>
              <a:ahLst/>
              <a:cxnLst/>
              <a:rect l="l" t="t" r="r" b="b"/>
              <a:pathLst>
                <a:path w="9525" h="876300">
                  <a:moveTo>
                    <a:pt x="0" y="0"/>
                  </a:moveTo>
                  <a:lnTo>
                    <a:pt x="0" y="876300"/>
                  </a:lnTo>
                </a:path>
              </a:pathLst>
            </a:custGeom>
            <a:noFill/>
            <a:ln w="47625" cap="rnd">
              <a:solidFill>
                <a:srgbClr val="06B6D4"/>
              </a:solidFill>
            </a:ln>
          </p:spPr>
        </p:sp>
        <p:sp>
          <p:nvSpPr>
            <p:cNvPr id="99" name="Ellipse 99"/>
            <p:cNvSpPr/>
            <p:nvPr/>
          </p:nvSpPr>
          <p:spPr>
            <a:xfrm>
              <a:off x="6610350" y="4457700"/>
              <a:ext cx="342900" cy="342900"/>
            </a:xfrm>
            <a:prstGeom prst="ellipse">
              <a:avLst/>
            </a:prstGeom>
            <a:solidFill>
              <a:srgbClr val="0F172A"/>
            </a:solidFill>
            <a:ln w="9525">
              <a:solidFill>
                <a:srgbClr val="06B6D4"/>
              </a:solidFill>
            </a:ln>
            <a:effectLst>
              <a:outerShdw blurRad="95250" dist="28575" dir="5400000" algn="ctr" rotWithShape="0">
                <a:srgbClr val="000000">
                  <a:alpha val="26250"/>
                </a:srgbClr>
              </a:outerShdw>
            </a:effectLst>
          </p:spPr>
        </p:sp>
        <p:grpSp>
          <p:nvGrpSpPr>
            <p:cNvPr id="108" name="Group 108"/>
            <p:cNvGrpSpPr/>
            <p:nvPr/>
          </p:nvGrpSpPr>
          <p:grpSpPr>
            <a:xfrm>
              <a:off x="6710362" y="4557712"/>
              <a:ext cx="142876" cy="150813"/>
              <a:chOff x="6710362" y="4557712"/>
              <a:chExt cx="142876" cy="150813"/>
            </a:xfrm>
          </p:grpSpPr>
          <p:sp>
            <p:nvSpPr>
              <p:cNvPr id="100" name="Freeform 100"/>
              <p:cNvSpPr/>
              <p:nvPr/>
            </p:nvSpPr>
            <p:spPr>
              <a:xfrm>
                <a:off x="6734175" y="4557712"/>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06B6D4"/>
                </a:solidFill>
              </a:ln>
              <a:effectLst>
                <a:outerShdw blurRad="95250" dist="28575" dir="5400000" algn="ctr" rotWithShape="0">
                  <a:srgbClr val="000000">
                    <a:alpha val="26250"/>
                  </a:srgbClr>
                </a:outerShdw>
              </a:effectLst>
            </p:spPr>
          </p:sp>
          <p:sp>
            <p:nvSpPr>
              <p:cNvPr id="101" name="Freeform 101"/>
              <p:cNvSpPr/>
              <p:nvPr/>
            </p:nvSpPr>
            <p:spPr>
              <a:xfrm>
                <a:off x="6781800" y="4557712"/>
                <a:ext cx="15875" cy="95250"/>
              </a:xfrm>
              <a:custGeom>
                <a:avLst/>
                <a:gdLst/>
                <a:ahLst/>
                <a:cxnLst/>
                <a:rect l="l" t="t" r="r" b="b"/>
                <a:pathLst>
                  <a:path w="15875" h="95250">
                    <a:moveTo>
                      <a:pt x="0" y="0"/>
                    </a:moveTo>
                    <a:cubicBezTo>
                      <a:pt x="10581" y="2643"/>
                      <a:pt x="15875" y="18518"/>
                      <a:pt x="15875" y="47625"/>
                    </a:cubicBezTo>
                    <a:cubicBezTo>
                      <a:pt x="15875" y="76732"/>
                      <a:pt x="10581" y="92607"/>
                      <a:pt x="0" y="95250"/>
                    </a:cubicBezTo>
                  </a:path>
                </a:pathLst>
              </a:custGeom>
              <a:noFill/>
              <a:ln w="19050">
                <a:solidFill>
                  <a:srgbClr val="06B6D4"/>
                </a:solidFill>
              </a:ln>
              <a:effectLst>
                <a:outerShdw blurRad="95250" dist="28575" dir="5400000" algn="ctr" rotWithShape="0">
                  <a:srgbClr val="000000">
                    <a:alpha val="26250"/>
                  </a:srgbClr>
                </a:outerShdw>
              </a:effectLst>
            </p:spPr>
          </p:sp>
          <p:sp>
            <p:nvSpPr>
              <p:cNvPr id="102" name="Freeform 102"/>
              <p:cNvSpPr/>
              <p:nvPr/>
            </p:nvSpPr>
            <p:spPr>
              <a:xfrm>
                <a:off x="6765925" y="4557712"/>
                <a:ext cx="15875" cy="95250"/>
              </a:xfrm>
              <a:custGeom>
                <a:avLst/>
                <a:gdLst/>
                <a:ahLst/>
                <a:cxnLst/>
                <a:rect l="l" t="t" r="r" b="b"/>
                <a:pathLst>
                  <a:path w="15875" h="95250">
                    <a:moveTo>
                      <a:pt x="15875" y="0"/>
                    </a:moveTo>
                    <a:cubicBezTo>
                      <a:pt x="5294" y="2643"/>
                      <a:pt x="0" y="18518"/>
                      <a:pt x="0" y="47625"/>
                    </a:cubicBezTo>
                    <a:cubicBezTo>
                      <a:pt x="0" y="76732"/>
                      <a:pt x="5294" y="92607"/>
                      <a:pt x="15875" y="95250"/>
                    </a:cubicBezTo>
                  </a:path>
                </a:pathLst>
              </a:custGeom>
              <a:noFill/>
              <a:ln w="19050">
                <a:solidFill>
                  <a:srgbClr val="06B6D4"/>
                </a:solidFill>
              </a:ln>
              <a:effectLst>
                <a:outerShdw blurRad="95250" dist="28575" dir="5400000" algn="ctr" rotWithShape="0">
                  <a:srgbClr val="000000">
                    <a:alpha val="26250"/>
                  </a:srgbClr>
                </a:outerShdw>
              </a:effectLst>
            </p:spPr>
          </p:sp>
          <p:sp>
            <p:nvSpPr>
              <p:cNvPr id="103" name="Freeform 103"/>
              <p:cNvSpPr/>
              <p:nvPr/>
            </p:nvSpPr>
            <p:spPr>
              <a:xfrm>
                <a:off x="6734175" y="4605338"/>
                <a:ext cx="95250" cy="9525"/>
              </a:xfrm>
              <a:custGeom>
                <a:avLst/>
                <a:gdLst/>
                <a:ahLst/>
                <a:cxnLst/>
                <a:rect l="l" t="t" r="r" b="b"/>
                <a:pathLst>
                  <a:path w="95250" h="9525">
                    <a:moveTo>
                      <a:pt x="0" y="0"/>
                    </a:moveTo>
                    <a:lnTo>
                      <a:pt x="95250" y="0"/>
                    </a:lnTo>
                  </a:path>
                </a:pathLst>
              </a:custGeom>
              <a:noFill/>
              <a:ln w="19050">
                <a:solidFill>
                  <a:srgbClr val="06B6D4"/>
                </a:solidFill>
              </a:ln>
              <a:effectLst>
                <a:outerShdw blurRad="95250" dist="28575" dir="5400000" algn="ctr" rotWithShape="0">
                  <a:srgbClr val="000000">
                    <a:alpha val="26250"/>
                  </a:srgbClr>
                </a:outerShdw>
              </a:effectLst>
            </p:spPr>
          </p:sp>
          <p:sp>
            <p:nvSpPr>
              <p:cNvPr id="104" name="Freeform 104"/>
              <p:cNvSpPr/>
              <p:nvPr/>
            </p:nvSpPr>
            <p:spPr>
              <a:xfrm>
                <a:off x="6710362" y="4692650"/>
                <a:ext cx="55563" cy="9525"/>
              </a:xfrm>
              <a:custGeom>
                <a:avLst/>
                <a:gdLst/>
                <a:ahLst/>
                <a:cxnLst/>
                <a:rect l="l" t="t" r="r" b="b"/>
                <a:pathLst>
                  <a:path w="55563" h="9525">
                    <a:moveTo>
                      <a:pt x="0" y="0"/>
                    </a:moveTo>
                    <a:lnTo>
                      <a:pt x="55563" y="0"/>
                    </a:lnTo>
                  </a:path>
                </a:pathLst>
              </a:custGeom>
              <a:noFill/>
              <a:ln w="19050">
                <a:solidFill>
                  <a:srgbClr val="06B6D4"/>
                </a:solidFill>
              </a:ln>
              <a:effectLst>
                <a:outerShdw blurRad="95250" dist="28575" dir="5400000" algn="ctr" rotWithShape="0">
                  <a:srgbClr val="000000">
                    <a:alpha val="26250"/>
                  </a:srgbClr>
                </a:outerShdw>
              </a:effectLst>
            </p:spPr>
          </p:sp>
          <p:sp>
            <p:nvSpPr>
              <p:cNvPr id="105" name="Freeform 105"/>
              <p:cNvSpPr/>
              <p:nvPr/>
            </p:nvSpPr>
            <p:spPr>
              <a:xfrm>
                <a:off x="6797675" y="4692650"/>
                <a:ext cx="55563" cy="9525"/>
              </a:xfrm>
              <a:custGeom>
                <a:avLst/>
                <a:gdLst/>
                <a:ahLst/>
                <a:cxnLst/>
                <a:rect l="l" t="t" r="r" b="b"/>
                <a:pathLst>
                  <a:path w="55563" h="9525">
                    <a:moveTo>
                      <a:pt x="0" y="0"/>
                    </a:moveTo>
                    <a:lnTo>
                      <a:pt x="55563" y="0"/>
                    </a:lnTo>
                  </a:path>
                </a:pathLst>
              </a:custGeom>
              <a:noFill/>
              <a:ln w="19050">
                <a:solidFill>
                  <a:srgbClr val="06B6D4"/>
                </a:solidFill>
              </a:ln>
              <a:effectLst>
                <a:outerShdw blurRad="95250" dist="28575" dir="5400000" algn="ctr" rotWithShape="0">
                  <a:srgbClr val="000000">
                    <a:alpha val="26250"/>
                  </a:srgbClr>
                </a:outerShdw>
              </a:effectLst>
            </p:spPr>
          </p:sp>
          <p:sp>
            <p:nvSpPr>
              <p:cNvPr id="106" name="Freeform 106"/>
              <p:cNvSpPr/>
              <p:nvPr/>
            </p:nvSpPr>
            <p:spPr>
              <a:xfrm>
                <a:off x="6765925" y="46767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06B6D4"/>
                </a:solidFill>
              </a:ln>
              <a:effectLst>
                <a:outerShdw blurRad="95250" dist="28575" dir="5400000" algn="ctr" rotWithShape="0">
                  <a:srgbClr val="000000">
                    <a:alpha val="26250"/>
                  </a:srgbClr>
                </a:outerShdw>
              </a:effectLst>
            </p:spPr>
          </p:sp>
          <p:sp>
            <p:nvSpPr>
              <p:cNvPr id="107" name="Freeform 107"/>
              <p:cNvSpPr/>
              <p:nvPr/>
            </p:nvSpPr>
            <p:spPr>
              <a:xfrm>
                <a:off x="6781800" y="4652962"/>
                <a:ext cx="9525" cy="23812"/>
              </a:xfrm>
              <a:custGeom>
                <a:avLst/>
                <a:gdLst/>
                <a:ahLst/>
                <a:cxnLst/>
                <a:rect l="l" t="t" r="r" b="b"/>
                <a:pathLst>
                  <a:path w="9525" h="23812">
                    <a:moveTo>
                      <a:pt x="0" y="0"/>
                    </a:moveTo>
                    <a:lnTo>
                      <a:pt x="0" y="23812"/>
                    </a:lnTo>
                  </a:path>
                </a:pathLst>
              </a:custGeom>
              <a:noFill/>
              <a:ln w="19050">
                <a:solidFill>
                  <a:srgbClr val="06B6D4"/>
                </a:solidFill>
              </a:ln>
              <a:effectLst>
                <a:outerShdw blurRad="95250" dist="28575" dir="5400000" algn="ctr" rotWithShape="0">
                  <a:srgbClr val="000000">
                    <a:alpha val="26250"/>
                  </a:srgbClr>
                </a:outerShdw>
              </a:effectLst>
            </p:spPr>
          </p:sp>
        </p:grpSp>
        <p:sp>
          <p:nvSpPr>
            <p:cNvPr id="109" name="TextBox 109"/>
            <p:cNvSpPr txBox="1"/>
            <p:nvPr/>
          </p:nvSpPr>
          <p:spPr>
            <a:xfrm>
              <a:off x="7081838" y="4441031"/>
              <a:ext cx="2737914"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Mở Rộng Độc Lập &amp; Phát Triển Tự Chủ</a:t>
              </a:r>
            </a:p>
          </p:txBody>
        </p:sp>
        <p:sp>
          <p:nvSpPr>
            <p:cNvPr id="110" name="TextBox 110"/>
            <p:cNvSpPr txBox="1"/>
            <p:nvPr/>
          </p:nvSpPr>
          <p:spPr>
            <a:xfrm>
              <a:off x="7083742" y="4695349"/>
              <a:ext cx="3567708"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Tự do scale-out số instance cho transaction-service khi</a:t>
              </a:r>
            </a:p>
          </p:txBody>
        </p:sp>
        <p:sp>
          <p:nvSpPr>
            <p:cNvPr id="111" name="TextBox 111"/>
            <p:cNvSpPr txBox="1"/>
            <p:nvPr/>
          </p:nvSpPr>
          <p:spPr>
            <a:xfrm>
              <a:off x="7083742" y="4885849"/>
              <a:ext cx="337268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giao dịch tăng vọt mà không lãng phí tài nguyên RAM.</a:t>
              </a:r>
            </a:p>
          </p:txBody>
        </p:sp>
        <p:sp>
          <p:nvSpPr>
            <p:cNvPr id="112" name="TextBox 112"/>
            <p:cNvSpPr txBox="1"/>
            <p:nvPr/>
          </p:nvSpPr>
          <p:spPr>
            <a:xfrm>
              <a:off x="7083742" y="5076349"/>
              <a:ext cx="376923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dirty="0">
                  <a:solidFill>
                    <a:srgbClr val="94A3B8"/>
                  </a:solidFill>
                  <a:latin typeface="Segoe UI"/>
                  <a:ea typeface="Microsoft YaHei"/>
                  <a:cs typeface="Segoe UI"/>
                </a:rPr>
                <a:t>Đội ngũ kỹ sư độc lập triển khai CI/CD nhanh chóng, liên tục.</a:t>
              </a:r>
            </a:p>
          </p:txBody>
        </p:sp>
      </p:grpSp>
      <p:grpSp>
        <p:nvGrpSpPr>
          <p:cNvPr id="128" name="Group 128"/>
          <p:cNvGrpSpPr/>
          <p:nvPr/>
        </p:nvGrpSpPr>
        <p:grpSpPr>
          <a:xfrm>
            <a:off x="571500" y="5486400"/>
            <a:ext cx="11049000" cy="816769"/>
            <a:chOff x="571500" y="5486400"/>
            <a:chExt cx="11049000" cy="816769"/>
          </a:xfrm>
        </p:grpSpPr>
        <p:sp>
          <p:nvSpPr>
            <p:cNvPr id="114" name="Rectangle 114"/>
            <p:cNvSpPr/>
            <p:nvPr/>
          </p:nvSpPr>
          <p:spPr>
            <a:xfrm>
              <a:off x="571500" y="5486400"/>
              <a:ext cx="11049000" cy="809625"/>
            </a:xfrm>
            <a:prstGeom prst="roundRect">
              <a:avLst>
                <a:gd name="adj" fmla="val 14118"/>
              </a:avLst>
            </a:prstGeom>
            <a:solidFill>
              <a:srgbClr val="0F172A"/>
            </a:solidFill>
            <a:ln w="14288">
              <a:solidFill>
                <a:srgbClr val="2563EB"/>
              </a:solidFill>
            </a:ln>
            <a:effectLst>
              <a:outerShdw blurRad="95250" dist="28575" dir="5400000" algn="ctr" rotWithShape="0">
                <a:srgbClr val="000000">
                  <a:alpha val="26250"/>
                </a:srgbClr>
              </a:outerShdw>
            </a:effectLst>
          </p:spPr>
        </p:sp>
        <p:sp>
          <p:nvSpPr>
            <p:cNvPr id="115" name="Ellipse 115"/>
            <p:cNvSpPr/>
            <p:nvPr/>
          </p:nvSpPr>
          <p:spPr>
            <a:xfrm>
              <a:off x="781050" y="5715000"/>
              <a:ext cx="342900" cy="342900"/>
            </a:xfrm>
            <a:prstGeom prst="ellipse">
              <a:avLst/>
            </a:prstGeom>
            <a:solidFill>
              <a:srgbClr val="1E3A8A"/>
            </a:solidFill>
            <a:ln>
              <a:noFill/>
            </a:ln>
          </p:spPr>
        </p:sp>
        <p:grpSp>
          <p:nvGrpSpPr>
            <p:cNvPr id="124" name="Group 124"/>
            <p:cNvGrpSpPr/>
            <p:nvPr/>
          </p:nvGrpSpPr>
          <p:grpSpPr>
            <a:xfrm>
              <a:off x="873919" y="5807869"/>
              <a:ext cx="157956" cy="166687"/>
              <a:chOff x="873919" y="5807869"/>
              <a:chExt cx="157956" cy="166687"/>
            </a:xfrm>
          </p:grpSpPr>
          <p:sp>
            <p:nvSpPr>
              <p:cNvPr id="116" name="Freeform 116"/>
              <p:cNvSpPr/>
              <p:nvPr/>
            </p:nvSpPr>
            <p:spPr>
              <a:xfrm>
                <a:off x="873919" y="5965031"/>
                <a:ext cx="157162" cy="9525"/>
              </a:xfrm>
              <a:custGeom>
                <a:avLst/>
                <a:gdLst/>
                <a:ahLst/>
                <a:cxnLst/>
                <a:rect l="l" t="t" r="r" b="b"/>
                <a:pathLst>
                  <a:path w="157162" h="9525">
                    <a:moveTo>
                      <a:pt x="0" y="0"/>
                    </a:moveTo>
                    <a:lnTo>
                      <a:pt x="157162" y="0"/>
                    </a:lnTo>
                  </a:path>
                </a:pathLst>
              </a:custGeom>
              <a:noFill/>
              <a:ln w="19050">
                <a:solidFill>
                  <a:srgbClr val="38BDF8"/>
                </a:solidFill>
              </a:ln>
            </p:spPr>
          </p:sp>
          <p:sp>
            <p:nvSpPr>
              <p:cNvPr id="117" name="Freeform 117"/>
              <p:cNvSpPr/>
              <p:nvPr/>
            </p:nvSpPr>
            <p:spPr>
              <a:xfrm>
                <a:off x="873919" y="5868988"/>
                <a:ext cx="157162" cy="9525"/>
              </a:xfrm>
              <a:custGeom>
                <a:avLst/>
                <a:gdLst/>
                <a:ahLst/>
                <a:cxnLst/>
                <a:rect l="l" t="t" r="r" b="b"/>
                <a:pathLst>
                  <a:path w="157162" h="9525">
                    <a:moveTo>
                      <a:pt x="0" y="0"/>
                    </a:moveTo>
                    <a:lnTo>
                      <a:pt x="157162" y="0"/>
                    </a:lnTo>
                  </a:path>
                </a:pathLst>
              </a:custGeom>
              <a:noFill/>
              <a:ln w="19050">
                <a:solidFill>
                  <a:srgbClr val="38BDF8"/>
                </a:solidFill>
              </a:ln>
            </p:spPr>
          </p:sp>
          <p:sp>
            <p:nvSpPr>
              <p:cNvPr id="118" name="Freeform 118"/>
              <p:cNvSpPr/>
              <p:nvPr/>
            </p:nvSpPr>
            <p:spPr>
              <a:xfrm>
                <a:off x="891381" y="5807869"/>
                <a:ext cx="122237" cy="26194"/>
              </a:xfrm>
              <a:custGeom>
                <a:avLst/>
                <a:gdLst/>
                <a:ahLst/>
                <a:cxnLst/>
                <a:rect l="l" t="t" r="r" b="b"/>
                <a:pathLst>
                  <a:path w="122237" h="26194">
                    <a:moveTo>
                      <a:pt x="0" y="26194"/>
                    </a:moveTo>
                    <a:lnTo>
                      <a:pt x="61119" y="0"/>
                    </a:lnTo>
                    <a:lnTo>
                      <a:pt x="122237" y="26194"/>
                    </a:lnTo>
                  </a:path>
                </a:pathLst>
              </a:custGeom>
              <a:noFill/>
              <a:ln w="19050">
                <a:solidFill>
                  <a:srgbClr val="38BDF8"/>
                </a:solidFill>
              </a:ln>
            </p:spPr>
          </p:sp>
          <p:sp>
            <p:nvSpPr>
              <p:cNvPr id="119" name="Freeform 119"/>
              <p:cNvSpPr/>
              <p:nvPr/>
            </p:nvSpPr>
            <p:spPr>
              <a:xfrm>
                <a:off x="882650" y="5868988"/>
                <a:ext cx="9525" cy="96044"/>
              </a:xfrm>
              <a:custGeom>
                <a:avLst/>
                <a:gdLst/>
                <a:ahLst/>
                <a:cxnLst/>
                <a:rect l="l" t="t" r="r" b="b"/>
                <a:pathLst>
                  <a:path w="9525" h="96044">
                    <a:moveTo>
                      <a:pt x="0" y="0"/>
                    </a:moveTo>
                    <a:lnTo>
                      <a:pt x="0" y="96044"/>
                    </a:lnTo>
                  </a:path>
                </a:pathLst>
              </a:custGeom>
              <a:noFill/>
              <a:ln w="19050">
                <a:solidFill>
                  <a:srgbClr val="38BDF8"/>
                </a:solidFill>
              </a:ln>
            </p:spPr>
          </p:sp>
          <p:sp>
            <p:nvSpPr>
              <p:cNvPr id="120" name="Freeform 120"/>
              <p:cNvSpPr/>
              <p:nvPr/>
            </p:nvSpPr>
            <p:spPr>
              <a:xfrm>
                <a:off x="1022350" y="5868988"/>
                <a:ext cx="9525" cy="96044"/>
              </a:xfrm>
              <a:custGeom>
                <a:avLst/>
                <a:gdLst/>
                <a:ahLst/>
                <a:cxnLst/>
                <a:rect l="l" t="t" r="r" b="b"/>
                <a:pathLst>
                  <a:path w="9525" h="96044">
                    <a:moveTo>
                      <a:pt x="0" y="0"/>
                    </a:moveTo>
                    <a:lnTo>
                      <a:pt x="0" y="96044"/>
                    </a:lnTo>
                  </a:path>
                </a:pathLst>
              </a:custGeom>
              <a:noFill/>
              <a:ln w="19050">
                <a:solidFill>
                  <a:srgbClr val="38BDF8"/>
                </a:solidFill>
              </a:ln>
            </p:spPr>
          </p:sp>
          <p:sp>
            <p:nvSpPr>
              <p:cNvPr id="121" name="Freeform 121"/>
              <p:cNvSpPr/>
              <p:nvPr/>
            </p:nvSpPr>
            <p:spPr>
              <a:xfrm>
                <a:off x="917575" y="5903912"/>
                <a:ext cx="9525" cy="26194"/>
              </a:xfrm>
              <a:custGeom>
                <a:avLst/>
                <a:gdLst/>
                <a:ahLst/>
                <a:cxnLst/>
                <a:rect l="l" t="t" r="r" b="b"/>
                <a:pathLst>
                  <a:path w="9525" h="26194">
                    <a:moveTo>
                      <a:pt x="0" y="0"/>
                    </a:moveTo>
                    <a:lnTo>
                      <a:pt x="0" y="26194"/>
                    </a:lnTo>
                  </a:path>
                </a:pathLst>
              </a:custGeom>
              <a:noFill/>
              <a:ln w="19050">
                <a:solidFill>
                  <a:srgbClr val="38BDF8"/>
                </a:solidFill>
              </a:ln>
            </p:spPr>
          </p:sp>
          <p:sp>
            <p:nvSpPr>
              <p:cNvPr id="122" name="Freeform 122"/>
              <p:cNvSpPr/>
              <p:nvPr/>
            </p:nvSpPr>
            <p:spPr>
              <a:xfrm>
                <a:off x="952500" y="5903912"/>
                <a:ext cx="9525" cy="26194"/>
              </a:xfrm>
              <a:custGeom>
                <a:avLst/>
                <a:gdLst/>
                <a:ahLst/>
                <a:cxnLst/>
                <a:rect l="l" t="t" r="r" b="b"/>
                <a:pathLst>
                  <a:path w="9525" h="26194">
                    <a:moveTo>
                      <a:pt x="0" y="0"/>
                    </a:moveTo>
                    <a:lnTo>
                      <a:pt x="0" y="26194"/>
                    </a:lnTo>
                  </a:path>
                </a:pathLst>
              </a:custGeom>
              <a:noFill/>
              <a:ln w="19050">
                <a:solidFill>
                  <a:srgbClr val="38BDF8"/>
                </a:solidFill>
              </a:ln>
            </p:spPr>
          </p:sp>
          <p:sp>
            <p:nvSpPr>
              <p:cNvPr id="123" name="Freeform 123"/>
              <p:cNvSpPr/>
              <p:nvPr/>
            </p:nvSpPr>
            <p:spPr>
              <a:xfrm>
                <a:off x="987425" y="5903912"/>
                <a:ext cx="9525" cy="26194"/>
              </a:xfrm>
              <a:custGeom>
                <a:avLst/>
                <a:gdLst/>
                <a:ahLst/>
                <a:cxnLst/>
                <a:rect l="l" t="t" r="r" b="b"/>
                <a:pathLst>
                  <a:path w="9525" h="26194">
                    <a:moveTo>
                      <a:pt x="0" y="0"/>
                    </a:moveTo>
                    <a:lnTo>
                      <a:pt x="0" y="26194"/>
                    </a:lnTo>
                  </a:path>
                </a:pathLst>
              </a:custGeom>
              <a:noFill/>
              <a:ln w="19050">
                <a:solidFill>
                  <a:srgbClr val="38BDF8"/>
                </a:solidFill>
              </a:ln>
            </p:spPr>
          </p:sp>
        </p:grpSp>
        <p:sp>
          <p:nvSpPr>
            <p:cNvPr id="125" name="TextBox 125"/>
            <p:cNvSpPr txBox="1"/>
            <p:nvPr/>
          </p:nvSpPr>
          <p:spPr>
            <a:xfrm>
              <a:off x="1271588" y="5688806"/>
              <a:ext cx="3367992" cy="228600"/>
            </a:xfrm>
            <a:prstGeom prst="rect">
              <a:avLst/>
            </a:prstGeom>
            <a:noFill/>
            <a:ln>
              <a:noFill/>
            </a:ln>
          </p:spPr>
          <p:txBody>
            <a:bodyPr wrap="none" lIns="0" tIns="0" rIns="0" bIns="0" anchor="t" anchorCtr="0">
              <a:spAutoFit/>
            </a:bodyPr>
            <a:lstStyle/>
            <a:p>
              <a:pPr algn="l"/>
              <a:r>
                <a:rPr lang="zh-CN" sz="1125" b="1" dirty="0">
                  <a:solidFill>
                    <a:srgbClr val="38BDF8"/>
                  </a:solidFill>
                  <a:latin typeface="Segoe UI"/>
                  <a:ea typeface="Microsoft YaHei"/>
                  <a:cs typeface="Segoe UI"/>
                </a:rPr>
                <a:t>Kết Luận Chiến Lược Cho Dự Án RikkeiBank API</a:t>
              </a:r>
            </a:p>
          </p:txBody>
        </p:sp>
        <p:sp>
          <p:nvSpPr>
            <p:cNvPr id="126" name="TextBox 126"/>
            <p:cNvSpPr txBox="1"/>
            <p:nvPr/>
          </p:nvSpPr>
          <p:spPr>
            <a:xfrm>
              <a:off x="1273492" y="5914549"/>
              <a:ext cx="6623090" cy="198120"/>
            </a:xfrm>
            <a:prstGeom prst="rect">
              <a:avLst/>
            </a:prstGeom>
            <a:noFill/>
            <a:ln>
              <a:noFill/>
            </a:ln>
          </p:spPr>
          <p:txBody>
            <a:bodyPr wrap="none" lIns="0" tIns="0" rIns="0" bIns="0" anchor="t" anchorCtr="0">
              <a:spAutoFit/>
            </a:bodyPr>
            <a:lstStyle/>
            <a:p>
              <a:pPr algn="l"/>
              <a:r>
                <a:rPr lang="zh-CN" sz="975" dirty="0">
                  <a:solidFill>
                    <a:srgbClr val="F8FAFC"/>
                  </a:solidFill>
                  <a:latin typeface="Segoe UI"/>
                  <a:ea typeface="Microsoft YaHei"/>
                  <a:cs typeface="Segoe UI"/>
                </a:rPr>
                <a:t>Chuyển đổi sang Microservices là nền móng cốt lõi để RikkeiBank sẵn sàng tích hợp Mobile App và Web App,</a:t>
              </a:r>
            </a:p>
          </p:txBody>
        </p:sp>
        <p:sp>
          <p:nvSpPr>
            <p:cNvPr id="127" name="TextBox 127"/>
            <p:cNvSpPr txBox="1"/>
            <p:nvPr/>
          </p:nvSpPr>
          <p:spPr>
            <a:xfrm>
              <a:off x="1273492" y="6105049"/>
              <a:ext cx="6779109" cy="198120"/>
            </a:xfrm>
            <a:prstGeom prst="rect">
              <a:avLst/>
            </a:prstGeom>
            <a:noFill/>
            <a:ln>
              <a:noFill/>
            </a:ln>
          </p:spPr>
          <p:txBody>
            <a:bodyPr wrap="none" lIns="0" tIns="0" rIns="0" bIns="0" anchor="t" anchorCtr="0">
              <a:spAutoFit/>
            </a:bodyPr>
            <a:lstStyle/>
            <a:p>
              <a:pPr algn="l"/>
              <a:r>
                <a:rPr lang="zh-CN" sz="975" dirty="0">
                  <a:solidFill>
                    <a:srgbClr val="F8FAFC"/>
                  </a:solidFill>
                  <a:latin typeface="Segoe UI"/>
                  <a:ea typeface="Microsoft YaHei"/>
                  <a:cs typeface="Segoe UI"/>
                </a:rPr>
                <a:t>đáp ứng trọn vẹn tiêu chuẩn khắt khe về tính sẵn sàng cao, mở rộng linh hoạt và an toàn bảo mật tài chính.</a:t>
              </a:r>
            </a:p>
          </p:txBody>
        </p:sp>
      </p:grpSp>
      <p:grpSp>
        <p:nvGrpSpPr>
          <p:cNvPr id="131" name="Group 131"/>
          <p:cNvGrpSpPr/>
          <p:nvPr/>
        </p:nvGrpSpPr>
        <p:grpSpPr>
          <a:xfrm>
            <a:off x="560070" y="6522720"/>
            <a:ext cx="11071860" cy="182880"/>
            <a:chOff x="560070" y="6522720"/>
            <a:chExt cx="11071860" cy="182880"/>
          </a:xfrm>
        </p:grpSpPr>
        <p:sp>
          <p:nvSpPr>
            <p:cNvPr id="129" name="TextBox 129"/>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130" name="TextBox 130"/>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slide(fromBottom)">
                                      <p:cBhvr>
                                        <p:cTn id="11" dur="400"/>
                                        <p:tgtEl>
                                          <p:spTgt spid="4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slide(fromBottom)">
                                      <p:cBhvr>
                                        <p:cTn id="15" dur="400"/>
                                        <p:tgtEl>
                                          <p:spTgt spid="5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slide(fromBottom)">
                                      <p:cBhvr>
                                        <p:cTn id="19" dur="400"/>
                                        <p:tgtEl>
                                          <p:spTgt spid="7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slide(fromBottom)">
                                      <p:cBhvr>
                                        <p:cTn id="23" dur="400"/>
                                        <p:tgtEl>
                                          <p:spTgt spid="8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slide(fromBottom)">
                                      <p:cBhvr>
                                        <p:cTn id="27" dur="400"/>
                                        <p:tgtEl>
                                          <p:spTgt spid="96"/>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113"/>
                                        </p:tgtEl>
                                        <p:attrNameLst>
                                          <p:attrName>style.visibility</p:attrName>
                                        </p:attrNameLst>
                                      </p:cBhvr>
                                      <p:to>
                                        <p:strVal val="visible"/>
                                      </p:to>
                                    </p:set>
                                    <p:animEffect transition="in" filter="slide(fromBottom)">
                                      <p:cBhvr>
                                        <p:cTn id="31" dur="400"/>
                                        <p:tgtEl>
                                          <p:spTgt spid="113"/>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128"/>
                                        </p:tgtEl>
                                        <p:attrNameLst>
                                          <p:attrName>style.visibility</p:attrName>
                                        </p:attrNameLst>
                                      </p:cBhvr>
                                      <p:to>
                                        <p:strVal val="visible"/>
                                      </p:to>
                                    </p:set>
                                    <p:animEffect transition="in" filter="wipe(left)">
                                      <p:cBhvr>
                                        <p:cTn id="35" dur="4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2" grpId="0"/>
      <p:bldP spid="54" grpId="0"/>
      <p:bldP spid="73" grpId="0"/>
      <p:bldP spid="85" grpId="0"/>
      <p:bldP spid="96" grpId="0"/>
      <p:bldP spid="113" grpId="0"/>
      <p:bldP spid="12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3B82F6">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296101" cy="797719"/>
            <a:chOff x="548640" y="342900"/>
            <a:chExt cx="6296101" cy="797719"/>
          </a:xfrm>
        </p:grpSpPr>
        <p:sp>
          <p:nvSpPr>
            <p:cNvPr id="7" name="Rectangle 7"/>
            <p:cNvSpPr/>
            <p:nvPr/>
          </p:nvSpPr>
          <p:spPr>
            <a:xfrm>
              <a:off x="571500" y="342900"/>
              <a:ext cx="1428750" cy="247650"/>
            </a:xfrm>
            <a:prstGeom prst="roundRect">
              <a:avLst>
                <a:gd name="adj" fmla="val 50000"/>
              </a:avLst>
            </a:prstGeom>
            <a:solidFill>
              <a:srgbClr val="1E293B"/>
            </a:solidFill>
            <a:ln w="9525">
              <a:solidFill>
                <a:srgbClr val="3B82F6"/>
              </a:solidFill>
            </a:ln>
          </p:spPr>
        </p:sp>
        <p:sp>
          <p:nvSpPr>
            <p:cNvPr id="8" name="TextBox 8"/>
            <p:cNvSpPr txBox="1"/>
            <p:nvPr/>
          </p:nvSpPr>
          <p:spPr>
            <a:xfrm>
              <a:off x="718040" y="415766"/>
              <a:ext cx="1135669" cy="167640"/>
            </a:xfrm>
            <a:prstGeom prst="rect">
              <a:avLst/>
            </a:prstGeom>
            <a:noFill/>
            <a:ln>
              <a:noFill/>
            </a:ln>
          </p:spPr>
          <p:txBody>
            <a:bodyPr wrap="none" lIns="0" tIns="0" rIns="0" bIns="0" anchor="t" anchorCtr="0">
              <a:spAutoFit/>
            </a:bodyPr>
            <a:lstStyle/>
            <a:p>
              <a:pPr algn="ctr"/>
              <a:r>
                <a:rPr lang="zh-CN" sz="825" b="1" dirty="0">
                  <a:solidFill>
                    <a:srgbClr val="38BDF8"/>
                  </a:solidFill>
                  <a:latin typeface="Segoe UI"/>
                  <a:ea typeface="Microsoft YaHei"/>
                  <a:cs typeface="Segoe UI"/>
                </a:rPr>
                <a:t>TỔNG QUAN KIẾN TRÚC</a:t>
              </a:r>
            </a:p>
          </p:txBody>
        </p:sp>
        <p:sp>
          <p:nvSpPr>
            <p:cNvPr id="9" name="TextBox 9"/>
            <p:cNvSpPr txBox="1"/>
            <p:nvPr/>
          </p:nvSpPr>
          <p:spPr>
            <a:xfrm>
              <a:off x="548640" y="624840"/>
              <a:ext cx="6296101"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Kiến Trúc Tổng Thể Hệ Thống Phân Tán RikkeiBank API</a:t>
              </a:r>
            </a:p>
          </p:txBody>
        </p:sp>
        <p:sp>
          <p:nvSpPr>
            <p:cNvPr id="10" name="TextBox 10"/>
            <p:cNvSpPr txBox="1"/>
            <p:nvPr/>
          </p:nvSpPr>
          <p:spPr>
            <a:xfrm>
              <a:off x="559118" y="942499"/>
              <a:ext cx="5813088"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Mô hình Spring Cloud Microservices kết hợp Apache Kafka Event-Driven và Redis Caching</a:t>
              </a:r>
            </a:p>
          </p:txBody>
        </p:sp>
      </p:grpSp>
      <p:grpSp>
        <p:nvGrpSpPr>
          <p:cNvPr id="43" name="Group 43"/>
          <p:cNvGrpSpPr/>
          <p:nvPr/>
        </p:nvGrpSpPr>
        <p:grpSpPr>
          <a:xfrm>
            <a:off x="571500" y="1285875"/>
            <a:ext cx="6762750" cy="1000125"/>
            <a:chOff x="571500" y="1285875"/>
            <a:chExt cx="6762750" cy="1000125"/>
          </a:xfrm>
          <a:effectLst>
            <a:outerShdw blurRad="95250" dist="28575" dir="5400000" algn="ctr" rotWithShape="0">
              <a:srgbClr val="000000">
                <a:alpha val="26250"/>
              </a:srgbClr>
            </a:outerShdw>
          </a:effectLst>
        </p:grpSpPr>
        <p:sp>
          <p:nvSpPr>
            <p:cNvPr id="12" name="Rectangle 12"/>
            <p:cNvSpPr/>
            <p:nvPr/>
          </p:nvSpPr>
          <p:spPr>
            <a:xfrm>
              <a:off x="571500" y="1285875"/>
              <a:ext cx="6762750" cy="1000125"/>
            </a:xfrm>
            <a:prstGeom prst="roundRect">
              <a:avLst>
                <a:gd name="adj" fmla="val 11429"/>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Rectangle 13"/>
            <p:cNvSpPr/>
            <p:nvPr/>
          </p:nvSpPr>
          <p:spPr>
            <a:xfrm>
              <a:off x="571500" y="1285875"/>
              <a:ext cx="342900" cy="1000125"/>
            </a:xfrm>
            <a:prstGeom prst="roundRect">
              <a:avLst>
                <a:gd name="adj" fmla="val 33333"/>
              </a:avLst>
            </a:prstGeom>
            <a:solidFill>
              <a:srgbClr val="2563EB"/>
            </a:solidFill>
            <a:ln>
              <a:noFill/>
            </a:ln>
            <a:effectLst>
              <a:outerShdw blurRad="95250" dist="28575" dir="5400000" algn="ctr" rotWithShape="0">
                <a:srgbClr val="000000">
                  <a:alpha val="26250"/>
                </a:srgbClr>
              </a:outerShdw>
            </a:effectLst>
          </p:spPr>
        </p:sp>
        <p:sp>
          <p:nvSpPr>
            <p:cNvPr id="14" name="TextBox 14"/>
            <p:cNvSpPr txBox="1"/>
            <p:nvPr/>
          </p:nvSpPr>
          <p:spPr>
            <a:xfrm>
              <a:off x="661717" y="1716881"/>
              <a:ext cx="16246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FFFFFF"/>
                  </a:solidFill>
                  <a:latin typeface="Arial"/>
                  <a:ea typeface="Microsoft YaHei"/>
                  <a:cs typeface="Arial"/>
                </a:rPr>
                <a:t>L1</a:t>
              </a:r>
            </a:p>
          </p:txBody>
        </p:sp>
        <p:sp>
          <p:nvSpPr>
            <p:cNvPr id="15" name="TextBox 15"/>
            <p:cNvSpPr txBox="1"/>
            <p:nvPr/>
          </p:nvSpPr>
          <p:spPr>
            <a:xfrm>
              <a:off x="1035368" y="1399699"/>
              <a:ext cx="3519602"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38BDF8"/>
                  </a:solidFill>
                  <a:latin typeface="Segoe UI"/>
                  <a:ea typeface="Microsoft YaHei"/>
                  <a:cs typeface="Segoe UI"/>
                </a:rPr>
                <a:t>CLIENTS &amp; API GATEWAY LAYER (SPRING CLOUD GATEWAY)</a:t>
              </a:r>
            </a:p>
          </p:txBody>
        </p:sp>
        <p:sp>
          <p:nvSpPr>
            <p:cNvPr id="16" name="Rectangle 16"/>
            <p:cNvSpPr/>
            <p:nvPr/>
          </p:nvSpPr>
          <p:spPr>
            <a:xfrm>
              <a:off x="1047750" y="1619250"/>
              <a:ext cx="1190625" cy="533400"/>
            </a:xfrm>
            <a:prstGeom prst="roundRect">
              <a:avLst>
                <a:gd name="adj" fmla="val 14286"/>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20" name="Group 20"/>
            <p:cNvGrpSpPr/>
            <p:nvPr/>
          </p:nvGrpSpPr>
          <p:grpSpPr>
            <a:xfrm>
              <a:off x="1176338" y="1778794"/>
              <a:ext cx="104775" cy="157162"/>
              <a:chOff x="1176338" y="1778794"/>
              <a:chExt cx="104775" cy="157162"/>
            </a:xfrm>
          </p:grpSpPr>
          <p:sp>
            <p:nvSpPr>
              <p:cNvPr id="17" name="Freeform 17"/>
              <p:cNvSpPr/>
              <p:nvPr/>
            </p:nvSpPr>
            <p:spPr>
              <a:xfrm>
                <a:off x="1176338" y="1778794"/>
                <a:ext cx="104775" cy="157162"/>
              </a:xfrm>
              <a:custGeom>
                <a:avLst/>
                <a:gdLst/>
                <a:ahLst/>
                <a:cxnLst/>
                <a:rect l="l" t="t" r="r" b="b"/>
                <a:pathLst>
                  <a:path w="104775" h="157162">
                    <a:moveTo>
                      <a:pt x="0" y="17463"/>
                    </a:moveTo>
                    <a:cubicBezTo>
                      <a:pt x="0" y="7818"/>
                      <a:pt x="7818" y="0"/>
                      <a:pt x="17462" y="0"/>
                    </a:cubicBezTo>
                    <a:lnTo>
                      <a:pt x="87312" y="0"/>
                    </a:lnTo>
                    <a:cubicBezTo>
                      <a:pt x="96957" y="0"/>
                      <a:pt x="104775" y="7818"/>
                      <a:pt x="104775" y="17463"/>
                    </a:cubicBezTo>
                    <a:lnTo>
                      <a:pt x="104775" y="139700"/>
                    </a:lnTo>
                    <a:cubicBezTo>
                      <a:pt x="104775" y="149344"/>
                      <a:pt x="96957" y="157162"/>
                      <a:pt x="87312" y="157162"/>
                    </a:cubicBezTo>
                    <a:lnTo>
                      <a:pt x="17462" y="157162"/>
                    </a:lnTo>
                    <a:cubicBezTo>
                      <a:pt x="7818" y="157162"/>
                      <a:pt x="0" y="149344"/>
                      <a:pt x="0" y="139700"/>
                    </a:cubicBezTo>
                    <a:lnTo>
                      <a:pt x="0" y="17463"/>
                    </a:lnTo>
                  </a:path>
                </a:pathLst>
              </a:custGeom>
              <a:noFill/>
              <a:ln w="19050">
                <a:solidFill>
                  <a:srgbClr val="06B6D4"/>
                </a:solidFill>
              </a:ln>
              <a:effectLst>
                <a:outerShdw blurRad="95250" dist="28575" dir="5400000" algn="ctr" rotWithShape="0">
                  <a:srgbClr val="000000">
                    <a:alpha val="26250"/>
                  </a:srgbClr>
                </a:outerShdw>
              </a:effectLst>
            </p:spPr>
          </p:sp>
          <p:sp>
            <p:nvSpPr>
              <p:cNvPr id="18" name="Freeform 18"/>
              <p:cNvSpPr/>
              <p:nvPr/>
            </p:nvSpPr>
            <p:spPr>
              <a:xfrm>
                <a:off x="1219994" y="1787525"/>
                <a:ext cx="17462" cy="9525"/>
              </a:xfrm>
              <a:custGeom>
                <a:avLst/>
                <a:gdLst/>
                <a:ahLst/>
                <a:cxnLst/>
                <a:rect l="l" t="t" r="r" b="b"/>
                <a:pathLst>
                  <a:path w="17462" h="9525">
                    <a:moveTo>
                      <a:pt x="0" y="0"/>
                    </a:moveTo>
                    <a:lnTo>
                      <a:pt x="17462" y="0"/>
                    </a:lnTo>
                  </a:path>
                </a:pathLst>
              </a:custGeom>
              <a:noFill/>
              <a:ln w="19050">
                <a:solidFill>
                  <a:srgbClr val="06B6D4"/>
                </a:solidFill>
              </a:ln>
              <a:effectLst>
                <a:outerShdw blurRad="95250" dist="28575" dir="5400000" algn="ctr" rotWithShape="0">
                  <a:srgbClr val="000000">
                    <a:alpha val="26250"/>
                  </a:srgbClr>
                </a:outerShdw>
              </a:effectLst>
            </p:spPr>
          </p:sp>
          <p:sp>
            <p:nvSpPr>
              <p:cNvPr id="19" name="Freeform 19"/>
              <p:cNvSpPr/>
              <p:nvPr/>
            </p:nvSpPr>
            <p:spPr>
              <a:xfrm>
                <a:off x="1228725" y="1901031"/>
                <a:ext cx="9525" cy="9525"/>
              </a:xfrm>
              <a:custGeom>
                <a:avLst/>
                <a:gdLst/>
                <a:ahLst/>
                <a:cxnLst/>
                <a:rect l="l" t="t" r="r" b="b"/>
                <a:pathLst>
                  <a:path w="9525" h="9525">
                    <a:moveTo>
                      <a:pt x="0" y="0"/>
                    </a:moveTo>
                    <a:lnTo>
                      <a:pt x="0" y="87"/>
                    </a:lnTo>
                  </a:path>
                </a:pathLst>
              </a:custGeom>
              <a:noFill/>
              <a:ln w="19050">
                <a:solidFill>
                  <a:srgbClr val="06B6D4"/>
                </a:solidFill>
              </a:ln>
              <a:effectLst>
                <a:outerShdw blurRad="95250" dist="28575" dir="5400000" algn="ctr" rotWithShape="0">
                  <a:srgbClr val="000000">
                    <a:alpha val="26250"/>
                  </a:srgbClr>
                </a:outerShdw>
              </a:effectLst>
            </p:spPr>
          </p:sp>
        </p:grpSp>
        <p:sp>
          <p:nvSpPr>
            <p:cNvPr id="21" name="TextBox 21"/>
            <p:cNvSpPr txBox="1"/>
            <p:nvPr/>
          </p:nvSpPr>
          <p:spPr>
            <a:xfrm>
              <a:off x="1379220" y="1750695"/>
              <a:ext cx="64663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Mobile App</a:t>
              </a:r>
            </a:p>
          </p:txBody>
        </p:sp>
        <p:sp>
          <p:nvSpPr>
            <p:cNvPr id="22" name="TextBox 22"/>
            <p:cNvSpPr txBox="1"/>
            <p:nvPr/>
          </p:nvSpPr>
          <p:spPr>
            <a:xfrm>
              <a:off x="1380172" y="1930241"/>
              <a:ext cx="719542"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Flutter / iOS</a:t>
              </a:r>
            </a:p>
          </p:txBody>
        </p:sp>
        <p:sp>
          <p:nvSpPr>
            <p:cNvPr id="23" name="Rectangle 23"/>
            <p:cNvSpPr/>
            <p:nvPr/>
          </p:nvSpPr>
          <p:spPr>
            <a:xfrm>
              <a:off x="2333625" y="1619250"/>
              <a:ext cx="1190625" cy="533400"/>
            </a:xfrm>
            <a:prstGeom prst="roundRect">
              <a:avLst>
                <a:gd name="adj" fmla="val 14286"/>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28" name="Group 28"/>
            <p:cNvGrpSpPr/>
            <p:nvPr/>
          </p:nvGrpSpPr>
          <p:grpSpPr>
            <a:xfrm>
              <a:off x="2436019" y="1787525"/>
              <a:ext cx="157162" cy="139700"/>
              <a:chOff x="2436019" y="1787525"/>
              <a:chExt cx="157162" cy="139700"/>
            </a:xfrm>
          </p:grpSpPr>
          <p:sp>
            <p:nvSpPr>
              <p:cNvPr id="24" name="Freeform 24"/>
              <p:cNvSpPr/>
              <p:nvPr/>
            </p:nvSpPr>
            <p:spPr>
              <a:xfrm>
                <a:off x="2436019" y="1787525"/>
                <a:ext cx="157162" cy="69850"/>
              </a:xfrm>
              <a:custGeom>
                <a:avLst/>
                <a:gdLst/>
                <a:ahLst/>
                <a:cxnLst/>
                <a:rect l="l" t="t" r="r" b="b"/>
                <a:pathLst>
                  <a:path w="157162" h="69850">
                    <a:moveTo>
                      <a:pt x="0" y="26194"/>
                    </a:moveTo>
                    <a:cubicBezTo>
                      <a:pt x="0" y="11727"/>
                      <a:pt x="11727" y="0"/>
                      <a:pt x="26194" y="0"/>
                    </a:cubicBezTo>
                    <a:lnTo>
                      <a:pt x="130969" y="0"/>
                    </a:lnTo>
                    <a:cubicBezTo>
                      <a:pt x="145435" y="0"/>
                      <a:pt x="157162" y="11727"/>
                      <a:pt x="157162" y="26194"/>
                    </a:cubicBezTo>
                    <a:lnTo>
                      <a:pt x="157162" y="43656"/>
                    </a:lnTo>
                    <a:cubicBezTo>
                      <a:pt x="157162" y="58123"/>
                      <a:pt x="145435" y="69850"/>
                      <a:pt x="130969" y="69850"/>
                    </a:cubicBezTo>
                    <a:lnTo>
                      <a:pt x="26194" y="69850"/>
                    </a:lnTo>
                    <a:cubicBezTo>
                      <a:pt x="11727" y="69850"/>
                      <a:pt x="0" y="58123"/>
                      <a:pt x="0" y="43656"/>
                    </a:cubicBezTo>
                  </a:path>
                </a:pathLst>
              </a:custGeom>
              <a:noFill/>
              <a:ln w="19050">
                <a:solidFill>
                  <a:srgbClr val="3B82F6"/>
                </a:solidFill>
              </a:ln>
              <a:effectLst>
                <a:outerShdw blurRad="95250" dist="28575" dir="5400000" algn="ctr" rotWithShape="0">
                  <a:srgbClr val="000000">
                    <a:alpha val="26250"/>
                  </a:srgbClr>
                </a:outerShdw>
              </a:effectLst>
            </p:spPr>
          </p:sp>
          <p:sp>
            <p:nvSpPr>
              <p:cNvPr id="25" name="Freeform 25"/>
              <p:cNvSpPr/>
              <p:nvPr/>
            </p:nvSpPr>
            <p:spPr>
              <a:xfrm>
                <a:off x="2436019" y="1857375"/>
                <a:ext cx="157162" cy="69850"/>
              </a:xfrm>
              <a:custGeom>
                <a:avLst/>
                <a:gdLst/>
                <a:ahLst/>
                <a:cxnLst/>
                <a:rect l="l" t="t" r="r" b="b"/>
                <a:pathLst>
                  <a:path w="157162" h="69850">
                    <a:moveTo>
                      <a:pt x="0" y="26194"/>
                    </a:moveTo>
                    <a:cubicBezTo>
                      <a:pt x="0" y="11727"/>
                      <a:pt x="11727" y="0"/>
                      <a:pt x="26194" y="0"/>
                    </a:cubicBezTo>
                    <a:lnTo>
                      <a:pt x="130969" y="0"/>
                    </a:lnTo>
                    <a:cubicBezTo>
                      <a:pt x="145435" y="0"/>
                      <a:pt x="157162" y="11727"/>
                      <a:pt x="157162" y="26194"/>
                    </a:cubicBezTo>
                    <a:lnTo>
                      <a:pt x="157162" y="43656"/>
                    </a:lnTo>
                    <a:cubicBezTo>
                      <a:pt x="157162" y="58123"/>
                      <a:pt x="145435" y="69850"/>
                      <a:pt x="130969" y="69850"/>
                    </a:cubicBezTo>
                    <a:lnTo>
                      <a:pt x="26194" y="69850"/>
                    </a:lnTo>
                    <a:cubicBezTo>
                      <a:pt x="11727" y="69850"/>
                      <a:pt x="0" y="58123"/>
                      <a:pt x="0" y="43656"/>
                    </a:cubicBezTo>
                    <a:lnTo>
                      <a:pt x="0" y="26194"/>
                    </a:lnTo>
                  </a:path>
                </a:pathLst>
              </a:custGeom>
              <a:noFill/>
              <a:ln w="19050">
                <a:solidFill>
                  <a:srgbClr val="3B82F6"/>
                </a:solidFill>
              </a:ln>
              <a:effectLst>
                <a:outerShdw blurRad="95250" dist="28575" dir="5400000" algn="ctr" rotWithShape="0">
                  <a:srgbClr val="000000">
                    <a:alpha val="26250"/>
                  </a:srgbClr>
                </a:outerShdw>
              </a:effectLst>
            </p:spPr>
          </p:sp>
          <p:sp>
            <p:nvSpPr>
              <p:cNvPr id="26" name="Freeform 26"/>
              <p:cNvSpPr/>
              <p:nvPr/>
            </p:nvSpPr>
            <p:spPr>
              <a:xfrm>
                <a:off x="2470944" y="1822450"/>
                <a:ext cx="9525" cy="9525"/>
              </a:xfrm>
              <a:custGeom>
                <a:avLst/>
                <a:gdLst/>
                <a:ahLst/>
                <a:cxnLst/>
                <a:rect l="l" t="t" r="r" b="b"/>
                <a:pathLst>
                  <a:path w="9525" h="9525">
                    <a:moveTo>
                      <a:pt x="0" y="0"/>
                    </a:moveTo>
                    <a:lnTo>
                      <a:pt x="0" y="87"/>
                    </a:lnTo>
                  </a:path>
                </a:pathLst>
              </a:custGeom>
              <a:noFill/>
              <a:ln w="19050">
                <a:solidFill>
                  <a:srgbClr val="3B82F6"/>
                </a:solidFill>
              </a:ln>
              <a:effectLst>
                <a:outerShdw blurRad="95250" dist="28575" dir="5400000" algn="ctr" rotWithShape="0">
                  <a:srgbClr val="000000">
                    <a:alpha val="26250"/>
                  </a:srgbClr>
                </a:outerShdw>
              </a:effectLst>
            </p:spPr>
          </p:sp>
          <p:sp>
            <p:nvSpPr>
              <p:cNvPr id="27" name="Freeform 27"/>
              <p:cNvSpPr/>
              <p:nvPr/>
            </p:nvSpPr>
            <p:spPr>
              <a:xfrm>
                <a:off x="2470944" y="1892300"/>
                <a:ext cx="9525" cy="9525"/>
              </a:xfrm>
              <a:custGeom>
                <a:avLst/>
                <a:gdLst/>
                <a:ahLst/>
                <a:cxnLst/>
                <a:rect l="l" t="t" r="r" b="b"/>
                <a:pathLst>
                  <a:path w="9525" h="9525">
                    <a:moveTo>
                      <a:pt x="0" y="0"/>
                    </a:moveTo>
                    <a:lnTo>
                      <a:pt x="0" y="87"/>
                    </a:lnTo>
                  </a:path>
                </a:pathLst>
              </a:custGeom>
              <a:noFill/>
              <a:ln w="19050">
                <a:solidFill>
                  <a:srgbClr val="3B82F6"/>
                </a:solidFill>
              </a:ln>
              <a:effectLst>
                <a:outerShdw blurRad="95250" dist="28575" dir="5400000" algn="ctr" rotWithShape="0">
                  <a:srgbClr val="000000">
                    <a:alpha val="26250"/>
                  </a:srgbClr>
                </a:outerShdw>
              </a:effectLst>
            </p:spPr>
          </p:sp>
        </p:grpSp>
        <p:sp>
          <p:nvSpPr>
            <p:cNvPr id="29" name="TextBox 29"/>
            <p:cNvSpPr txBox="1"/>
            <p:nvPr/>
          </p:nvSpPr>
          <p:spPr>
            <a:xfrm>
              <a:off x="2665095" y="1750695"/>
              <a:ext cx="67814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Web Portal</a:t>
              </a:r>
            </a:p>
          </p:txBody>
        </p:sp>
        <p:sp>
          <p:nvSpPr>
            <p:cNvPr id="30" name="TextBox 30"/>
            <p:cNvSpPr txBox="1"/>
            <p:nvPr/>
          </p:nvSpPr>
          <p:spPr>
            <a:xfrm>
              <a:off x="2666048" y="1930241"/>
              <a:ext cx="631531"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React / SPA</a:t>
              </a:r>
            </a:p>
          </p:txBody>
        </p:sp>
        <p:sp>
          <p:nvSpPr>
            <p:cNvPr id="31" name="Rectangle 31"/>
            <p:cNvSpPr/>
            <p:nvPr/>
          </p:nvSpPr>
          <p:spPr>
            <a:xfrm>
              <a:off x="3619500" y="1619250"/>
              <a:ext cx="3571875" cy="533400"/>
            </a:xfrm>
            <a:prstGeom prst="roundRect">
              <a:avLst>
                <a:gd name="adj" fmla="val 14286"/>
              </a:avLst>
            </a:prstGeom>
            <a:solidFill>
              <a:srgbClr val="172554"/>
            </a:solidFill>
            <a:ln w="14288">
              <a:solidFill>
                <a:srgbClr val="2563EB"/>
              </a:solidFill>
            </a:ln>
            <a:effectLst>
              <a:outerShdw blurRad="95250" dist="28575" dir="5400000" algn="ctr" rotWithShape="0">
                <a:srgbClr val="000000">
                  <a:alpha val="26250"/>
                </a:srgbClr>
              </a:outerShdw>
            </a:effectLst>
          </p:spPr>
        </p:sp>
        <p:grpSp>
          <p:nvGrpSpPr>
            <p:cNvPr id="40" name="Group 40"/>
            <p:cNvGrpSpPr/>
            <p:nvPr/>
          </p:nvGrpSpPr>
          <p:grpSpPr>
            <a:xfrm>
              <a:off x="3740944" y="1778794"/>
              <a:ext cx="157163" cy="165893"/>
              <a:chOff x="3740944" y="1778794"/>
              <a:chExt cx="157163" cy="165893"/>
            </a:xfrm>
          </p:grpSpPr>
          <p:sp>
            <p:nvSpPr>
              <p:cNvPr id="32" name="Freeform 32"/>
              <p:cNvSpPr/>
              <p:nvPr/>
            </p:nvSpPr>
            <p:spPr>
              <a:xfrm>
                <a:off x="3767138" y="1778794"/>
                <a:ext cx="104775" cy="104775"/>
              </a:xfrm>
              <a:custGeom>
                <a:avLst/>
                <a:gdLst/>
                <a:ahLst/>
                <a:cxnLst/>
                <a:rect l="l" t="t" r="r" b="b"/>
                <a:pathLst>
                  <a:path w="104775" h="104775">
                    <a:moveTo>
                      <a:pt x="0" y="52388"/>
                    </a:moveTo>
                    <a:cubicBezTo>
                      <a:pt x="0" y="81320"/>
                      <a:pt x="23455" y="104775"/>
                      <a:pt x="52388" y="104775"/>
                    </a:cubicBezTo>
                    <a:cubicBezTo>
                      <a:pt x="81320" y="104775"/>
                      <a:pt x="104775" y="81320"/>
                      <a:pt x="104775" y="52388"/>
                    </a:cubicBezTo>
                    <a:cubicBezTo>
                      <a:pt x="104775" y="23455"/>
                      <a:pt x="81320" y="0"/>
                      <a:pt x="52388" y="0"/>
                    </a:cubicBezTo>
                    <a:cubicBezTo>
                      <a:pt x="23455" y="0"/>
                      <a:pt x="0" y="23455"/>
                      <a:pt x="0" y="52388"/>
                    </a:cubicBezTo>
                  </a:path>
                </a:pathLst>
              </a:custGeom>
              <a:noFill/>
              <a:ln w="19050">
                <a:solidFill>
                  <a:srgbClr val="60A5FA"/>
                </a:solidFill>
              </a:ln>
              <a:effectLst>
                <a:outerShdw blurRad="95250" dist="28575" dir="5400000" algn="ctr" rotWithShape="0">
                  <a:srgbClr val="000000">
                    <a:alpha val="26250"/>
                  </a:srgbClr>
                </a:outerShdw>
              </a:effectLst>
            </p:spPr>
          </p:sp>
          <p:sp>
            <p:nvSpPr>
              <p:cNvPr id="33" name="Freeform 33"/>
              <p:cNvSpPr/>
              <p:nvPr/>
            </p:nvSpPr>
            <p:spPr>
              <a:xfrm>
                <a:off x="3819525" y="1778794"/>
                <a:ext cx="17462" cy="104775"/>
              </a:xfrm>
              <a:custGeom>
                <a:avLst/>
                <a:gdLst/>
                <a:ahLst/>
                <a:cxnLst/>
                <a:rect l="l" t="t" r="r" b="b"/>
                <a:pathLst>
                  <a:path w="17462" h="104775">
                    <a:moveTo>
                      <a:pt x="0" y="0"/>
                    </a:moveTo>
                    <a:cubicBezTo>
                      <a:pt x="11639" y="2908"/>
                      <a:pt x="17462" y="20370"/>
                      <a:pt x="17462" y="52388"/>
                    </a:cubicBezTo>
                    <a:cubicBezTo>
                      <a:pt x="17462" y="84405"/>
                      <a:pt x="11639" y="101867"/>
                      <a:pt x="0" y="104775"/>
                    </a:cubicBezTo>
                  </a:path>
                </a:pathLst>
              </a:custGeom>
              <a:noFill/>
              <a:ln w="19050">
                <a:solidFill>
                  <a:srgbClr val="60A5FA"/>
                </a:solidFill>
              </a:ln>
              <a:effectLst>
                <a:outerShdw blurRad="95250" dist="28575" dir="5400000" algn="ctr" rotWithShape="0">
                  <a:srgbClr val="000000">
                    <a:alpha val="26250"/>
                  </a:srgbClr>
                </a:outerShdw>
              </a:effectLst>
            </p:spPr>
          </p:sp>
          <p:sp>
            <p:nvSpPr>
              <p:cNvPr id="34" name="Freeform 34"/>
              <p:cNvSpPr/>
              <p:nvPr/>
            </p:nvSpPr>
            <p:spPr>
              <a:xfrm>
                <a:off x="3802062" y="1778794"/>
                <a:ext cx="17462" cy="104775"/>
              </a:xfrm>
              <a:custGeom>
                <a:avLst/>
                <a:gdLst/>
                <a:ahLst/>
                <a:cxnLst/>
                <a:rect l="l" t="t" r="r" b="b"/>
                <a:pathLst>
                  <a:path w="17462" h="104775">
                    <a:moveTo>
                      <a:pt x="17462" y="0"/>
                    </a:moveTo>
                    <a:cubicBezTo>
                      <a:pt x="5824" y="2908"/>
                      <a:pt x="0" y="20370"/>
                      <a:pt x="0" y="52388"/>
                    </a:cubicBezTo>
                    <a:cubicBezTo>
                      <a:pt x="0" y="84405"/>
                      <a:pt x="5824" y="101867"/>
                      <a:pt x="17462" y="104775"/>
                    </a:cubicBezTo>
                  </a:path>
                </a:pathLst>
              </a:custGeom>
              <a:noFill/>
              <a:ln w="19050">
                <a:solidFill>
                  <a:srgbClr val="60A5FA"/>
                </a:solidFill>
              </a:ln>
              <a:effectLst>
                <a:outerShdw blurRad="95250" dist="28575" dir="5400000" algn="ctr" rotWithShape="0">
                  <a:srgbClr val="000000">
                    <a:alpha val="26250"/>
                  </a:srgbClr>
                </a:outerShdw>
              </a:effectLst>
            </p:spPr>
          </p:sp>
          <p:sp>
            <p:nvSpPr>
              <p:cNvPr id="35" name="Freeform 35"/>
              <p:cNvSpPr/>
              <p:nvPr/>
            </p:nvSpPr>
            <p:spPr>
              <a:xfrm>
                <a:off x="3767138" y="1831181"/>
                <a:ext cx="104775" cy="9525"/>
              </a:xfrm>
              <a:custGeom>
                <a:avLst/>
                <a:gdLst/>
                <a:ahLst/>
                <a:cxnLst/>
                <a:rect l="l" t="t" r="r" b="b"/>
                <a:pathLst>
                  <a:path w="104775" h="9525">
                    <a:moveTo>
                      <a:pt x="0" y="0"/>
                    </a:moveTo>
                    <a:lnTo>
                      <a:pt x="104775" y="0"/>
                    </a:lnTo>
                  </a:path>
                </a:pathLst>
              </a:custGeom>
              <a:noFill/>
              <a:ln w="19050">
                <a:solidFill>
                  <a:srgbClr val="60A5FA"/>
                </a:solidFill>
              </a:ln>
              <a:effectLst>
                <a:outerShdw blurRad="95250" dist="28575" dir="5400000" algn="ctr" rotWithShape="0">
                  <a:srgbClr val="000000">
                    <a:alpha val="26250"/>
                  </a:srgbClr>
                </a:outerShdw>
              </a:effectLst>
            </p:spPr>
          </p:sp>
          <p:sp>
            <p:nvSpPr>
              <p:cNvPr id="36" name="Freeform 36"/>
              <p:cNvSpPr/>
              <p:nvPr/>
            </p:nvSpPr>
            <p:spPr>
              <a:xfrm>
                <a:off x="3740944" y="1927225"/>
                <a:ext cx="61119" cy="9525"/>
              </a:xfrm>
              <a:custGeom>
                <a:avLst/>
                <a:gdLst/>
                <a:ahLst/>
                <a:cxnLst/>
                <a:rect l="l" t="t" r="r" b="b"/>
                <a:pathLst>
                  <a:path w="61119" h="9525">
                    <a:moveTo>
                      <a:pt x="0" y="0"/>
                    </a:moveTo>
                    <a:lnTo>
                      <a:pt x="61119" y="0"/>
                    </a:lnTo>
                  </a:path>
                </a:pathLst>
              </a:custGeom>
              <a:noFill/>
              <a:ln w="19050">
                <a:solidFill>
                  <a:srgbClr val="60A5FA"/>
                </a:solidFill>
              </a:ln>
              <a:effectLst>
                <a:outerShdw blurRad="95250" dist="28575" dir="5400000" algn="ctr" rotWithShape="0">
                  <a:srgbClr val="000000">
                    <a:alpha val="26250"/>
                  </a:srgbClr>
                </a:outerShdw>
              </a:effectLst>
            </p:spPr>
          </p:sp>
          <p:sp>
            <p:nvSpPr>
              <p:cNvPr id="37" name="Freeform 37"/>
              <p:cNvSpPr/>
              <p:nvPr/>
            </p:nvSpPr>
            <p:spPr>
              <a:xfrm>
                <a:off x="3836988" y="1927225"/>
                <a:ext cx="61119" cy="9525"/>
              </a:xfrm>
              <a:custGeom>
                <a:avLst/>
                <a:gdLst/>
                <a:ahLst/>
                <a:cxnLst/>
                <a:rect l="l" t="t" r="r" b="b"/>
                <a:pathLst>
                  <a:path w="61119" h="9525">
                    <a:moveTo>
                      <a:pt x="0" y="0"/>
                    </a:moveTo>
                    <a:lnTo>
                      <a:pt x="61119" y="0"/>
                    </a:lnTo>
                  </a:path>
                </a:pathLst>
              </a:custGeom>
              <a:noFill/>
              <a:ln w="19050">
                <a:solidFill>
                  <a:srgbClr val="60A5FA"/>
                </a:solidFill>
              </a:ln>
              <a:effectLst>
                <a:outerShdw blurRad="95250" dist="28575" dir="5400000" algn="ctr" rotWithShape="0">
                  <a:srgbClr val="000000">
                    <a:alpha val="26250"/>
                  </a:srgbClr>
                </a:outerShdw>
              </a:effectLst>
            </p:spPr>
          </p:sp>
          <p:sp>
            <p:nvSpPr>
              <p:cNvPr id="38" name="Freeform 38"/>
              <p:cNvSpPr/>
              <p:nvPr/>
            </p:nvSpPr>
            <p:spPr>
              <a:xfrm>
                <a:off x="3802062" y="1909762"/>
                <a:ext cx="34925" cy="34925"/>
              </a:xfrm>
              <a:custGeom>
                <a:avLst/>
                <a:gdLst/>
                <a:ahLst/>
                <a:cxnLst/>
                <a:rect l="l" t="t" r="r" b="b"/>
                <a:pathLst>
                  <a:path w="34925" h="34925">
                    <a:moveTo>
                      <a:pt x="0" y="17463"/>
                    </a:moveTo>
                    <a:cubicBezTo>
                      <a:pt x="0" y="27107"/>
                      <a:pt x="7818" y="34925"/>
                      <a:pt x="17462" y="34925"/>
                    </a:cubicBezTo>
                    <a:cubicBezTo>
                      <a:pt x="27107" y="34925"/>
                      <a:pt x="34925" y="27107"/>
                      <a:pt x="34925" y="17463"/>
                    </a:cubicBezTo>
                    <a:cubicBezTo>
                      <a:pt x="34925" y="7818"/>
                      <a:pt x="27107" y="0"/>
                      <a:pt x="17462" y="0"/>
                    </a:cubicBezTo>
                    <a:cubicBezTo>
                      <a:pt x="7818" y="0"/>
                      <a:pt x="0" y="7818"/>
                      <a:pt x="0" y="17463"/>
                    </a:cubicBezTo>
                  </a:path>
                </a:pathLst>
              </a:custGeom>
              <a:noFill/>
              <a:ln w="19050">
                <a:solidFill>
                  <a:srgbClr val="60A5FA"/>
                </a:solidFill>
              </a:ln>
              <a:effectLst>
                <a:outerShdw blurRad="95250" dist="28575" dir="5400000" algn="ctr" rotWithShape="0">
                  <a:srgbClr val="000000">
                    <a:alpha val="26250"/>
                  </a:srgbClr>
                </a:outerShdw>
              </a:effectLst>
            </p:spPr>
          </p:sp>
          <p:sp>
            <p:nvSpPr>
              <p:cNvPr id="39" name="Freeform 39"/>
              <p:cNvSpPr/>
              <p:nvPr/>
            </p:nvSpPr>
            <p:spPr>
              <a:xfrm>
                <a:off x="3819525" y="1883569"/>
                <a:ext cx="9525" cy="26194"/>
              </a:xfrm>
              <a:custGeom>
                <a:avLst/>
                <a:gdLst/>
                <a:ahLst/>
                <a:cxnLst/>
                <a:rect l="l" t="t" r="r" b="b"/>
                <a:pathLst>
                  <a:path w="9525" h="26194">
                    <a:moveTo>
                      <a:pt x="0" y="0"/>
                    </a:moveTo>
                    <a:lnTo>
                      <a:pt x="0" y="26194"/>
                    </a:lnTo>
                  </a:path>
                </a:pathLst>
              </a:custGeom>
              <a:noFill/>
              <a:ln w="19050">
                <a:solidFill>
                  <a:srgbClr val="60A5FA"/>
                </a:solidFill>
              </a:ln>
              <a:effectLst>
                <a:outerShdw blurRad="95250" dist="28575" dir="5400000" algn="ctr" rotWithShape="0">
                  <a:srgbClr val="000000">
                    <a:alpha val="26250"/>
                  </a:srgbClr>
                </a:outerShdw>
              </a:effectLst>
            </p:spPr>
          </p:sp>
        </p:grpSp>
        <p:sp>
          <p:nvSpPr>
            <p:cNvPr id="41" name="TextBox 41"/>
            <p:cNvSpPr txBox="1"/>
            <p:nvPr/>
          </p:nvSpPr>
          <p:spPr>
            <a:xfrm>
              <a:off x="3988594" y="1727597"/>
              <a:ext cx="234722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93C5FD"/>
                  </a:solidFill>
                  <a:latin typeface="Segoe UI"/>
                  <a:ea typeface="Microsoft YaHei"/>
                  <a:cs typeface="Segoe UI"/>
                </a:rPr>
                <a:t>Spring Cloud Gateway &amp; LoadBalancer</a:t>
              </a:r>
            </a:p>
          </p:txBody>
        </p:sp>
        <p:sp>
          <p:nvSpPr>
            <p:cNvPr id="42" name="TextBox 42"/>
            <p:cNvSpPr txBox="1"/>
            <p:nvPr/>
          </p:nvSpPr>
          <p:spPr>
            <a:xfrm>
              <a:off x="3990022" y="1920716"/>
              <a:ext cx="3227856"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BFDBFE"/>
                  </a:solidFill>
                  <a:latin typeface="Segoe UI"/>
                  <a:ea typeface="Microsoft YaHei"/>
                  <a:cs typeface="Segoe UI"/>
                </a:rPr>
                <a:t>Reverse Proxy · JWT Auth Filter · RateLimiter · Resilience4j</a:t>
              </a:r>
            </a:p>
          </p:txBody>
        </p:sp>
      </p:grpSp>
      <p:grpSp>
        <p:nvGrpSpPr>
          <p:cNvPr id="108" name="Group 108"/>
          <p:cNvGrpSpPr/>
          <p:nvPr/>
        </p:nvGrpSpPr>
        <p:grpSpPr>
          <a:xfrm>
            <a:off x="571500" y="2381250"/>
            <a:ext cx="6762750" cy="2381250"/>
            <a:chOff x="571500" y="2381250"/>
            <a:chExt cx="6762750" cy="2381250"/>
          </a:xfrm>
          <a:effectLst>
            <a:outerShdw blurRad="95250" dist="28575" dir="5400000" algn="ctr" rotWithShape="0">
              <a:srgbClr val="000000">
                <a:alpha val="26250"/>
              </a:srgbClr>
            </a:outerShdw>
          </a:effectLst>
        </p:grpSpPr>
        <p:sp>
          <p:nvSpPr>
            <p:cNvPr id="44" name="Rectangle 44"/>
            <p:cNvSpPr/>
            <p:nvPr/>
          </p:nvSpPr>
          <p:spPr>
            <a:xfrm>
              <a:off x="571500" y="2381250"/>
              <a:ext cx="6762750" cy="2381250"/>
            </a:xfrm>
            <a:prstGeom prst="roundRect">
              <a:avLst>
                <a:gd name="adj" fmla="val 4800"/>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45" name="Rectangle 45"/>
            <p:cNvSpPr/>
            <p:nvPr/>
          </p:nvSpPr>
          <p:spPr>
            <a:xfrm>
              <a:off x="571500" y="2381250"/>
              <a:ext cx="342900" cy="2381250"/>
            </a:xfrm>
            <a:prstGeom prst="roundRect">
              <a:avLst>
                <a:gd name="adj" fmla="val 33333"/>
              </a:avLst>
            </a:prstGeom>
            <a:solidFill>
              <a:srgbClr val="0D9488"/>
            </a:solidFill>
            <a:ln>
              <a:noFill/>
            </a:ln>
            <a:effectLst>
              <a:outerShdw blurRad="95250" dist="28575" dir="5400000" algn="ctr" rotWithShape="0">
                <a:srgbClr val="000000">
                  <a:alpha val="26250"/>
                </a:srgbClr>
              </a:outerShdw>
            </a:effectLst>
          </p:spPr>
        </p:sp>
        <p:sp>
          <p:nvSpPr>
            <p:cNvPr id="46" name="TextBox 46"/>
            <p:cNvSpPr txBox="1"/>
            <p:nvPr/>
          </p:nvSpPr>
          <p:spPr>
            <a:xfrm>
              <a:off x="642027" y="3498056"/>
              <a:ext cx="20184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FFFFFF"/>
                  </a:solidFill>
                  <a:latin typeface="Arial"/>
                  <a:ea typeface="Microsoft YaHei"/>
                  <a:cs typeface="Arial"/>
                </a:rPr>
                <a:t>L2</a:t>
              </a:r>
            </a:p>
          </p:txBody>
        </p:sp>
        <p:sp>
          <p:nvSpPr>
            <p:cNvPr id="47" name="TextBox 47"/>
            <p:cNvSpPr txBox="1"/>
            <p:nvPr/>
          </p:nvSpPr>
          <p:spPr>
            <a:xfrm>
              <a:off x="1035368" y="2514124"/>
              <a:ext cx="3594686"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2DD4BF"/>
                  </a:solidFill>
                  <a:latin typeface="Segoe UI"/>
                  <a:ea typeface="Microsoft YaHei"/>
                  <a:cs typeface="Segoe UI"/>
                </a:rPr>
                <a:t>BUSINESS MICROSERVICES &amp; SERVICE DISCOVERY (EUREKA)</a:t>
              </a:r>
            </a:p>
          </p:txBody>
        </p:sp>
        <p:sp>
          <p:nvSpPr>
            <p:cNvPr id="48" name="Rectangle 48"/>
            <p:cNvSpPr/>
            <p:nvPr/>
          </p:nvSpPr>
          <p:spPr>
            <a:xfrm>
              <a:off x="1047750" y="2743200"/>
              <a:ext cx="2952750" cy="323850"/>
            </a:xfrm>
            <a:prstGeom prst="roundRect">
              <a:avLst>
                <a:gd name="adj" fmla="val 17647"/>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58" name="Group 58"/>
            <p:cNvGrpSpPr/>
            <p:nvPr/>
          </p:nvGrpSpPr>
          <p:grpSpPr>
            <a:xfrm>
              <a:off x="1152525" y="2847975"/>
              <a:ext cx="114300" cy="114300"/>
              <a:chOff x="1152525" y="2847975"/>
              <a:chExt cx="114300" cy="114300"/>
            </a:xfrm>
          </p:grpSpPr>
          <p:sp>
            <p:nvSpPr>
              <p:cNvPr id="49" name="Freeform 49"/>
              <p:cNvSpPr/>
              <p:nvPr/>
            </p:nvSpPr>
            <p:spPr>
              <a:xfrm>
                <a:off x="1152525" y="2933700"/>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2DD4BF"/>
                </a:solidFill>
              </a:ln>
              <a:effectLst>
                <a:outerShdw blurRad="95250" dist="28575" dir="5400000" algn="ctr" rotWithShape="0">
                  <a:srgbClr val="000000">
                    <a:alpha val="26250"/>
                  </a:srgbClr>
                </a:outerShdw>
              </a:effectLst>
            </p:spPr>
          </p:sp>
          <p:sp>
            <p:nvSpPr>
              <p:cNvPr id="50" name="Freeform 50"/>
              <p:cNvSpPr/>
              <p:nvPr/>
            </p:nvSpPr>
            <p:spPr>
              <a:xfrm>
                <a:off x="1238250" y="2847975"/>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2DD4BF"/>
                </a:solidFill>
              </a:ln>
              <a:effectLst>
                <a:outerShdw blurRad="95250" dist="28575" dir="5400000" algn="ctr" rotWithShape="0">
                  <a:srgbClr val="000000">
                    <a:alpha val="26250"/>
                  </a:srgbClr>
                </a:outerShdw>
              </a:effectLst>
            </p:spPr>
          </p:sp>
          <p:sp>
            <p:nvSpPr>
              <p:cNvPr id="51" name="Freeform 51"/>
              <p:cNvSpPr/>
              <p:nvPr/>
            </p:nvSpPr>
            <p:spPr>
              <a:xfrm>
                <a:off x="1152525" y="2847975"/>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2DD4BF"/>
                </a:solidFill>
              </a:ln>
              <a:effectLst>
                <a:outerShdw blurRad="95250" dist="28575" dir="5400000" algn="ctr" rotWithShape="0">
                  <a:srgbClr val="000000">
                    <a:alpha val="26250"/>
                  </a:srgbClr>
                </a:outerShdw>
              </a:effectLst>
            </p:spPr>
          </p:sp>
          <p:sp>
            <p:nvSpPr>
              <p:cNvPr id="52" name="Freeform 52"/>
              <p:cNvSpPr/>
              <p:nvPr/>
            </p:nvSpPr>
            <p:spPr>
              <a:xfrm>
                <a:off x="1238250" y="2933700"/>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2DD4BF"/>
                </a:solidFill>
              </a:ln>
              <a:effectLst>
                <a:outerShdw blurRad="95250" dist="28575" dir="5400000" algn="ctr" rotWithShape="0">
                  <a:srgbClr val="000000">
                    <a:alpha val="26250"/>
                  </a:srgbClr>
                </a:outerShdw>
              </a:effectLst>
            </p:spPr>
          </p:sp>
          <p:sp>
            <p:nvSpPr>
              <p:cNvPr id="53" name="Freeform 53"/>
              <p:cNvSpPr/>
              <p:nvPr/>
            </p:nvSpPr>
            <p:spPr>
              <a:xfrm>
                <a:off x="1195388" y="2890838"/>
                <a:ext cx="28575" cy="28575"/>
              </a:xfrm>
              <a:custGeom>
                <a:avLst/>
                <a:gdLst/>
                <a:ahLst/>
                <a:cxnLst/>
                <a:rect l="l" t="t" r="r" b="b"/>
                <a:pathLst>
                  <a:path w="28575" h="28575">
                    <a:moveTo>
                      <a:pt x="28575" y="14288"/>
                    </a:moveTo>
                    <a:cubicBezTo>
                      <a:pt x="28575" y="6397"/>
                      <a:pt x="22178" y="0"/>
                      <a:pt x="14288" y="0"/>
                    </a:cubicBezTo>
                    <a:cubicBezTo>
                      <a:pt x="6397" y="0"/>
                      <a:pt x="0" y="6397"/>
                      <a:pt x="0" y="14288"/>
                    </a:cubicBezTo>
                    <a:cubicBezTo>
                      <a:pt x="0" y="22178"/>
                      <a:pt x="6397" y="28575"/>
                      <a:pt x="14288" y="28575"/>
                    </a:cubicBezTo>
                    <a:cubicBezTo>
                      <a:pt x="22178" y="28575"/>
                      <a:pt x="28575" y="22178"/>
                      <a:pt x="28575" y="14288"/>
                    </a:cubicBezTo>
                  </a:path>
                </a:pathLst>
              </a:custGeom>
              <a:noFill/>
              <a:ln w="19050">
                <a:solidFill>
                  <a:srgbClr val="2DD4BF"/>
                </a:solidFill>
              </a:ln>
              <a:effectLst>
                <a:outerShdw blurRad="95250" dist="28575" dir="5400000" algn="ctr" rotWithShape="0">
                  <a:srgbClr val="000000">
                    <a:alpha val="26250"/>
                  </a:srgbClr>
                </a:outerShdw>
              </a:effectLst>
            </p:spPr>
          </p:sp>
          <p:sp>
            <p:nvSpPr>
              <p:cNvPr id="54" name="Freeform 54"/>
              <p:cNvSpPr/>
              <p:nvPr/>
            </p:nvSpPr>
            <p:spPr>
              <a:xfrm>
                <a:off x="1177528" y="2872978"/>
                <a:ext cx="21431" cy="21431"/>
              </a:xfrm>
              <a:custGeom>
                <a:avLst/>
                <a:gdLst/>
                <a:ahLst/>
                <a:cxnLst/>
                <a:rect l="l" t="t" r="r" b="b"/>
                <a:pathLst>
                  <a:path w="21431" h="21431">
                    <a:moveTo>
                      <a:pt x="0" y="0"/>
                    </a:moveTo>
                    <a:lnTo>
                      <a:pt x="21431" y="21431"/>
                    </a:lnTo>
                  </a:path>
                </a:pathLst>
              </a:custGeom>
              <a:noFill/>
              <a:ln w="19050">
                <a:solidFill>
                  <a:srgbClr val="2DD4BF"/>
                </a:solidFill>
              </a:ln>
              <a:effectLst>
                <a:outerShdw blurRad="95250" dist="28575" dir="5400000" algn="ctr" rotWithShape="0">
                  <a:srgbClr val="000000">
                    <a:alpha val="26250"/>
                  </a:srgbClr>
                </a:outerShdw>
              </a:effectLst>
            </p:spPr>
          </p:sp>
          <p:sp>
            <p:nvSpPr>
              <p:cNvPr id="55" name="Freeform 55"/>
              <p:cNvSpPr/>
              <p:nvPr/>
            </p:nvSpPr>
            <p:spPr>
              <a:xfrm>
                <a:off x="1177528" y="2915841"/>
                <a:ext cx="21431" cy="21431"/>
              </a:xfrm>
              <a:custGeom>
                <a:avLst/>
                <a:gdLst/>
                <a:ahLst/>
                <a:cxnLst/>
                <a:rect l="l" t="t" r="r" b="b"/>
                <a:pathLst>
                  <a:path w="21431" h="21431">
                    <a:moveTo>
                      <a:pt x="0" y="21431"/>
                    </a:moveTo>
                    <a:lnTo>
                      <a:pt x="21431" y="0"/>
                    </a:lnTo>
                  </a:path>
                </a:pathLst>
              </a:custGeom>
              <a:noFill/>
              <a:ln w="19050">
                <a:solidFill>
                  <a:srgbClr val="2DD4BF"/>
                </a:solidFill>
              </a:ln>
              <a:effectLst>
                <a:outerShdw blurRad="95250" dist="28575" dir="5400000" algn="ctr" rotWithShape="0">
                  <a:srgbClr val="000000">
                    <a:alpha val="26250"/>
                  </a:srgbClr>
                </a:outerShdw>
              </a:effectLst>
            </p:spPr>
          </p:sp>
          <p:sp>
            <p:nvSpPr>
              <p:cNvPr id="56" name="Freeform 56"/>
              <p:cNvSpPr/>
              <p:nvPr/>
            </p:nvSpPr>
            <p:spPr>
              <a:xfrm>
                <a:off x="1220391" y="2915841"/>
                <a:ext cx="21431" cy="21431"/>
              </a:xfrm>
              <a:custGeom>
                <a:avLst/>
                <a:gdLst/>
                <a:ahLst/>
                <a:cxnLst/>
                <a:rect l="l" t="t" r="r" b="b"/>
                <a:pathLst>
                  <a:path w="21431" h="21431">
                    <a:moveTo>
                      <a:pt x="0" y="0"/>
                    </a:moveTo>
                    <a:lnTo>
                      <a:pt x="21431" y="21431"/>
                    </a:lnTo>
                  </a:path>
                </a:pathLst>
              </a:custGeom>
              <a:noFill/>
              <a:ln w="19050">
                <a:solidFill>
                  <a:srgbClr val="2DD4BF"/>
                </a:solidFill>
              </a:ln>
              <a:effectLst>
                <a:outerShdw blurRad="95250" dist="28575" dir="5400000" algn="ctr" rotWithShape="0">
                  <a:srgbClr val="000000">
                    <a:alpha val="26250"/>
                  </a:srgbClr>
                </a:outerShdw>
              </a:effectLst>
            </p:spPr>
          </p:sp>
          <p:sp>
            <p:nvSpPr>
              <p:cNvPr id="57" name="Freeform 57"/>
              <p:cNvSpPr/>
              <p:nvPr/>
            </p:nvSpPr>
            <p:spPr>
              <a:xfrm>
                <a:off x="1220391" y="2872978"/>
                <a:ext cx="21431" cy="21431"/>
              </a:xfrm>
              <a:custGeom>
                <a:avLst/>
                <a:gdLst/>
                <a:ahLst/>
                <a:cxnLst/>
                <a:rect l="l" t="t" r="r" b="b"/>
                <a:pathLst>
                  <a:path w="21431" h="21431">
                    <a:moveTo>
                      <a:pt x="21431" y="0"/>
                    </a:moveTo>
                    <a:lnTo>
                      <a:pt x="0" y="21431"/>
                    </a:lnTo>
                  </a:path>
                </a:pathLst>
              </a:custGeom>
              <a:noFill/>
              <a:ln w="19050">
                <a:solidFill>
                  <a:srgbClr val="2DD4BF"/>
                </a:solidFill>
              </a:ln>
              <a:effectLst>
                <a:outerShdw blurRad="95250" dist="28575" dir="5400000" algn="ctr" rotWithShape="0">
                  <a:srgbClr val="000000">
                    <a:alpha val="26250"/>
                  </a:srgbClr>
                </a:outerShdw>
              </a:effectLst>
            </p:spPr>
          </p:sp>
        </p:grpSp>
        <p:sp>
          <p:nvSpPr>
            <p:cNvPr id="59" name="TextBox 59"/>
            <p:cNvSpPr txBox="1"/>
            <p:nvPr/>
          </p:nvSpPr>
          <p:spPr>
            <a:xfrm>
              <a:off x="1341120" y="2855595"/>
              <a:ext cx="222813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Eureka Service Registry (Port 8761)</a:t>
              </a:r>
            </a:p>
          </p:txBody>
        </p:sp>
        <p:sp>
          <p:nvSpPr>
            <p:cNvPr id="60" name="Rectangle 60"/>
            <p:cNvSpPr/>
            <p:nvPr/>
          </p:nvSpPr>
          <p:spPr>
            <a:xfrm>
              <a:off x="4095750" y="2743200"/>
              <a:ext cx="3095625" cy="323850"/>
            </a:xfrm>
            <a:prstGeom prst="roundRect">
              <a:avLst>
                <a:gd name="adj" fmla="val 17647"/>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61" name="Freeform 61"/>
            <p:cNvSpPr/>
            <p:nvPr/>
          </p:nvSpPr>
          <p:spPr>
            <a:xfrm>
              <a:off x="4186238" y="2852904"/>
              <a:ext cx="142875" cy="95112"/>
            </a:xfrm>
            <a:custGeom>
              <a:avLst/>
              <a:gdLst/>
              <a:ahLst/>
              <a:cxnLst/>
              <a:rect l="l" t="t" r="r" b="b"/>
              <a:pathLst>
                <a:path w="142875" h="95112">
                  <a:moveTo>
                    <a:pt x="33268" y="95083"/>
                  </a:moveTo>
                  <a:cubicBezTo>
                    <a:pt x="14895" y="95083"/>
                    <a:pt x="0" y="80746"/>
                    <a:pt x="0" y="63058"/>
                  </a:cubicBezTo>
                  <a:cubicBezTo>
                    <a:pt x="0" y="45377"/>
                    <a:pt x="14895" y="31040"/>
                    <a:pt x="33268" y="31040"/>
                  </a:cubicBezTo>
                  <a:cubicBezTo>
                    <a:pt x="36076" y="18452"/>
                    <a:pt x="46084" y="8180"/>
                    <a:pt x="59522" y="4086"/>
                  </a:cubicBezTo>
                  <a:cubicBezTo>
                    <a:pt x="72952" y="0"/>
                    <a:pt x="87782" y="2707"/>
                    <a:pt x="98412" y="11230"/>
                  </a:cubicBezTo>
                  <a:cubicBezTo>
                    <a:pt x="109042" y="19731"/>
                    <a:pt x="113857" y="32711"/>
                    <a:pt x="111057" y="45299"/>
                  </a:cubicBezTo>
                  <a:lnTo>
                    <a:pt x="118129" y="45299"/>
                  </a:lnTo>
                  <a:cubicBezTo>
                    <a:pt x="131795" y="45299"/>
                    <a:pt x="142875" y="56443"/>
                    <a:pt x="142875" y="70202"/>
                  </a:cubicBezTo>
                  <a:cubicBezTo>
                    <a:pt x="142875" y="83968"/>
                    <a:pt x="131795" y="95112"/>
                    <a:pt x="118122" y="95112"/>
                  </a:cubicBezTo>
                  <a:lnTo>
                    <a:pt x="33268" y="95112"/>
                  </a:lnTo>
                </a:path>
              </a:pathLst>
            </a:custGeom>
            <a:noFill/>
            <a:ln w="19050">
              <a:solidFill>
                <a:srgbClr val="38BDF8"/>
              </a:solidFill>
            </a:ln>
            <a:effectLst>
              <a:outerShdw blurRad="95250" dist="28575" dir="5400000" algn="ctr" rotWithShape="0">
                <a:srgbClr val="000000">
                  <a:alpha val="26250"/>
                </a:srgbClr>
              </a:outerShdw>
            </a:effectLst>
          </p:spPr>
        </p:sp>
        <p:sp>
          <p:nvSpPr>
            <p:cNvPr id="62" name="TextBox 62"/>
            <p:cNvSpPr txBox="1"/>
            <p:nvPr/>
          </p:nvSpPr>
          <p:spPr>
            <a:xfrm>
              <a:off x="4389120" y="2855595"/>
              <a:ext cx="240455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Spring Cloud Config Server (Port 8888)</a:t>
              </a:r>
            </a:p>
          </p:txBody>
        </p:sp>
        <p:grpSp>
          <p:nvGrpSpPr>
            <p:cNvPr id="101" name="Group 101"/>
            <p:cNvGrpSpPr/>
            <p:nvPr/>
          </p:nvGrpSpPr>
          <p:grpSpPr>
            <a:xfrm>
              <a:off x="1047750" y="3162300"/>
              <a:ext cx="6143625" cy="704850"/>
              <a:chOff x="1047750" y="3162300"/>
              <a:chExt cx="6143625" cy="704850"/>
            </a:xfrm>
          </p:grpSpPr>
          <p:sp>
            <p:nvSpPr>
              <p:cNvPr id="63" name="Rectangle 63"/>
              <p:cNvSpPr/>
              <p:nvPr/>
            </p:nvSpPr>
            <p:spPr>
              <a:xfrm>
                <a:off x="1047750" y="3162300"/>
                <a:ext cx="1428750" cy="704850"/>
              </a:xfrm>
              <a:prstGeom prst="roundRect">
                <a:avLst>
                  <a:gd name="adj" fmla="val 10811"/>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64" name="Ellipse 64"/>
              <p:cNvSpPr/>
              <p:nvPr/>
            </p:nvSpPr>
            <p:spPr>
              <a:xfrm>
                <a:off x="1181100" y="3295650"/>
                <a:ext cx="190500" cy="190500"/>
              </a:xfrm>
              <a:prstGeom prst="ellipse">
                <a:avLst/>
              </a:prstGeom>
              <a:solidFill>
                <a:srgbClr val="1E3A8A"/>
              </a:solidFill>
              <a:ln>
                <a:noFill/>
              </a:ln>
              <a:effectLst>
                <a:outerShdw blurRad="95250" dist="28575" dir="5400000" algn="ctr" rotWithShape="0">
                  <a:srgbClr val="000000">
                    <a:alpha val="26250"/>
                  </a:srgbClr>
                </a:outerShdw>
              </a:effectLst>
            </p:spPr>
          </p:sp>
          <p:grpSp>
            <p:nvGrpSpPr>
              <p:cNvPr id="67" name="Group 67"/>
              <p:cNvGrpSpPr/>
              <p:nvPr/>
            </p:nvGrpSpPr>
            <p:grpSpPr>
              <a:xfrm>
                <a:off x="1210630" y="3333750"/>
                <a:ext cx="124004" cy="114300"/>
                <a:chOff x="1210630" y="3333750"/>
                <a:chExt cx="124004" cy="114300"/>
              </a:xfrm>
            </p:grpSpPr>
            <p:sp>
              <p:nvSpPr>
                <p:cNvPr id="65" name="Freeform 65"/>
                <p:cNvSpPr/>
                <p:nvPr/>
              </p:nvSpPr>
              <p:spPr>
                <a:xfrm>
                  <a:off x="1210630" y="3333750"/>
                  <a:ext cx="124004" cy="113322"/>
                </a:xfrm>
                <a:custGeom>
                  <a:avLst/>
                  <a:gdLst/>
                  <a:ahLst/>
                  <a:cxnLst/>
                  <a:rect l="l" t="t" r="r" b="b"/>
                  <a:pathLst>
                    <a:path w="124004" h="113322">
                      <a:moveTo>
                        <a:pt x="62291" y="113322"/>
                      </a:moveTo>
                      <a:cubicBezTo>
                        <a:pt x="22511" y="100991"/>
                        <a:pt x="0" y="59007"/>
                        <a:pt x="11745" y="19050"/>
                      </a:cubicBezTo>
                      <a:cubicBezTo>
                        <a:pt x="31528" y="19955"/>
                        <a:pt x="50887" y="13123"/>
                        <a:pt x="65720" y="0"/>
                      </a:cubicBezTo>
                      <a:cubicBezTo>
                        <a:pt x="80552" y="13123"/>
                        <a:pt x="99911" y="19955"/>
                        <a:pt x="119695" y="19050"/>
                      </a:cubicBezTo>
                      <a:cubicBezTo>
                        <a:pt x="124004" y="33713"/>
                        <a:pt x="123805" y="49333"/>
                        <a:pt x="119123" y="63881"/>
                      </a:cubicBezTo>
                    </a:path>
                  </a:pathLst>
                </a:custGeom>
                <a:noFill/>
                <a:ln w="19050">
                  <a:solidFill>
                    <a:srgbClr val="60A5FA"/>
                  </a:solidFill>
                </a:ln>
                <a:effectLst>
                  <a:outerShdw blurRad="95250" dist="28575" dir="5400000" algn="ctr" rotWithShape="0">
                    <a:srgbClr val="000000">
                      <a:alpha val="26250"/>
                    </a:srgbClr>
                  </a:outerShdw>
                </a:effectLst>
              </p:spPr>
            </p:sp>
            <p:sp>
              <p:nvSpPr>
                <p:cNvPr id="66" name="Freeform 66"/>
                <p:cNvSpPr/>
                <p:nvPr/>
              </p:nvSpPr>
              <p:spPr>
                <a:xfrm>
                  <a:off x="1295400" y="3422650"/>
                  <a:ext cx="38100" cy="25400"/>
                </a:xfrm>
                <a:custGeom>
                  <a:avLst/>
                  <a:gdLst/>
                  <a:ahLst/>
                  <a:cxnLst/>
                  <a:rect l="l" t="t" r="r" b="b"/>
                  <a:pathLst>
                    <a:path w="38100" h="25400">
                      <a:moveTo>
                        <a:pt x="0" y="12700"/>
                      </a:moveTo>
                      <a:lnTo>
                        <a:pt x="12700" y="25400"/>
                      </a:lnTo>
                      <a:lnTo>
                        <a:pt x="38100" y="0"/>
                      </a:lnTo>
                    </a:path>
                  </a:pathLst>
                </a:custGeom>
                <a:noFill/>
                <a:ln w="19050">
                  <a:solidFill>
                    <a:srgbClr val="60A5FA"/>
                  </a:solidFill>
                </a:ln>
                <a:effectLst>
                  <a:outerShdw blurRad="95250" dist="28575" dir="5400000" algn="ctr" rotWithShape="0">
                    <a:srgbClr val="000000">
                      <a:alpha val="26250"/>
                    </a:srgbClr>
                  </a:outerShdw>
                </a:effectLst>
              </p:spPr>
            </p:sp>
          </p:grpSp>
          <p:sp>
            <p:nvSpPr>
              <p:cNvPr id="68" name="TextBox 68"/>
              <p:cNvSpPr txBox="1"/>
              <p:nvPr/>
            </p:nvSpPr>
            <p:spPr>
              <a:xfrm>
                <a:off x="1436370" y="3312795"/>
                <a:ext cx="100578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Identity Service</a:t>
                </a:r>
              </a:p>
            </p:txBody>
          </p:sp>
          <p:sp>
            <p:nvSpPr>
              <p:cNvPr id="69" name="TextBox 69"/>
              <p:cNvSpPr txBox="1"/>
              <p:nvPr/>
            </p:nvSpPr>
            <p:spPr>
              <a:xfrm>
                <a:off x="1152049" y="3534489"/>
                <a:ext cx="1001875"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JWT Token Provider</a:t>
                </a:r>
              </a:p>
            </p:txBody>
          </p:sp>
          <p:sp>
            <p:nvSpPr>
              <p:cNvPr id="70" name="TextBox 70"/>
              <p:cNvSpPr txBox="1"/>
              <p:nvPr/>
            </p:nvSpPr>
            <p:spPr>
              <a:xfrm>
                <a:off x="1152049" y="3686889"/>
                <a:ext cx="1096387"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Login / Force-Logout</a:t>
                </a:r>
              </a:p>
            </p:txBody>
          </p:sp>
          <p:grpSp>
            <p:nvGrpSpPr>
              <p:cNvPr id="81" name="Group 81"/>
              <p:cNvGrpSpPr/>
              <p:nvPr/>
            </p:nvGrpSpPr>
            <p:grpSpPr>
              <a:xfrm>
                <a:off x="2571750" y="3162300"/>
                <a:ext cx="1482614" cy="704850"/>
                <a:chOff x="2571750" y="3162300"/>
                <a:chExt cx="1482614" cy="704850"/>
              </a:xfrm>
            </p:grpSpPr>
            <p:sp>
              <p:nvSpPr>
                <p:cNvPr id="71" name="Rectangle 71"/>
                <p:cNvSpPr/>
                <p:nvPr/>
              </p:nvSpPr>
              <p:spPr>
                <a:xfrm>
                  <a:off x="2571750" y="3162300"/>
                  <a:ext cx="1428750" cy="704850"/>
                </a:xfrm>
                <a:prstGeom prst="roundRect">
                  <a:avLst>
                    <a:gd name="adj" fmla="val 10811"/>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72" name="Ellipse 72"/>
                <p:cNvSpPr/>
                <p:nvPr/>
              </p:nvSpPr>
              <p:spPr>
                <a:xfrm>
                  <a:off x="2705100" y="3295650"/>
                  <a:ext cx="190500" cy="190500"/>
                </a:xfrm>
                <a:prstGeom prst="ellipse">
                  <a:avLst/>
                </a:prstGeom>
                <a:solidFill>
                  <a:srgbClr val="064E3B"/>
                </a:solidFill>
                <a:ln>
                  <a:noFill/>
                </a:ln>
                <a:effectLst>
                  <a:outerShdw blurRad="95250" dist="28575" dir="5400000" algn="ctr" rotWithShape="0">
                    <a:srgbClr val="000000">
                      <a:alpha val="26250"/>
                    </a:srgbClr>
                  </a:outerShdw>
                </a:effectLst>
              </p:spPr>
            </p:sp>
            <p:grpSp>
              <p:nvGrpSpPr>
                <p:cNvPr id="77" name="Group 77"/>
                <p:cNvGrpSpPr/>
                <p:nvPr/>
              </p:nvGrpSpPr>
              <p:grpSpPr>
                <a:xfrm>
                  <a:off x="2743200" y="3333750"/>
                  <a:ext cx="114300" cy="114300"/>
                  <a:chOff x="2743200" y="3333750"/>
                  <a:chExt cx="114300" cy="114300"/>
                </a:xfrm>
              </p:grpSpPr>
              <p:sp>
                <p:nvSpPr>
                  <p:cNvPr id="73" name="Freeform 73"/>
                  <p:cNvSpPr/>
                  <p:nvPr/>
                </p:nvSpPr>
                <p:spPr>
                  <a:xfrm>
                    <a:off x="2755900" y="33337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34D399"/>
                    </a:solidFill>
                  </a:ln>
                  <a:effectLst>
                    <a:outerShdw blurRad="95250" dist="28575" dir="5400000" algn="ctr" rotWithShape="0">
                      <a:srgbClr val="000000">
                        <a:alpha val="26250"/>
                      </a:srgbClr>
                    </a:outerShdw>
                  </a:effectLst>
                </p:spPr>
              </p:sp>
              <p:sp>
                <p:nvSpPr>
                  <p:cNvPr id="74" name="Freeform 74"/>
                  <p:cNvSpPr/>
                  <p:nvPr/>
                </p:nvSpPr>
                <p:spPr>
                  <a:xfrm>
                    <a:off x="2743200" y="3409950"/>
                    <a:ext cx="76200" cy="38100"/>
                  </a:xfrm>
                  <a:custGeom>
                    <a:avLst/>
                    <a:gdLst/>
                    <a:ahLst/>
                    <a:cxnLst/>
                    <a:rect l="l" t="t" r="r" b="b"/>
                    <a:pathLst>
                      <a:path w="76200" h="38100">
                        <a:moveTo>
                          <a:pt x="0" y="38100"/>
                        </a:moveTo>
                        <a:lnTo>
                          <a:pt x="0" y="25400"/>
                        </a:lnTo>
                        <a:cubicBezTo>
                          <a:pt x="0" y="11372"/>
                          <a:pt x="11372" y="0"/>
                          <a:pt x="25400" y="0"/>
                        </a:cubicBezTo>
                        <a:lnTo>
                          <a:pt x="50800" y="0"/>
                        </a:lnTo>
                        <a:cubicBezTo>
                          <a:pt x="64828" y="0"/>
                          <a:pt x="76200" y="11372"/>
                          <a:pt x="76200" y="25400"/>
                        </a:cubicBezTo>
                        <a:lnTo>
                          <a:pt x="76200" y="38100"/>
                        </a:lnTo>
                      </a:path>
                    </a:pathLst>
                  </a:custGeom>
                  <a:noFill/>
                  <a:ln w="19050">
                    <a:solidFill>
                      <a:srgbClr val="34D399"/>
                    </a:solidFill>
                  </a:ln>
                  <a:effectLst>
                    <a:outerShdw blurRad="95250" dist="28575" dir="5400000" algn="ctr" rotWithShape="0">
                      <a:srgbClr val="000000">
                        <a:alpha val="26250"/>
                      </a:srgbClr>
                    </a:outerShdw>
                  </a:effectLst>
                </p:spPr>
              </p:sp>
              <p:sp>
                <p:nvSpPr>
                  <p:cNvPr id="75" name="Freeform 75"/>
                  <p:cNvSpPr/>
                  <p:nvPr/>
                </p:nvSpPr>
                <p:spPr>
                  <a:xfrm>
                    <a:off x="2825750" y="3334576"/>
                    <a:ext cx="19100" cy="49213"/>
                  </a:xfrm>
                  <a:custGeom>
                    <a:avLst/>
                    <a:gdLst/>
                    <a:ahLst/>
                    <a:cxnLst/>
                    <a:rect l="l" t="t" r="r" b="b"/>
                    <a:pathLst>
                      <a:path w="19100" h="49213">
                        <a:moveTo>
                          <a:pt x="0" y="0"/>
                        </a:moveTo>
                        <a:cubicBezTo>
                          <a:pt x="11239" y="2878"/>
                          <a:pt x="19100" y="13005"/>
                          <a:pt x="19100" y="24606"/>
                        </a:cubicBezTo>
                        <a:cubicBezTo>
                          <a:pt x="19100" y="36208"/>
                          <a:pt x="11239" y="46335"/>
                          <a:pt x="0" y="49213"/>
                        </a:cubicBezTo>
                      </a:path>
                    </a:pathLst>
                  </a:custGeom>
                  <a:noFill/>
                  <a:ln w="19050">
                    <a:solidFill>
                      <a:srgbClr val="34D399"/>
                    </a:solidFill>
                  </a:ln>
                  <a:effectLst>
                    <a:outerShdw blurRad="95250" dist="28575" dir="5400000" algn="ctr" rotWithShape="0">
                      <a:srgbClr val="000000">
                        <a:alpha val="26250"/>
                      </a:srgbClr>
                    </a:outerShdw>
                  </a:effectLst>
                </p:spPr>
              </p:sp>
              <p:sp>
                <p:nvSpPr>
                  <p:cNvPr id="76" name="Freeform 76"/>
                  <p:cNvSpPr/>
                  <p:nvPr/>
                </p:nvSpPr>
                <p:spPr>
                  <a:xfrm>
                    <a:off x="2838450" y="3410902"/>
                    <a:ext cx="19050" cy="37147"/>
                  </a:xfrm>
                  <a:custGeom>
                    <a:avLst/>
                    <a:gdLst/>
                    <a:ahLst/>
                    <a:cxnLst/>
                    <a:rect l="l" t="t" r="r" b="b"/>
                    <a:pathLst>
                      <a:path w="19050" h="37147">
                        <a:moveTo>
                          <a:pt x="19050" y="37147"/>
                        </a:moveTo>
                        <a:lnTo>
                          <a:pt x="19050" y="24447"/>
                        </a:lnTo>
                        <a:cubicBezTo>
                          <a:pt x="18984" y="12920"/>
                          <a:pt x="11162" y="2882"/>
                          <a:pt x="0" y="0"/>
                        </a:cubicBezTo>
                      </a:path>
                    </a:pathLst>
                  </a:custGeom>
                  <a:noFill/>
                  <a:ln w="19050">
                    <a:solidFill>
                      <a:srgbClr val="34D399"/>
                    </a:solidFill>
                  </a:ln>
                  <a:effectLst>
                    <a:outerShdw blurRad="95250" dist="28575" dir="5400000" algn="ctr" rotWithShape="0">
                      <a:srgbClr val="000000">
                        <a:alpha val="26250"/>
                      </a:srgbClr>
                    </a:outerShdw>
                  </a:effectLst>
                </p:spPr>
              </p:sp>
            </p:grpSp>
            <p:sp>
              <p:nvSpPr>
                <p:cNvPr id="78" name="TextBox 78"/>
                <p:cNvSpPr txBox="1"/>
                <p:nvPr/>
              </p:nvSpPr>
              <p:spPr>
                <a:xfrm>
                  <a:off x="2960370" y="3312795"/>
                  <a:ext cx="109399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Customer Service</a:t>
                  </a:r>
                </a:p>
              </p:txBody>
            </p:sp>
            <p:sp>
              <p:nvSpPr>
                <p:cNvPr id="79" name="TextBox 79"/>
                <p:cNvSpPr txBox="1"/>
                <p:nvPr/>
              </p:nvSpPr>
              <p:spPr>
                <a:xfrm>
                  <a:off x="2676049" y="3534489"/>
                  <a:ext cx="1070134"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Hồ sơ khách hàng KYC</a:t>
                  </a:r>
                </a:p>
              </p:txBody>
            </p:sp>
            <p:sp>
              <p:nvSpPr>
                <p:cNvPr id="80" name="TextBox 80"/>
                <p:cNvSpPr txBox="1"/>
                <p:nvPr/>
              </p:nvSpPr>
              <p:spPr>
                <a:xfrm>
                  <a:off x="2676049" y="3686889"/>
                  <a:ext cx="891611"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Phân quyền Staff</a:t>
                  </a:r>
                </a:p>
              </p:txBody>
            </p:sp>
          </p:grpSp>
          <p:grpSp>
            <p:nvGrpSpPr>
              <p:cNvPr id="91" name="Group 91"/>
              <p:cNvGrpSpPr/>
              <p:nvPr/>
            </p:nvGrpSpPr>
            <p:grpSpPr>
              <a:xfrm>
                <a:off x="4095750" y="3162300"/>
                <a:ext cx="1428750" cy="704850"/>
                <a:chOff x="4095750" y="3162300"/>
                <a:chExt cx="1428750" cy="704850"/>
              </a:xfrm>
            </p:grpSpPr>
            <p:sp>
              <p:nvSpPr>
                <p:cNvPr id="82" name="Rectangle 82"/>
                <p:cNvSpPr/>
                <p:nvPr/>
              </p:nvSpPr>
              <p:spPr>
                <a:xfrm>
                  <a:off x="4095750" y="3162300"/>
                  <a:ext cx="1428750" cy="704850"/>
                </a:xfrm>
                <a:prstGeom prst="roundRect">
                  <a:avLst>
                    <a:gd name="adj" fmla="val 10811"/>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83" name="Ellipse 83"/>
                <p:cNvSpPr/>
                <p:nvPr/>
              </p:nvSpPr>
              <p:spPr>
                <a:xfrm>
                  <a:off x="4229100" y="3295650"/>
                  <a:ext cx="190500" cy="190500"/>
                </a:xfrm>
                <a:prstGeom prst="ellipse">
                  <a:avLst/>
                </a:prstGeom>
                <a:solidFill>
                  <a:srgbClr val="78350F"/>
                </a:solidFill>
                <a:ln>
                  <a:noFill/>
                </a:ln>
                <a:effectLst>
                  <a:outerShdw blurRad="95250" dist="28575" dir="5400000" algn="ctr" rotWithShape="0">
                    <a:srgbClr val="000000">
                      <a:alpha val="26250"/>
                    </a:srgbClr>
                  </a:outerShdw>
                </a:effectLst>
              </p:spPr>
            </p:sp>
            <p:grpSp>
              <p:nvGrpSpPr>
                <p:cNvPr id="87" name="Group 87"/>
                <p:cNvGrpSpPr/>
                <p:nvPr/>
              </p:nvGrpSpPr>
              <p:grpSpPr>
                <a:xfrm>
                  <a:off x="4273550" y="3333750"/>
                  <a:ext cx="101600" cy="114300"/>
                  <a:chOff x="4273550" y="3333750"/>
                  <a:chExt cx="101600" cy="114300"/>
                </a:xfrm>
              </p:grpSpPr>
              <p:sp>
                <p:nvSpPr>
                  <p:cNvPr id="84" name="Freeform 84"/>
                  <p:cNvSpPr/>
                  <p:nvPr/>
                </p:nvSpPr>
                <p:spPr>
                  <a:xfrm>
                    <a:off x="4273550" y="3333750"/>
                    <a:ext cx="101600" cy="38100"/>
                  </a:xfrm>
                  <a:custGeom>
                    <a:avLst/>
                    <a:gdLst/>
                    <a:ahLst/>
                    <a:cxnLst/>
                    <a:rect l="l" t="t" r="r" b="b"/>
                    <a:pathLst>
                      <a:path w="101600" h="38100">
                        <a:moveTo>
                          <a:pt x="0" y="19050"/>
                        </a:moveTo>
                        <a:cubicBezTo>
                          <a:pt x="0" y="29571"/>
                          <a:pt x="22744" y="38100"/>
                          <a:pt x="50800" y="38100"/>
                        </a:cubicBezTo>
                        <a:cubicBezTo>
                          <a:pt x="78856" y="38100"/>
                          <a:pt x="101600" y="29571"/>
                          <a:pt x="101600" y="19050"/>
                        </a:cubicBezTo>
                        <a:cubicBezTo>
                          <a:pt x="101600" y="8529"/>
                          <a:pt x="78856" y="0"/>
                          <a:pt x="50800" y="0"/>
                        </a:cubicBezTo>
                        <a:cubicBezTo>
                          <a:pt x="22744" y="0"/>
                          <a:pt x="0" y="8529"/>
                          <a:pt x="0" y="19050"/>
                        </a:cubicBezTo>
                      </a:path>
                    </a:pathLst>
                  </a:custGeom>
                  <a:noFill/>
                  <a:ln w="19050">
                    <a:solidFill>
                      <a:srgbClr val="FBBF24"/>
                    </a:solidFill>
                  </a:ln>
                  <a:effectLst>
                    <a:outerShdw blurRad="95250" dist="28575" dir="5400000" algn="ctr" rotWithShape="0">
                      <a:srgbClr val="000000">
                        <a:alpha val="26250"/>
                      </a:srgbClr>
                    </a:outerShdw>
                  </a:effectLst>
                </p:spPr>
              </p:sp>
              <p:sp>
                <p:nvSpPr>
                  <p:cNvPr id="85" name="Freeform 85"/>
                  <p:cNvSpPr/>
                  <p:nvPr/>
                </p:nvSpPr>
                <p:spPr>
                  <a:xfrm>
                    <a:off x="4273550" y="3352800"/>
                    <a:ext cx="101600" cy="57150"/>
                  </a:xfrm>
                  <a:custGeom>
                    <a:avLst/>
                    <a:gdLst/>
                    <a:ahLst/>
                    <a:cxnLst/>
                    <a:rect l="l" t="t" r="r" b="b"/>
                    <a:pathLst>
                      <a:path w="101600" h="57150">
                        <a:moveTo>
                          <a:pt x="0" y="0"/>
                        </a:moveTo>
                        <a:lnTo>
                          <a:pt x="0" y="38100"/>
                        </a:lnTo>
                        <a:cubicBezTo>
                          <a:pt x="0" y="48621"/>
                          <a:pt x="22744" y="57150"/>
                          <a:pt x="50800" y="57150"/>
                        </a:cubicBezTo>
                        <a:cubicBezTo>
                          <a:pt x="78856" y="57150"/>
                          <a:pt x="101600" y="48621"/>
                          <a:pt x="101600" y="38100"/>
                        </a:cubicBezTo>
                        <a:lnTo>
                          <a:pt x="101600" y="0"/>
                        </a:lnTo>
                      </a:path>
                    </a:pathLst>
                  </a:custGeom>
                  <a:noFill/>
                  <a:ln w="19050">
                    <a:solidFill>
                      <a:srgbClr val="FBBF24"/>
                    </a:solidFill>
                  </a:ln>
                  <a:effectLst>
                    <a:outerShdw blurRad="95250" dist="28575" dir="5400000" algn="ctr" rotWithShape="0">
                      <a:srgbClr val="000000">
                        <a:alpha val="26250"/>
                      </a:srgbClr>
                    </a:outerShdw>
                  </a:effectLst>
                </p:spPr>
              </p:sp>
              <p:sp>
                <p:nvSpPr>
                  <p:cNvPr id="86" name="Freeform 86"/>
                  <p:cNvSpPr/>
                  <p:nvPr/>
                </p:nvSpPr>
                <p:spPr>
                  <a:xfrm>
                    <a:off x="4273550" y="3390900"/>
                    <a:ext cx="101600" cy="57150"/>
                  </a:xfrm>
                  <a:custGeom>
                    <a:avLst/>
                    <a:gdLst/>
                    <a:ahLst/>
                    <a:cxnLst/>
                    <a:rect l="l" t="t" r="r" b="b"/>
                    <a:pathLst>
                      <a:path w="101600" h="57150">
                        <a:moveTo>
                          <a:pt x="0" y="0"/>
                        </a:moveTo>
                        <a:lnTo>
                          <a:pt x="0" y="38100"/>
                        </a:lnTo>
                        <a:cubicBezTo>
                          <a:pt x="0" y="48621"/>
                          <a:pt x="22744" y="57150"/>
                          <a:pt x="50800" y="57150"/>
                        </a:cubicBezTo>
                        <a:cubicBezTo>
                          <a:pt x="78856" y="57150"/>
                          <a:pt x="101600" y="48621"/>
                          <a:pt x="101600" y="38100"/>
                        </a:cubicBezTo>
                        <a:lnTo>
                          <a:pt x="101600" y="0"/>
                        </a:lnTo>
                      </a:path>
                    </a:pathLst>
                  </a:custGeom>
                  <a:noFill/>
                  <a:ln w="19050">
                    <a:solidFill>
                      <a:srgbClr val="FBBF24"/>
                    </a:solidFill>
                  </a:ln>
                  <a:effectLst>
                    <a:outerShdw blurRad="95250" dist="28575" dir="5400000" algn="ctr" rotWithShape="0">
                      <a:srgbClr val="000000">
                        <a:alpha val="26250"/>
                      </a:srgbClr>
                    </a:outerShdw>
                  </a:effectLst>
                </p:spPr>
              </p:sp>
            </p:grpSp>
            <p:sp>
              <p:nvSpPr>
                <p:cNvPr id="88" name="TextBox 88"/>
                <p:cNvSpPr txBox="1"/>
                <p:nvPr/>
              </p:nvSpPr>
              <p:spPr>
                <a:xfrm>
                  <a:off x="4484370" y="3312795"/>
                  <a:ext cx="99948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Account Service</a:t>
                  </a:r>
                </a:p>
              </p:txBody>
            </p:sp>
            <p:sp>
              <p:nvSpPr>
                <p:cNvPr id="89" name="TextBox 89"/>
                <p:cNvSpPr txBox="1"/>
                <p:nvPr/>
              </p:nvSpPr>
              <p:spPr>
                <a:xfrm>
                  <a:off x="4200049" y="3534489"/>
                  <a:ext cx="1106888"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Số dư &amp; Loại tài khoản</a:t>
                  </a:r>
                </a:p>
              </p:txBody>
            </p:sp>
            <p:sp>
              <p:nvSpPr>
                <p:cNvPr id="90" name="TextBox 90"/>
                <p:cNvSpPr txBox="1"/>
                <p:nvPr/>
              </p:nvSpPr>
              <p:spPr>
                <a:xfrm>
                  <a:off x="4200049" y="3686889"/>
                  <a:ext cx="965121"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Ghi nợ / Ghi có ACID</a:t>
                  </a:r>
                </a:p>
              </p:txBody>
            </p:sp>
          </p:grpSp>
          <p:grpSp>
            <p:nvGrpSpPr>
              <p:cNvPr id="100" name="Group 100"/>
              <p:cNvGrpSpPr/>
              <p:nvPr/>
            </p:nvGrpSpPr>
            <p:grpSpPr>
              <a:xfrm>
                <a:off x="5619750" y="3162300"/>
                <a:ext cx="1571625" cy="704850"/>
                <a:chOff x="5619750" y="3162300"/>
                <a:chExt cx="1571625" cy="704850"/>
              </a:xfrm>
            </p:grpSpPr>
            <p:sp>
              <p:nvSpPr>
                <p:cNvPr id="92" name="Rectangle 92"/>
                <p:cNvSpPr/>
                <p:nvPr/>
              </p:nvSpPr>
              <p:spPr>
                <a:xfrm>
                  <a:off x="5619750" y="3162300"/>
                  <a:ext cx="1571625" cy="704850"/>
                </a:xfrm>
                <a:prstGeom prst="roundRect">
                  <a:avLst>
                    <a:gd name="adj" fmla="val 10811"/>
                  </a:avLst>
                </a:prstGeom>
                <a:solidFill>
                  <a:srgbClr val="0F172A"/>
                </a:solidFill>
                <a:ln w="14288">
                  <a:solidFill>
                    <a:srgbClr val="2563EB"/>
                  </a:solidFill>
                </a:ln>
                <a:effectLst>
                  <a:outerShdw blurRad="95250" dist="28575" dir="5400000" algn="ctr" rotWithShape="0">
                    <a:srgbClr val="000000">
                      <a:alpha val="26250"/>
                    </a:srgbClr>
                  </a:outerShdw>
                </a:effectLst>
              </p:spPr>
            </p:sp>
            <p:sp>
              <p:nvSpPr>
                <p:cNvPr id="93" name="Ellipse 93"/>
                <p:cNvSpPr/>
                <p:nvPr/>
              </p:nvSpPr>
              <p:spPr>
                <a:xfrm>
                  <a:off x="5753100" y="3295650"/>
                  <a:ext cx="190500" cy="190500"/>
                </a:xfrm>
                <a:prstGeom prst="ellipse">
                  <a:avLst/>
                </a:prstGeom>
                <a:solidFill>
                  <a:srgbClr val="1E3A8A"/>
                </a:solidFill>
                <a:ln>
                  <a:noFill/>
                </a:ln>
                <a:effectLst>
                  <a:outerShdw blurRad="95250" dist="28575" dir="5400000" algn="ctr" rotWithShape="0">
                    <a:srgbClr val="000000">
                      <a:alpha val="26250"/>
                    </a:srgbClr>
                  </a:outerShdw>
                </a:effectLst>
              </p:spPr>
            </p:sp>
            <p:grpSp>
              <p:nvGrpSpPr>
                <p:cNvPr id="96" name="Group 96"/>
                <p:cNvGrpSpPr/>
                <p:nvPr/>
              </p:nvGrpSpPr>
              <p:grpSpPr>
                <a:xfrm>
                  <a:off x="5797550" y="3337650"/>
                  <a:ext cx="101600" cy="106500"/>
                  <a:chOff x="5797550" y="3337650"/>
                  <a:chExt cx="101600" cy="106500"/>
                </a:xfrm>
              </p:grpSpPr>
              <p:sp>
                <p:nvSpPr>
                  <p:cNvPr id="94" name="Freeform 94"/>
                  <p:cNvSpPr/>
                  <p:nvPr/>
                </p:nvSpPr>
                <p:spPr>
                  <a:xfrm>
                    <a:off x="5797550" y="3337650"/>
                    <a:ext cx="101600" cy="46900"/>
                  </a:xfrm>
                  <a:custGeom>
                    <a:avLst/>
                    <a:gdLst/>
                    <a:ahLst/>
                    <a:cxnLst/>
                    <a:rect l="l" t="t" r="r" b="b"/>
                    <a:pathLst>
                      <a:path w="101600" h="46900">
                        <a:moveTo>
                          <a:pt x="101600" y="46900"/>
                        </a:moveTo>
                        <a:cubicBezTo>
                          <a:pt x="98408" y="23929"/>
                          <a:pt x="80238" y="5936"/>
                          <a:pt x="57237" y="2968"/>
                        </a:cubicBezTo>
                        <a:cubicBezTo>
                          <a:pt x="34236" y="0"/>
                          <a:pt x="12094" y="12792"/>
                          <a:pt x="3175" y="34200"/>
                        </a:cubicBezTo>
                        <a:moveTo>
                          <a:pt x="0" y="8800"/>
                        </a:moveTo>
                        <a:lnTo>
                          <a:pt x="0" y="34200"/>
                        </a:lnTo>
                        <a:lnTo>
                          <a:pt x="25400" y="34200"/>
                        </a:lnTo>
                      </a:path>
                    </a:pathLst>
                  </a:custGeom>
                  <a:noFill/>
                  <a:ln w="19050">
                    <a:solidFill>
                      <a:srgbClr val="38BDF8"/>
                    </a:solidFill>
                  </a:ln>
                  <a:effectLst>
                    <a:outerShdw blurRad="95250" dist="28575" dir="5400000" algn="ctr" rotWithShape="0">
                      <a:srgbClr val="000000">
                        <a:alpha val="26250"/>
                      </a:srgbClr>
                    </a:outerShdw>
                  </a:effectLst>
                </p:spPr>
              </p:sp>
              <p:sp>
                <p:nvSpPr>
                  <p:cNvPr id="95" name="Freeform 95"/>
                  <p:cNvSpPr/>
                  <p:nvPr/>
                </p:nvSpPr>
                <p:spPr>
                  <a:xfrm>
                    <a:off x="5797550" y="3397250"/>
                    <a:ext cx="101600" cy="46900"/>
                  </a:xfrm>
                  <a:custGeom>
                    <a:avLst/>
                    <a:gdLst/>
                    <a:ahLst/>
                    <a:cxnLst/>
                    <a:rect l="l" t="t" r="r" b="b"/>
                    <a:pathLst>
                      <a:path w="101600" h="46900">
                        <a:moveTo>
                          <a:pt x="0" y="0"/>
                        </a:moveTo>
                        <a:cubicBezTo>
                          <a:pt x="3192" y="22971"/>
                          <a:pt x="21362" y="40964"/>
                          <a:pt x="44363" y="43932"/>
                        </a:cubicBezTo>
                        <a:cubicBezTo>
                          <a:pt x="67364" y="46900"/>
                          <a:pt x="89506" y="34108"/>
                          <a:pt x="98425" y="12700"/>
                        </a:cubicBezTo>
                        <a:moveTo>
                          <a:pt x="101600" y="38100"/>
                        </a:moveTo>
                        <a:lnTo>
                          <a:pt x="101600" y="12700"/>
                        </a:lnTo>
                        <a:lnTo>
                          <a:pt x="76200" y="12700"/>
                        </a:lnTo>
                      </a:path>
                    </a:pathLst>
                  </a:custGeom>
                  <a:noFill/>
                  <a:ln w="19050">
                    <a:solidFill>
                      <a:srgbClr val="38BDF8"/>
                    </a:solidFill>
                  </a:ln>
                  <a:effectLst>
                    <a:outerShdw blurRad="95250" dist="28575" dir="5400000" algn="ctr" rotWithShape="0">
                      <a:srgbClr val="000000">
                        <a:alpha val="26250"/>
                      </a:srgbClr>
                    </a:outerShdw>
                  </a:effectLst>
                </p:spPr>
              </p:sp>
            </p:grpSp>
            <p:sp>
              <p:nvSpPr>
                <p:cNvPr id="97" name="TextBox 97"/>
                <p:cNvSpPr txBox="1"/>
                <p:nvPr/>
              </p:nvSpPr>
              <p:spPr>
                <a:xfrm>
                  <a:off x="6008370" y="3312795"/>
                  <a:ext cx="99948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Transaction Svc</a:t>
                  </a:r>
                </a:p>
              </p:txBody>
            </p:sp>
            <p:sp>
              <p:nvSpPr>
                <p:cNvPr id="98" name="TextBox 98"/>
                <p:cNvSpPr txBox="1"/>
                <p:nvPr/>
              </p:nvSpPr>
              <p:spPr>
                <a:xfrm>
                  <a:off x="5724049" y="3534489"/>
                  <a:ext cx="996625"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Saga Orchestrator</a:t>
                  </a:r>
                </a:p>
              </p:txBody>
            </p:sp>
            <p:sp>
              <p:nvSpPr>
                <p:cNvPr id="99" name="TextBox 99"/>
                <p:cNvSpPr txBox="1"/>
                <p:nvPr/>
              </p:nvSpPr>
              <p:spPr>
                <a:xfrm>
                  <a:off x="5724049" y="3686889"/>
                  <a:ext cx="1043880" cy="1600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788" dirty="0">
                      <a:solidFill>
                        <a:srgbClr val="94A3B8"/>
                      </a:solidFill>
                      <a:latin typeface="Segoe UI"/>
                      <a:ea typeface="Microsoft YaHei"/>
                      <a:cs typeface="Segoe UI"/>
                    </a:rPr>
                    <a:t>Chuyển khoản liên TK</a:t>
                  </a:r>
                </a:p>
              </p:txBody>
            </p:sp>
          </p:grpSp>
        </p:grpSp>
        <p:sp>
          <p:nvSpPr>
            <p:cNvPr id="102" name="Rectangle 102"/>
            <p:cNvSpPr/>
            <p:nvPr/>
          </p:nvSpPr>
          <p:spPr>
            <a:xfrm>
              <a:off x="1047750" y="3981450"/>
              <a:ext cx="6048375" cy="666750"/>
            </a:xfrm>
            <a:prstGeom prst="roundRect">
              <a:avLst>
                <a:gd name="adj" fmla="val 11429"/>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103" name="TextBox 103"/>
            <p:cNvSpPr txBox="1"/>
            <p:nvPr/>
          </p:nvSpPr>
          <p:spPr>
            <a:xfrm>
              <a:off x="1179195" y="4074795"/>
              <a:ext cx="190679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94A3B8"/>
                  </a:solidFill>
                  <a:latin typeface="Segoe UI"/>
                  <a:ea typeface="Microsoft YaHei"/>
                  <a:cs typeface="Segoe UI"/>
                </a:rPr>
                <a:t>GIAO THỨC TRUYỀN THÔNG NỘI BỘ:</a:t>
              </a:r>
            </a:p>
          </p:txBody>
        </p:sp>
        <p:sp>
          <p:nvSpPr>
            <p:cNvPr id="104" name="Ellipse 104"/>
            <p:cNvSpPr/>
            <p:nvPr/>
          </p:nvSpPr>
          <p:spPr>
            <a:xfrm>
              <a:off x="1200150" y="4324350"/>
              <a:ext cx="76200" cy="76200"/>
            </a:xfrm>
            <a:prstGeom prst="ellipse">
              <a:avLst/>
            </a:prstGeom>
            <a:solidFill>
              <a:srgbClr val="06B6D4"/>
            </a:solidFill>
            <a:ln>
              <a:noFill/>
            </a:ln>
            <a:effectLst>
              <a:outerShdw blurRad="95250" dist="28575" dir="5400000" algn="ctr" rotWithShape="0">
                <a:srgbClr val="000000">
                  <a:alpha val="26250"/>
                </a:srgbClr>
              </a:outerShdw>
            </a:effectLst>
          </p:spPr>
        </p:sp>
        <p:sp>
          <p:nvSpPr>
            <p:cNvPr id="105" name="TextBox 105"/>
            <p:cNvSpPr txBox="1"/>
            <p:nvPr/>
          </p:nvSpPr>
          <p:spPr>
            <a:xfrm>
              <a:off x="1341596" y="4307443"/>
              <a:ext cx="499627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06B6D4"/>
                  </a:solidFill>
                  <a:latin typeface="Segoe UI"/>
                  <a:ea typeface="Microsoft YaHei"/>
                  <a:cs typeface="Segoe UI"/>
                </a:rPr>
                <a:t>Spring Cloud OpenFeign:</a:t>
              </a:r>
              <a:r>
                <a:rPr lang="zh-CN" sz="862" dirty="0">
                  <a:solidFill>
                    <a:srgbClr val="F8FAFC"/>
                  </a:solidFill>
                  <a:latin typeface="Segoe UI"/>
                  <a:ea typeface="Microsoft YaHei"/>
                  <a:cs typeface="Segoe UI"/>
                </a:rPr>
                <a:t xml:space="preserve"> Gọi REST API đồng bộ giữa các microservice (kèm Circuit Breaker)</a:t>
              </a:r>
            </a:p>
          </p:txBody>
        </p:sp>
        <p:sp>
          <p:nvSpPr>
            <p:cNvPr id="106" name="Ellipse 106"/>
            <p:cNvSpPr/>
            <p:nvPr/>
          </p:nvSpPr>
          <p:spPr>
            <a:xfrm>
              <a:off x="1200150" y="4495800"/>
              <a:ext cx="76200" cy="76200"/>
            </a:xfrm>
            <a:prstGeom prst="ellipse">
              <a:avLst/>
            </a:prstGeom>
            <a:solidFill>
              <a:srgbClr val="10B981"/>
            </a:solidFill>
            <a:ln>
              <a:noFill/>
            </a:ln>
            <a:effectLst>
              <a:outerShdw blurRad="95250" dist="28575" dir="5400000" algn="ctr" rotWithShape="0">
                <a:srgbClr val="000000">
                  <a:alpha val="26250"/>
                </a:srgbClr>
              </a:outerShdw>
            </a:effectLst>
          </p:spPr>
        </p:sp>
        <p:sp>
          <p:nvSpPr>
            <p:cNvPr id="107" name="TextBox 107"/>
            <p:cNvSpPr txBox="1"/>
            <p:nvPr/>
          </p:nvSpPr>
          <p:spPr>
            <a:xfrm>
              <a:off x="1341596" y="4478893"/>
              <a:ext cx="523205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10B981"/>
                  </a:solidFill>
                  <a:latin typeface="Segoe UI"/>
                  <a:ea typeface="Microsoft YaHei"/>
                  <a:cs typeface="Segoe UI"/>
                </a:rPr>
                <a:t>Apache Kafka Event:</a:t>
              </a:r>
              <a:r>
                <a:rPr lang="zh-CN" sz="862" dirty="0">
                  <a:solidFill>
                    <a:srgbClr val="F8FAFC"/>
                  </a:solidFill>
                  <a:latin typeface="Segoe UI"/>
                  <a:ea typeface="Microsoft YaHei"/>
                  <a:cs typeface="Segoe UI"/>
                </a:rPr>
                <a:t xml:space="preserve"> Luồng sự kiện giao dịch phân tán phi đồng bộ đảm bảo nhất quán cuối cùng</a:t>
              </a:r>
            </a:p>
          </p:txBody>
        </p:sp>
      </p:grpSp>
      <p:grpSp>
        <p:nvGrpSpPr>
          <p:cNvPr id="139" name="Group 139"/>
          <p:cNvGrpSpPr/>
          <p:nvPr/>
        </p:nvGrpSpPr>
        <p:grpSpPr>
          <a:xfrm>
            <a:off x="571500" y="4857750"/>
            <a:ext cx="6762750" cy="1428750"/>
            <a:chOff x="571500" y="4857750"/>
            <a:chExt cx="6762750" cy="1428750"/>
          </a:xfrm>
          <a:effectLst>
            <a:outerShdw blurRad="95250" dist="28575" dir="5400000" algn="ctr" rotWithShape="0">
              <a:srgbClr val="000000">
                <a:alpha val="26250"/>
              </a:srgbClr>
            </a:outerShdw>
          </a:effectLst>
        </p:grpSpPr>
        <p:sp>
          <p:nvSpPr>
            <p:cNvPr id="109" name="Rectangle 109"/>
            <p:cNvSpPr/>
            <p:nvPr/>
          </p:nvSpPr>
          <p:spPr>
            <a:xfrm>
              <a:off x="571500" y="4857750"/>
              <a:ext cx="6762750" cy="1428750"/>
            </a:xfrm>
            <a:prstGeom prst="roundRect">
              <a:avLst>
                <a:gd name="adj" fmla="val 8000"/>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110" name="Rectangle 110"/>
            <p:cNvSpPr/>
            <p:nvPr/>
          </p:nvSpPr>
          <p:spPr>
            <a:xfrm>
              <a:off x="571500" y="4857750"/>
              <a:ext cx="342900" cy="1428750"/>
            </a:xfrm>
            <a:prstGeom prst="roundRect">
              <a:avLst>
                <a:gd name="adj" fmla="val 33333"/>
              </a:avLst>
            </a:prstGeom>
            <a:solidFill>
              <a:srgbClr val="7C3AED"/>
            </a:solidFill>
            <a:ln>
              <a:noFill/>
            </a:ln>
            <a:effectLst>
              <a:outerShdw blurRad="95250" dist="28575" dir="5400000" algn="ctr" rotWithShape="0">
                <a:srgbClr val="000000">
                  <a:alpha val="26250"/>
                </a:srgbClr>
              </a:outerShdw>
            </a:effectLst>
          </p:spPr>
        </p:sp>
        <p:sp>
          <p:nvSpPr>
            <p:cNvPr id="111" name="TextBox 111"/>
            <p:cNvSpPr txBox="1"/>
            <p:nvPr/>
          </p:nvSpPr>
          <p:spPr>
            <a:xfrm>
              <a:off x="642027" y="5498306"/>
              <a:ext cx="20184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FFFFFF"/>
                  </a:solidFill>
                  <a:latin typeface="Arial"/>
                  <a:ea typeface="Microsoft YaHei"/>
                  <a:cs typeface="Arial"/>
                </a:rPr>
                <a:t>L3</a:t>
              </a:r>
            </a:p>
          </p:txBody>
        </p:sp>
        <p:sp>
          <p:nvSpPr>
            <p:cNvPr id="112" name="TextBox 112"/>
            <p:cNvSpPr txBox="1"/>
            <p:nvPr/>
          </p:nvSpPr>
          <p:spPr>
            <a:xfrm>
              <a:off x="1035368" y="4981099"/>
              <a:ext cx="3424040"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C4B5FD"/>
                  </a:solidFill>
                  <a:latin typeface="Segoe UI"/>
                  <a:ea typeface="Microsoft YaHei"/>
                  <a:cs typeface="Segoe UI"/>
                </a:rPr>
                <a:t>DATA PERSISTENCE, EVENT STREAMING &amp; CACHING LAYER</a:t>
              </a:r>
            </a:p>
          </p:txBody>
        </p:sp>
        <p:grpSp>
          <p:nvGrpSpPr>
            <p:cNvPr id="138" name="Group 138"/>
            <p:cNvGrpSpPr/>
            <p:nvPr/>
          </p:nvGrpSpPr>
          <p:grpSpPr>
            <a:xfrm>
              <a:off x="1047750" y="5191125"/>
              <a:ext cx="6048375" cy="952500"/>
              <a:chOff x="1047750" y="5191125"/>
              <a:chExt cx="6048375" cy="952500"/>
            </a:xfrm>
          </p:grpSpPr>
          <p:sp>
            <p:nvSpPr>
              <p:cNvPr id="113" name="Rectangle 113"/>
              <p:cNvSpPr/>
              <p:nvPr/>
            </p:nvSpPr>
            <p:spPr>
              <a:xfrm>
                <a:off x="1047750" y="5191125"/>
                <a:ext cx="1905000" cy="952500"/>
              </a:xfrm>
              <a:prstGeom prst="roundRect">
                <a:avLst>
                  <a:gd name="adj" fmla="val 8000"/>
                </a:avLst>
              </a:prstGeom>
              <a:solidFill>
                <a:srgbClr val="1E293B"/>
              </a:solidFill>
              <a:ln w="9525">
                <a:solidFill>
                  <a:srgbClr val="334155"/>
                </a:solidFill>
              </a:ln>
              <a:effectLst>
                <a:outerShdw blurRad="95250" dist="28575" dir="5400000" algn="ctr" rotWithShape="0">
                  <a:srgbClr val="000000">
                    <a:alpha val="26250"/>
                  </a:srgbClr>
                </a:outerShdw>
              </a:effectLst>
            </p:spPr>
          </p:sp>
          <p:grpSp>
            <p:nvGrpSpPr>
              <p:cNvPr id="117" name="Group 117"/>
              <p:cNvGrpSpPr/>
              <p:nvPr/>
            </p:nvGrpSpPr>
            <p:grpSpPr>
              <a:xfrm>
                <a:off x="1193800" y="5329238"/>
                <a:ext cx="127000" cy="142875"/>
                <a:chOff x="1193800" y="5329238"/>
                <a:chExt cx="127000" cy="142875"/>
              </a:xfrm>
            </p:grpSpPr>
            <p:sp>
              <p:nvSpPr>
                <p:cNvPr id="114" name="Freeform 114"/>
                <p:cNvSpPr/>
                <p:nvPr/>
              </p:nvSpPr>
              <p:spPr>
                <a:xfrm>
                  <a:off x="1193800" y="5329238"/>
                  <a:ext cx="127000" cy="47625"/>
                </a:xfrm>
                <a:custGeom>
                  <a:avLst/>
                  <a:gdLst/>
                  <a:ahLst/>
                  <a:cxnLst/>
                  <a:rect l="l" t="t" r="r" b="b"/>
                  <a:pathLst>
                    <a:path w="127000" h="47625">
                      <a:moveTo>
                        <a:pt x="0" y="23812"/>
                      </a:moveTo>
                      <a:cubicBezTo>
                        <a:pt x="0" y="36964"/>
                        <a:pt x="28430" y="47625"/>
                        <a:pt x="63500" y="47625"/>
                      </a:cubicBezTo>
                      <a:cubicBezTo>
                        <a:pt x="98570" y="47625"/>
                        <a:pt x="127000" y="36964"/>
                        <a:pt x="127000" y="23812"/>
                      </a:cubicBezTo>
                      <a:cubicBezTo>
                        <a:pt x="127000" y="10661"/>
                        <a:pt x="98570" y="0"/>
                        <a:pt x="63500" y="0"/>
                      </a:cubicBezTo>
                      <a:cubicBezTo>
                        <a:pt x="28430" y="0"/>
                        <a:pt x="0" y="10661"/>
                        <a:pt x="0" y="23812"/>
                      </a:cubicBezTo>
                    </a:path>
                  </a:pathLst>
                </a:custGeom>
                <a:noFill/>
                <a:ln w="19050">
                  <a:solidFill>
                    <a:srgbClr val="A78BFA"/>
                  </a:solidFill>
                </a:ln>
                <a:effectLst>
                  <a:outerShdw blurRad="95250" dist="28575" dir="5400000" algn="ctr" rotWithShape="0">
                    <a:srgbClr val="000000">
                      <a:alpha val="26250"/>
                    </a:srgbClr>
                  </a:outerShdw>
                </a:effectLst>
              </p:spPr>
            </p:sp>
            <p:sp>
              <p:nvSpPr>
                <p:cNvPr id="115" name="Freeform 115"/>
                <p:cNvSpPr/>
                <p:nvPr/>
              </p:nvSpPr>
              <p:spPr>
                <a:xfrm>
                  <a:off x="1193800" y="5353050"/>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A78BFA"/>
                  </a:solidFill>
                </a:ln>
                <a:effectLst>
                  <a:outerShdw blurRad="95250" dist="28575" dir="5400000" algn="ctr" rotWithShape="0">
                    <a:srgbClr val="000000">
                      <a:alpha val="26250"/>
                    </a:srgbClr>
                  </a:outerShdw>
                </a:effectLst>
              </p:spPr>
            </p:sp>
            <p:sp>
              <p:nvSpPr>
                <p:cNvPr id="116" name="Freeform 116"/>
                <p:cNvSpPr/>
                <p:nvPr/>
              </p:nvSpPr>
              <p:spPr>
                <a:xfrm>
                  <a:off x="1193800" y="5400675"/>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A78BFA"/>
                  </a:solidFill>
                </a:ln>
                <a:effectLst>
                  <a:outerShdw blurRad="95250" dist="28575" dir="5400000" algn="ctr" rotWithShape="0">
                    <a:srgbClr val="000000">
                      <a:alpha val="26250"/>
                    </a:srgbClr>
                  </a:outerShdw>
                </a:effectLst>
              </p:spPr>
            </p:sp>
          </p:grpSp>
          <p:sp>
            <p:nvSpPr>
              <p:cNvPr id="118" name="TextBox 118"/>
              <p:cNvSpPr txBox="1"/>
              <p:nvPr/>
            </p:nvSpPr>
            <p:spPr>
              <a:xfrm>
                <a:off x="1398270" y="5351145"/>
                <a:ext cx="131452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Database Per Service</a:t>
                </a:r>
              </a:p>
            </p:txBody>
          </p:sp>
          <p:sp>
            <p:nvSpPr>
              <p:cNvPr id="119" name="TextBox 119"/>
              <p:cNvSpPr txBox="1"/>
              <p:nvPr/>
            </p:nvSpPr>
            <p:spPr>
              <a:xfrm>
                <a:off x="1151572" y="5578316"/>
                <a:ext cx="1484138"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db_identity (Auth/Token)</a:t>
                </a:r>
              </a:p>
            </p:txBody>
          </p:sp>
          <p:sp>
            <p:nvSpPr>
              <p:cNvPr id="120" name="TextBox 120"/>
              <p:cNvSpPr txBox="1"/>
              <p:nvPr/>
            </p:nvSpPr>
            <p:spPr>
              <a:xfrm>
                <a:off x="1151572" y="5730716"/>
                <a:ext cx="1539145"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db_customer (KYC Profile)</a:t>
                </a:r>
              </a:p>
            </p:txBody>
          </p:sp>
          <p:sp>
            <p:nvSpPr>
              <p:cNvPr id="121" name="TextBox 121"/>
              <p:cNvSpPr txBox="1"/>
              <p:nvPr/>
            </p:nvSpPr>
            <p:spPr>
              <a:xfrm>
                <a:off x="1151572" y="5883116"/>
                <a:ext cx="1396127"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db_account (Số dư ACID)</a:t>
                </a:r>
              </a:p>
            </p:txBody>
          </p:sp>
          <p:grpSp>
            <p:nvGrpSpPr>
              <p:cNvPr id="130" name="Group 130"/>
              <p:cNvGrpSpPr/>
              <p:nvPr/>
            </p:nvGrpSpPr>
            <p:grpSpPr>
              <a:xfrm>
                <a:off x="3048000" y="5191125"/>
                <a:ext cx="2000250" cy="952500"/>
                <a:chOff x="3048000" y="5191125"/>
                <a:chExt cx="2000250" cy="952500"/>
              </a:xfrm>
            </p:grpSpPr>
            <p:sp>
              <p:nvSpPr>
                <p:cNvPr id="122" name="Rectangle 122"/>
                <p:cNvSpPr/>
                <p:nvPr/>
              </p:nvSpPr>
              <p:spPr>
                <a:xfrm>
                  <a:off x="3048000" y="5191125"/>
                  <a:ext cx="2000250" cy="952500"/>
                </a:xfrm>
                <a:prstGeom prst="roundRect">
                  <a:avLst>
                    <a:gd name="adj" fmla="val 8000"/>
                  </a:avLst>
                </a:prstGeom>
                <a:solidFill>
                  <a:srgbClr val="1E293B"/>
                </a:solidFill>
                <a:ln w="9525">
                  <a:solidFill>
                    <a:srgbClr val="334155"/>
                  </a:solidFill>
                </a:ln>
                <a:effectLst>
                  <a:outerShdw blurRad="95250" dist="28575" dir="5400000" algn="ctr" rotWithShape="0">
                    <a:srgbClr val="000000">
                      <a:alpha val="26250"/>
                    </a:srgbClr>
                  </a:outerShdw>
                </a:effectLst>
              </p:spPr>
            </p:sp>
            <p:grpSp>
              <p:nvGrpSpPr>
                <p:cNvPr id="125" name="Group 125"/>
                <p:cNvGrpSpPr/>
                <p:nvPr/>
              </p:nvGrpSpPr>
              <p:grpSpPr>
                <a:xfrm>
                  <a:off x="3194050" y="5334112"/>
                  <a:ext cx="127000" cy="133125"/>
                  <a:chOff x="3194050" y="5334112"/>
                  <a:chExt cx="127000" cy="133125"/>
                </a:xfrm>
              </p:grpSpPr>
              <p:sp>
                <p:nvSpPr>
                  <p:cNvPr id="123" name="Freeform 123"/>
                  <p:cNvSpPr/>
                  <p:nvPr/>
                </p:nvSpPr>
                <p:spPr>
                  <a:xfrm>
                    <a:off x="3194050" y="5334112"/>
                    <a:ext cx="127000" cy="58625"/>
                  </a:xfrm>
                  <a:custGeom>
                    <a:avLst/>
                    <a:gdLst/>
                    <a:ahLst/>
                    <a:cxnLst/>
                    <a:rect l="l" t="t" r="r" b="b"/>
                    <a:pathLst>
                      <a:path w="127000" h="58625">
                        <a:moveTo>
                          <a:pt x="127000" y="58625"/>
                        </a:moveTo>
                        <a:cubicBezTo>
                          <a:pt x="123010" y="29911"/>
                          <a:pt x="100297" y="7420"/>
                          <a:pt x="71546" y="3710"/>
                        </a:cubicBezTo>
                        <a:cubicBezTo>
                          <a:pt x="42795" y="0"/>
                          <a:pt x="15117" y="15990"/>
                          <a:pt x="3969" y="42750"/>
                        </a:cubicBezTo>
                        <a:moveTo>
                          <a:pt x="0" y="11000"/>
                        </a:moveTo>
                        <a:lnTo>
                          <a:pt x="0" y="42750"/>
                        </a:lnTo>
                        <a:lnTo>
                          <a:pt x="31750" y="42750"/>
                        </a:lnTo>
                      </a:path>
                    </a:pathLst>
                  </a:custGeom>
                  <a:noFill/>
                  <a:ln w="19050">
                    <a:solidFill>
                      <a:srgbClr val="34D399"/>
                    </a:solidFill>
                  </a:ln>
                  <a:effectLst>
                    <a:outerShdw blurRad="95250" dist="28575" dir="5400000" algn="ctr" rotWithShape="0">
                      <a:srgbClr val="000000">
                        <a:alpha val="26250"/>
                      </a:srgbClr>
                    </a:outerShdw>
                  </a:effectLst>
                </p:spPr>
              </p:sp>
              <p:sp>
                <p:nvSpPr>
                  <p:cNvPr id="124" name="Freeform 124"/>
                  <p:cNvSpPr/>
                  <p:nvPr/>
                </p:nvSpPr>
                <p:spPr>
                  <a:xfrm>
                    <a:off x="3194050" y="5408612"/>
                    <a:ext cx="127000" cy="58625"/>
                  </a:xfrm>
                  <a:custGeom>
                    <a:avLst/>
                    <a:gdLst/>
                    <a:ahLst/>
                    <a:cxnLst/>
                    <a:rect l="l" t="t" r="r" b="b"/>
                    <a:pathLst>
                      <a:path w="127000" h="58625">
                        <a:moveTo>
                          <a:pt x="0" y="0"/>
                        </a:moveTo>
                        <a:cubicBezTo>
                          <a:pt x="3990" y="28714"/>
                          <a:pt x="26703" y="51205"/>
                          <a:pt x="55454" y="54915"/>
                        </a:cubicBezTo>
                        <a:cubicBezTo>
                          <a:pt x="84205" y="58625"/>
                          <a:pt x="111883" y="42635"/>
                          <a:pt x="123031" y="15875"/>
                        </a:cubicBezTo>
                        <a:moveTo>
                          <a:pt x="127000" y="47625"/>
                        </a:moveTo>
                        <a:lnTo>
                          <a:pt x="127000" y="15875"/>
                        </a:lnTo>
                        <a:lnTo>
                          <a:pt x="95250" y="15875"/>
                        </a:lnTo>
                      </a:path>
                    </a:pathLst>
                  </a:custGeom>
                  <a:noFill/>
                  <a:ln w="19050">
                    <a:solidFill>
                      <a:srgbClr val="34D399"/>
                    </a:solidFill>
                  </a:ln>
                  <a:effectLst>
                    <a:outerShdw blurRad="95250" dist="28575" dir="5400000" algn="ctr" rotWithShape="0">
                      <a:srgbClr val="000000">
                        <a:alpha val="26250"/>
                      </a:srgbClr>
                    </a:outerShdw>
                  </a:effectLst>
                </p:spPr>
              </p:sp>
            </p:grpSp>
            <p:sp>
              <p:nvSpPr>
                <p:cNvPr id="126" name="TextBox 126"/>
                <p:cNvSpPr txBox="1"/>
                <p:nvPr/>
              </p:nvSpPr>
              <p:spPr>
                <a:xfrm>
                  <a:off x="3398520" y="5351145"/>
                  <a:ext cx="131452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Apache Kafka Cluster</a:t>
                  </a:r>
                </a:p>
              </p:txBody>
            </p:sp>
            <p:sp>
              <p:nvSpPr>
                <p:cNvPr id="127" name="TextBox 127"/>
                <p:cNvSpPr txBox="1"/>
                <p:nvPr/>
              </p:nvSpPr>
              <p:spPr>
                <a:xfrm>
                  <a:off x="3151822" y="5578316"/>
                  <a:ext cx="1390626"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Topic: transfer-events</a:t>
                  </a:r>
                </a:p>
              </p:txBody>
            </p:sp>
            <p:sp>
              <p:nvSpPr>
                <p:cNvPr id="128" name="TextBox 128"/>
                <p:cNvSpPr txBox="1"/>
                <p:nvPr/>
              </p:nvSpPr>
              <p:spPr>
                <a:xfrm>
                  <a:off x="3151822" y="5730716"/>
                  <a:ext cx="1335619"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Topic: rollback-events</a:t>
                  </a:r>
                </a:p>
              </p:txBody>
            </p:sp>
            <p:sp>
              <p:nvSpPr>
                <p:cNvPr id="129" name="TextBox 129"/>
                <p:cNvSpPr txBox="1"/>
                <p:nvPr/>
              </p:nvSpPr>
              <p:spPr>
                <a:xfrm>
                  <a:off x="3151822" y="5883116"/>
                  <a:ext cx="1874687"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Bền vững, cam kết at-least-once</a:t>
                  </a:r>
                </a:p>
              </p:txBody>
            </p:sp>
          </p:grpSp>
          <p:grpSp>
            <p:nvGrpSpPr>
              <p:cNvPr id="137" name="Group 137"/>
              <p:cNvGrpSpPr/>
              <p:nvPr/>
            </p:nvGrpSpPr>
            <p:grpSpPr>
              <a:xfrm>
                <a:off x="5143500" y="5191125"/>
                <a:ext cx="1952625" cy="952500"/>
                <a:chOff x="5143500" y="5191125"/>
                <a:chExt cx="1952625" cy="952500"/>
              </a:xfrm>
            </p:grpSpPr>
            <p:sp>
              <p:nvSpPr>
                <p:cNvPr id="131" name="Rectangle 131"/>
                <p:cNvSpPr/>
                <p:nvPr/>
              </p:nvSpPr>
              <p:spPr>
                <a:xfrm>
                  <a:off x="5143500" y="5191125"/>
                  <a:ext cx="1952625" cy="952500"/>
                </a:xfrm>
                <a:prstGeom prst="roundRect">
                  <a:avLst>
                    <a:gd name="adj" fmla="val 8000"/>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2" name="Freeform 132"/>
                <p:cNvSpPr/>
                <p:nvPr/>
              </p:nvSpPr>
              <p:spPr>
                <a:xfrm>
                  <a:off x="5297488" y="5329238"/>
                  <a:ext cx="111125" cy="142875"/>
                </a:xfrm>
                <a:custGeom>
                  <a:avLst/>
                  <a:gdLst/>
                  <a:ahLst/>
                  <a:cxnLst/>
                  <a:rect l="l" t="t" r="r" b="b"/>
                  <a:pathLst>
                    <a:path w="111125" h="142875">
                      <a:moveTo>
                        <a:pt x="63500" y="0"/>
                      </a:moveTo>
                      <a:lnTo>
                        <a:pt x="63500" y="55563"/>
                      </a:lnTo>
                      <a:lnTo>
                        <a:pt x="111125" y="55563"/>
                      </a:lnTo>
                      <a:lnTo>
                        <a:pt x="47625" y="142875"/>
                      </a:lnTo>
                      <a:lnTo>
                        <a:pt x="47625" y="87312"/>
                      </a:lnTo>
                      <a:lnTo>
                        <a:pt x="0" y="87312"/>
                      </a:lnTo>
                      <a:lnTo>
                        <a:pt x="63500" y="0"/>
                      </a:lnTo>
                    </a:path>
                  </a:pathLst>
                </a:custGeom>
                <a:noFill/>
                <a:ln w="19050">
                  <a:solidFill>
                    <a:srgbClr val="F87171"/>
                  </a:solidFill>
                </a:ln>
                <a:effectLst>
                  <a:outerShdw blurRad="95250" dist="28575" dir="5400000" algn="ctr" rotWithShape="0">
                    <a:srgbClr val="000000">
                      <a:alpha val="26250"/>
                    </a:srgbClr>
                  </a:outerShdw>
                </a:effectLst>
              </p:spPr>
            </p:sp>
            <p:sp>
              <p:nvSpPr>
                <p:cNvPr id="133" name="TextBox 133"/>
                <p:cNvSpPr txBox="1"/>
                <p:nvPr/>
              </p:nvSpPr>
              <p:spPr>
                <a:xfrm>
                  <a:off x="5494020" y="5351145"/>
                  <a:ext cx="142793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Redis Caching &amp; Session</a:t>
                  </a:r>
                </a:p>
              </p:txBody>
            </p:sp>
            <p:sp>
              <p:nvSpPr>
                <p:cNvPr id="134" name="TextBox 134"/>
                <p:cNvSpPr txBox="1"/>
                <p:nvPr/>
              </p:nvSpPr>
              <p:spPr>
                <a:xfrm>
                  <a:off x="5247322" y="5578316"/>
                  <a:ext cx="1148596"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Tra cứu số dư &lt; 5ms</a:t>
                  </a:r>
                </a:p>
              </p:txBody>
            </p:sp>
            <p:sp>
              <p:nvSpPr>
                <p:cNvPr id="135" name="TextBox 135"/>
                <p:cNvSpPr txBox="1"/>
                <p:nvPr/>
              </p:nvSpPr>
              <p:spPr>
                <a:xfrm>
                  <a:off x="5247322" y="5730716"/>
                  <a:ext cx="1148596"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JWT Token Blacklist</a:t>
                  </a:r>
                </a:p>
              </p:txBody>
            </p:sp>
            <p:sp>
              <p:nvSpPr>
                <p:cNvPr id="136" name="TextBox 136"/>
                <p:cNvSpPr txBox="1"/>
                <p:nvPr/>
              </p:nvSpPr>
              <p:spPr>
                <a:xfrm>
                  <a:off x="5247322" y="5883116"/>
                  <a:ext cx="1423630"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 Distributed Rate Limiter</a:t>
                  </a:r>
                </a:p>
              </p:txBody>
            </p:sp>
          </p:grpSp>
        </p:grpSp>
      </p:grpSp>
      <p:grpSp>
        <p:nvGrpSpPr>
          <p:cNvPr id="145" name="Group 145"/>
          <p:cNvGrpSpPr/>
          <p:nvPr/>
        </p:nvGrpSpPr>
        <p:grpSpPr>
          <a:xfrm>
            <a:off x="7524750" y="1238250"/>
            <a:ext cx="4143375" cy="5095875"/>
            <a:chOff x="7524750" y="1238250"/>
            <a:chExt cx="4143375" cy="5095875"/>
          </a:xfrm>
        </p:grpSpPr>
        <p:sp>
          <p:nvSpPr>
            <p:cNvPr id="140" name="Rectangle 140"/>
            <p:cNvSpPr/>
            <p:nvPr/>
          </p:nvSpPr>
          <p:spPr>
            <a:xfrm>
              <a:off x="7524750" y="1238250"/>
              <a:ext cx="4143375" cy="5095875"/>
            </a:xfrm>
            <a:prstGeom prst="roundRect">
              <a:avLst>
                <a:gd name="adj" fmla="val 4138"/>
              </a:avLst>
            </a:prstGeom>
            <a:solidFill>
              <a:srgbClr val="0F172A"/>
            </a:solidFill>
            <a:ln w="14288">
              <a:solidFill>
                <a:srgbClr val="2563EB">
                  <a:alpha val="40000"/>
                </a:srgbClr>
              </a:solidFill>
            </a:ln>
            <a:effectLst>
              <a:outerShdw blurRad="95250" dist="28575" dir="5400000" algn="ctr" rotWithShape="0">
                <a:srgbClr val="000000">
                  <a:alpha val="26250"/>
                </a:srgbClr>
              </a:outerShdw>
            </a:effectLst>
          </p:spPr>
        </p:sp>
        <p:pic>
          <p:nvPicPr>
            <p:cNvPr id="141" name="Image 141"/>
            <p:cNvPicPr>
              <a:picLocks noChangeAspect="1"/>
            </p:cNvPicPr>
            <p:nvPr/>
          </p:nvPicPr>
          <p:blipFill>
            <a:blip r:embed="rId2"/>
            <a:srcRect l="9524" t="0" r="9524" b="0"/>
            <a:stretch>
              <a:fillRect/>
            </a:stretch>
          </p:blipFill>
          <p:spPr>
            <a:xfrm>
              <a:off x="7572375" y="1285875"/>
              <a:ext cx="4048125" cy="5000625"/>
            </a:xfrm>
            <a:prstGeom prst="roundRect">
              <a:avLst>
                <a:gd name="adj" fmla="val 3764"/>
              </a:avLst>
            </a:prstGeom>
          </p:spPr>
        </p:pic>
        <p:sp>
          <p:nvSpPr>
            <p:cNvPr id="142" name="Rectangle 142"/>
            <p:cNvSpPr/>
            <p:nvPr/>
          </p:nvSpPr>
          <p:spPr>
            <a:xfrm>
              <a:off x="7762875" y="1476375"/>
              <a:ext cx="2190750" cy="266700"/>
            </a:xfrm>
            <a:prstGeom prst="roundRect">
              <a:avLst>
                <a:gd name="adj" fmla="val 50000"/>
              </a:avLst>
            </a:prstGeom>
            <a:solidFill>
              <a:srgbClr val="0B1120">
                <a:alpha val="85000"/>
              </a:srgbClr>
            </a:solidFill>
            <a:ln w="9525">
              <a:solidFill>
                <a:srgbClr val="3B82F6"/>
              </a:solidFill>
            </a:ln>
          </p:spPr>
        </p:sp>
        <p:sp>
          <p:nvSpPr>
            <p:cNvPr id="143" name="Ellipse 143"/>
            <p:cNvSpPr/>
            <p:nvPr/>
          </p:nvSpPr>
          <p:spPr>
            <a:xfrm>
              <a:off x="7858125" y="1562100"/>
              <a:ext cx="95250" cy="95250"/>
            </a:xfrm>
            <a:prstGeom prst="ellipse">
              <a:avLst/>
            </a:prstGeom>
            <a:solidFill>
              <a:srgbClr val="3B82F6"/>
            </a:solidFill>
            <a:ln>
              <a:noFill/>
            </a:ln>
          </p:spPr>
        </p:sp>
        <p:sp>
          <p:nvSpPr>
            <p:cNvPr id="144" name="TextBox 144"/>
            <p:cNvSpPr txBox="1"/>
            <p:nvPr/>
          </p:nvSpPr>
          <p:spPr>
            <a:xfrm>
              <a:off x="8008620" y="1560195"/>
              <a:ext cx="1661065" cy="182880"/>
            </a:xfrm>
            <a:prstGeom prst="rect">
              <a:avLst/>
            </a:prstGeom>
            <a:noFill/>
            <a:ln>
              <a:noFill/>
            </a:ln>
          </p:spPr>
          <p:txBody>
            <a:bodyPr wrap="none" lIns="0" tIns="0" rIns="0" bIns="0" anchor="t" anchorCtr="0">
              <a:spAutoFit/>
            </a:bodyPr>
            <a:lstStyle/>
            <a:p>
              <a:pPr algn="l"/>
              <a:r>
                <a:rPr lang="zh-CN" sz="900" b="1" dirty="0">
                  <a:solidFill>
                    <a:srgbClr val="93C5FD"/>
                  </a:solidFill>
                  <a:latin typeface="Segoe UI"/>
                  <a:ea typeface="Microsoft YaHei"/>
                  <a:cs typeface="Segoe UI"/>
                </a:rPr>
                <a:t>SERVICE TOPOLOGY MESH 3D</a:t>
              </a:r>
            </a:p>
          </p:txBody>
        </p:sp>
      </p:grpSp>
      <p:grpSp>
        <p:nvGrpSpPr>
          <p:cNvPr id="148" name="Group 148"/>
          <p:cNvGrpSpPr/>
          <p:nvPr/>
        </p:nvGrpSpPr>
        <p:grpSpPr>
          <a:xfrm>
            <a:off x="560070" y="6522720"/>
            <a:ext cx="11071860" cy="182880"/>
            <a:chOff x="560070" y="6522720"/>
            <a:chExt cx="11071860" cy="182880"/>
          </a:xfrm>
        </p:grpSpPr>
        <p:sp>
          <p:nvSpPr>
            <p:cNvPr id="146" name="TextBox 146"/>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147" name="TextBox 147"/>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lide(fromBottom)">
                                      <p:cBhvr>
                                        <p:cTn id="7" dur="400"/>
                                        <p:tgtEl>
                                          <p:spTgt spid="4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image">
                                      <p:cBhvr>
                                        <p:cTn id="11" dur="400"/>
                                        <p:tgtEl>
                                          <p:spTgt spid="10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39"/>
                                        </p:tgtEl>
                                        <p:attrNameLst>
                                          <p:attrName>style.visibility</p:attrName>
                                        </p:attrNameLst>
                                      </p:cBhvr>
                                      <p:to>
                                        <p:strVal val="visible"/>
                                      </p:to>
                                    </p:set>
                                    <p:animEffect transition="in" filter="fade">
                                      <p:cBhvr>
                                        <p:cTn id="15" dur="400"/>
                                        <p:tgtEl>
                                          <p:spTgt spid="13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145"/>
                                        </p:tgtEl>
                                        <p:attrNameLst>
                                          <p:attrName>style.visibility</p:attrName>
                                        </p:attrNameLst>
                                      </p:cBhvr>
                                      <p:to>
                                        <p:strVal val="visible"/>
                                      </p:to>
                                    </p:set>
                                    <p:animEffect transition="in" filter="wipe(left)">
                                      <p:cBhvr>
                                        <p:cTn id="19" dur="4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108" grpId="0"/>
      <p:bldP spid="139" grpId="0"/>
      <p:bldP spid="14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0D9488">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7052196" cy="797719"/>
            <a:chOff x="548640" y="342900"/>
            <a:chExt cx="7052196" cy="797719"/>
          </a:xfrm>
        </p:grpSpPr>
        <p:sp>
          <p:nvSpPr>
            <p:cNvPr id="7" name="Rectangle 7"/>
            <p:cNvSpPr/>
            <p:nvPr/>
          </p:nvSpPr>
          <p:spPr>
            <a:xfrm>
              <a:off x="571500" y="342900"/>
              <a:ext cx="1571625" cy="247650"/>
            </a:xfrm>
            <a:prstGeom prst="roundRect">
              <a:avLst>
                <a:gd name="adj" fmla="val 50000"/>
              </a:avLst>
            </a:prstGeom>
            <a:solidFill>
              <a:srgbClr val="1E293B"/>
            </a:solidFill>
            <a:ln w="9525">
              <a:solidFill>
                <a:srgbClr val="06B6D4"/>
              </a:solidFill>
            </a:ln>
          </p:spPr>
        </p:sp>
        <p:sp>
          <p:nvSpPr>
            <p:cNvPr id="8" name="TextBox 8"/>
            <p:cNvSpPr txBox="1"/>
            <p:nvPr/>
          </p:nvSpPr>
          <p:spPr>
            <a:xfrm>
              <a:off x="588341" y="415766"/>
              <a:ext cx="1528418" cy="167640"/>
            </a:xfrm>
            <a:prstGeom prst="rect">
              <a:avLst/>
            </a:prstGeom>
            <a:noFill/>
            <a:ln>
              <a:noFill/>
            </a:ln>
          </p:spPr>
          <p:txBody>
            <a:bodyPr wrap="none" lIns="0" tIns="0" rIns="0" bIns="0" anchor="t" anchorCtr="0">
              <a:spAutoFit/>
            </a:bodyPr>
            <a:lstStyle/>
            <a:p>
              <a:pPr algn="ctr"/>
              <a:r>
                <a:rPr lang="zh-CN" sz="825" b="1" dirty="0">
                  <a:solidFill>
                    <a:srgbClr val="06B6D4"/>
                  </a:solidFill>
                  <a:latin typeface="Segoe UI"/>
                  <a:ea typeface="Microsoft YaHei"/>
                  <a:cs typeface="Segoe UI"/>
                </a:rPr>
                <a:t>QUẢN LÝ NGHIỆP VỤ &amp; DỮ LIỆU</a:t>
              </a:r>
            </a:p>
          </p:txBody>
        </p:sp>
        <p:sp>
          <p:nvSpPr>
            <p:cNvPr id="9" name="TextBox 9"/>
            <p:cNvSpPr txBox="1"/>
            <p:nvPr/>
          </p:nvSpPr>
          <p:spPr>
            <a:xfrm>
              <a:off x="548640" y="624840"/>
              <a:ext cx="7052196"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Quản Lý Hồ Sơ, Danh Mục &amp; Mô Hình Database-Per-Service</a:t>
              </a:r>
            </a:p>
          </p:txBody>
        </p:sp>
        <p:sp>
          <p:nvSpPr>
            <p:cNvPr id="10" name="TextBox 10"/>
            <p:cNvSpPr txBox="1"/>
            <p:nvPr/>
          </p:nvSpPr>
          <p:spPr>
            <a:xfrm>
              <a:off x="559118" y="942499"/>
              <a:ext cx="5546880"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Độc lập sở hữu dữ liệu, thiết kế chuẩn hóa thực thể và REST Endpoints theo nghiệp vụ</a:t>
              </a:r>
            </a:p>
          </p:txBody>
        </p:sp>
      </p:grpSp>
      <p:grpSp>
        <p:nvGrpSpPr>
          <p:cNvPr id="39" name="Group 39"/>
          <p:cNvGrpSpPr/>
          <p:nvPr/>
        </p:nvGrpSpPr>
        <p:grpSpPr>
          <a:xfrm>
            <a:off x="571500" y="1285875"/>
            <a:ext cx="3476625" cy="4095750"/>
            <a:chOff x="571500" y="1285875"/>
            <a:chExt cx="3476625" cy="4095750"/>
          </a:xfrm>
          <a:effectLst>
            <a:outerShdw blurRad="95250" dist="28575" dir="5400000" algn="ctr" rotWithShape="0">
              <a:srgbClr val="000000">
                <a:alpha val="26250"/>
              </a:srgbClr>
            </a:outerShdw>
          </a:effectLst>
        </p:grpSpPr>
        <p:sp>
          <p:nvSpPr>
            <p:cNvPr id="12" name="Rectangle 12"/>
            <p:cNvSpPr/>
            <p:nvPr/>
          </p:nvSpPr>
          <p:spPr>
            <a:xfrm>
              <a:off x="571500" y="1285875"/>
              <a:ext cx="3476625" cy="4095750"/>
            </a:xfrm>
            <a:prstGeom prst="roundRect">
              <a:avLst>
                <a:gd name="adj" fmla="val 3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Freeform 13"/>
            <p:cNvSpPr/>
            <p:nvPr/>
          </p:nvSpPr>
          <p:spPr>
            <a:xfrm>
              <a:off x="571500" y="1285875"/>
              <a:ext cx="3476625" cy="857250"/>
            </a:xfrm>
            <a:custGeom>
              <a:avLst/>
              <a:gdLst/>
              <a:ahLst/>
              <a:cxnLst/>
              <a:rect l="l" t="t" r="r" b="b"/>
              <a:pathLst>
                <a:path w="3476625" h="857250">
                  <a:moveTo>
                    <a:pt x="133350" y="0"/>
                  </a:moveTo>
                  <a:lnTo>
                    <a:pt x="3343275" y="0"/>
                  </a:lnTo>
                  <a:cubicBezTo>
                    <a:pt x="3416922" y="0"/>
                    <a:pt x="3476625" y="59703"/>
                    <a:pt x="3476625" y="133350"/>
                  </a:cubicBezTo>
                  <a:lnTo>
                    <a:pt x="3476625" y="857250"/>
                  </a:lnTo>
                  <a:lnTo>
                    <a:pt x="0" y="857250"/>
                  </a:lnTo>
                  <a:lnTo>
                    <a:pt x="0" y="133350"/>
                  </a:lnTo>
                  <a:cubicBezTo>
                    <a:pt x="0" y="59703"/>
                    <a:pt x="59703" y="0"/>
                    <a:pt x="133350" y="0"/>
                  </a:cubicBezTo>
                  <a:close/>
                </a:path>
              </a:pathLst>
            </a:custGeom>
            <a:solidFill>
              <a:srgbClr val="172554"/>
            </a:solidFill>
            <a:ln>
              <a:noFill/>
            </a:ln>
            <a:effectLst>
              <a:outerShdw blurRad="95250" dist="28575" dir="5400000" algn="ctr" rotWithShape="0">
                <a:srgbClr val="000000">
                  <a:alpha val="26250"/>
                </a:srgbClr>
              </a:outerShdw>
            </a:effectLst>
          </p:spPr>
        </p:sp>
        <p:grpSp>
          <p:nvGrpSpPr>
            <p:cNvPr id="18" name="Group 18"/>
            <p:cNvGrpSpPr/>
            <p:nvPr/>
          </p:nvGrpSpPr>
          <p:grpSpPr>
            <a:xfrm>
              <a:off x="802481" y="1488281"/>
              <a:ext cx="242888" cy="242887"/>
              <a:chOff x="802481" y="1488281"/>
              <a:chExt cx="242888" cy="242887"/>
            </a:xfrm>
          </p:grpSpPr>
          <p:sp>
            <p:nvSpPr>
              <p:cNvPr id="14" name="Freeform 14"/>
              <p:cNvSpPr/>
              <p:nvPr/>
            </p:nvSpPr>
            <p:spPr>
              <a:xfrm>
                <a:off x="829469" y="148828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38BDF8"/>
                </a:solidFill>
              </a:ln>
              <a:effectLst>
                <a:outerShdw blurRad="95250" dist="28575" dir="5400000" algn="ctr" rotWithShape="0">
                  <a:srgbClr val="000000">
                    <a:alpha val="26250"/>
                  </a:srgbClr>
                </a:outerShdw>
              </a:effectLst>
            </p:spPr>
          </p:sp>
          <p:sp>
            <p:nvSpPr>
              <p:cNvPr id="15" name="Freeform 15"/>
              <p:cNvSpPr/>
              <p:nvPr/>
            </p:nvSpPr>
            <p:spPr>
              <a:xfrm>
                <a:off x="802481" y="1650206"/>
                <a:ext cx="161925" cy="80962"/>
              </a:xfrm>
              <a:custGeom>
                <a:avLst/>
                <a:gdLst/>
                <a:ahLst/>
                <a:cxnLst/>
                <a:rect l="l" t="t" r="r" b="b"/>
                <a:pathLst>
                  <a:path w="161925" h="80962">
                    <a:moveTo>
                      <a:pt x="0" y="80962"/>
                    </a:moveTo>
                    <a:lnTo>
                      <a:pt x="0" y="53975"/>
                    </a:lnTo>
                    <a:cubicBezTo>
                      <a:pt x="0" y="24165"/>
                      <a:pt x="24165" y="0"/>
                      <a:pt x="53975" y="0"/>
                    </a:cubicBezTo>
                    <a:lnTo>
                      <a:pt x="107950" y="0"/>
                    </a:lnTo>
                    <a:cubicBezTo>
                      <a:pt x="137760" y="0"/>
                      <a:pt x="161925" y="24165"/>
                      <a:pt x="161925" y="53975"/>
                    </a:cubicBezTo>
                    <a:lnTo>
                      <a:pt x="161925" y="80962"/>
                    </a:lnTo>
                  </a:path>
                </a:pathLst>
              </a:custGeom>
              <a:noFill/>
              <a:ln w="19050">
                <a:solidFill>
                  <a:srgbClr val="38BDF8"/>
                </a:solidFill>
              </a:ln>
              <a:effectLst>
                <a:outerShdw blurRad="95250" dist="28575" dir="5400000" algn="ctr" rotWithShape="0">
                  <a:srgbClr val="000000">
                    <a:alpha val="26250"/>
                  </a:srgbClr>
                </a:outerShdw>
              </a:effectLst>
            </p:spPr>
          </p:sp>
          <p:sp>
            <p:nvSpPr>
              <p:cNvPr id="16" name="Freeform 16"/>
              <p:cNvSpPr/>
              <p:nvPr/>
            </p:nvSpPr>
            <p:spPr>
              <a:xfrm>
                <a:off x="977900" y="1490035"/>
                <a:ext cx="40587" cy="104577"/>
              </a:xfrm>
              <a:custGeom>
                <a:avLst/>
                <a:gdLst/>
                <a:ahLst/>
                <a:cxnLst/>
                <a:rect l="l" t="t" r="r" b="b"/>
                <a:pathLst>
                  <a:path w="40587" h="104577">
                    <a:moveTo>
                      <a:pt x="0" y="0"/>
                    </a:moveTo>
                    <a:cubicBezTo>
                      <a:pt x="23883" y="6115"/>
                      <a:pt x="40587" y="27635"/>
                      <a:pt x="40587" y="52288"/>
                    </a:cubicBezTo>
                    <a:cubicBezTo>
                      <a:pt x="40587" y="76941"/>
                      <a:pt x="23883" y="98462"/>
                      <a:pt x="0" y="104577"/>
                    </a:cubicBezTo>
                  </a:path>
                </a:pathLst>
              </a:custGeom>
              <a:noFill/>
              <a:ln w="19050">
                <a:solidFill>
                  <a:srgbClr val="38BDF8"/>
                </a:solidFill>
              </a:ln>
              <a:effectLst>
                <a:outerShdw blurRad="95250" dist="28575" dir="5400000" algn="ctr" rotWithShape="0">
                  <a:srgbClr val="000000">
                    <a:alpha val="26250"/>
                  </a:srgbClr>
                </a:outerShdw>
              </a:effectLst>
            </p:spPr>
          </p:sp>
          <p:sp>
            <p:nvSpPr>
              <p:cNvPr id="17" name="Freeform 17"/>
              <p:cNvSpPr/>
              <p:nvPr/>
            </p:nvSpPr>
            <p:spPr>
              <a:xfrm>
                <a:off x="1004888" y="1652230"/>
                <a:ext cx="40481" cy="78938"/>
              </a:xfrm>
              <a:custGeom>
                <a:avLst/>
                <a:gdLst/>
                <a:ahLst/>
                <a:cxnLst/>
                <a:rect l="l" t="t" r="r" b="b"/>
                <a:pathLst>
                  <a:path w="40481" h="78938">
                    <a:moveTo>
                      <a:pt x="40481" y="78938"/>
                    </a:moveTo>
                    <a:lnTo>
                      <a:pt x="40481" y="51951"/>
                    </a:lnTo>
                    <a:cubicBezTo>
                      <a:pt x="40340" y="27454"/>
                      <a:pt x="23720" y="6124"/>
                      <a:pt x="0" y="0"/>
                    </a:cubicBezTo>
                  </a:path>
                </a:pathLst>
              </a:custGeom>
              <a:noFill/>
              <a:ln w="19050">
                <a:solidFill>
                  <a:srgbClr val="38BDF8"/>
                </a:solidFill>
              </a:ln>
              <a:effectLst>
                <a:outerShdw blurRad="95250" dist="28575" dir="5400000" algn="ctr" rotWithShape="0">
                  <a:srgbClr val="000000">
                    <a:alpha val="26250"/>
                  </a:srgbClr>
                </a:outerShdw>
              </a:effectLst>
            </p:spPr>
          </p:sp>
        </p:grpSp>
        <p:sp>
          <p:nvSpPr>
            <p:cNvPr id="19" name="TextBox 19"/>
            <p:cNvSpPr txBox="1"/>
            <p:nvPr/>
          </p:nvSpPr>
          <p:spPr>
            <a:xfrm>
              <a:off x="1183958" y="1443514"/>
              <a:ext cx="1549825" cy="2590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275" b="1" dirty="0">
                  <a:solidFill>
                    <a:srgbClr val="F8FAFC"/>
                  </a:solidFill>
                  <a:latin typeface="Segoe UI"/>
                  <a:ea typeface="Microsoft YaHei"/>
                  <a:cs typeface="Segoe UI"/>
                </a:rPr>
                <a:t>Customer Service</a:t>
              </a:r>
            </a:p>
          </p:txBody>
        </p:sp>
        <p:sp>
          <p:nvSpPr>
            <p:cNvPr id="20" name="TextBox 20"/>
            <p:cNvSpPr txBox="1"/>
            <p:nvPr/>
          </p:nvSpPr>
          <p:spPr>
            <a:xfrm>
              <a:off x="1188244" y="1689497"/>
              <a:ext cx="1585883"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93C5FD"/>
                  </a:solidFill>
                  <a:latin typeface="Segoe UI"/>
                  <a:ea typeface="Microsoft YaHei"/>
                  <a:cs typeface="Segoe UI"/>
                </a:rPr>
                <a:t>Quản lý Hồ Sơ Khách Hàng</a:t>
              </a:r>
            </a:p>
          </p:txBody>
        </p:sp>
        <p:sp>
          <p:nvSpPr>
            <p:cNvPr id="21" name="Line 21"/>
            <p:cNvSpPr/>
            <p:nvPr/>
          </p:nvSpPr>
          <p:spPr>
            <a:xfrm>
              <a:off x="762000" y="2143125"/>
              <a:ext cx="3095625" cy="9525"/>
            </a:xfrm>
            <a:custGeom>
              <a:avLst/>
              <a:gdLst/>
              <a:ahLst/>
              <a:cxnLst/>
              <a:rect l="l" t="t" r="r" b="b"/>
              <a:pathLst>
                <a:path w="3095625" h="9525">
                  <a:moveTo>
                    <a:pt x="0" y="0"/>
                  </a:moveTo>
                  <a:lnTo>
                    <a:pt x="3095625" y="0"/>
                  </a:lnTo>
                </a:path>
              </a:pathLst>
            </a:custGeom>
            <a:noFill/>
            <a:ln w="14288">
              <a:solidFill>
                <a:srgbClr val="1E3A8A"/>
              </a:solidFill>
            </a:ln>
          </p:spPr>
        </p:sp>
        <p:sp>
          <p:nvSpPr>
            <p:cNvPr id="22" name="TextBox 22"/>
            <p:cNvSpPr txBox="1"/>
            <p:nvPr/>
          </p:nvSpPr>
          <p:spPr>
            <a:xfrm>
              <a:off x="750570" y="2303145"/>
              <a:ext cx="227854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THỰC THỂ CỐT LÕI (CUSTOMER ENTITY):</a:t>
              </a:r>
            </a:p>
          </p:txBody>
        </p:sp>
        <p:sp>
          <p:nvSpPr>
            <p:cNvPr id="23" name="TextBox 23"/>
            <p:cNvSpPr txBox="1"/>
            <p:nvPr/>
          </p:nvSpPr>
          <p:spPr>
            <a:xfrm>
              <a:off x="750570" y="2522220"/>
              <a:ext cx="59293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id (UUID):</a:t>
              </a:r>
            </a:p>
          </p:txBody>
        </p:sp>
        <p:sp>
          <p:nvSpPr>
            <p:cNvPr id="24" name="TextBox 24"/>
            <p:cNvSpPr txBox="1"/>
            <p:nvPr/>
          </p:nvSpPr>
          <p:spPr>
            <a:xfrm>
              <a:off x="750570" y="2731770"/>
              <a:ext cx="140903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fullName, email, phone:</a:t>
              </a:r>
            </a:p>
          </p:txBody>
        </p:sp>
        <p:sp>
          <p:nvSpPr>
            <p:cNvPr id="25" name="TextBox 25"/>
            <p:cNvSpPr txBox="1"/>
            <p:nvPr/>
          </p:nvSpPr>
          <p:spPr>
            <a:xfrm>
              <a:off x="750570" y="2941320"/>
              <a:ext cx="138503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identityCard, address:</a:t>
              </a:r>
            </a:p>
          </p:txBody>
        </p:sp>
        <p:sp>
          <p:nvSpPr>
            <p:cNvPr id="26" name="TextBox 26"/>
            <p:cNvSpPr txBox="1"/>
            <p:nvPr/>
          </p:nvSpPr>
          <p:spPr>
            <a:xfrm>
              <a:off x="750570" y="3150870"/>
              <a:ext cx="48491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status:</a:t>
              </a:r>
            </a:p>
          </p:txBody>
        </p:sp>
        <p:sp>
          <p:nvSpPr>
            <p:cNvPr id="27" name="Rectangle 27"/>
            <p:cNvSpPr/>
            <p:nvPr/>
          </p:nvSpPr>
          <p:spPr>
            <a:xfrm>
              <a:off x="742950" y="3571875"/>
              <a:ext cx="3143250" cy="809625"/>
            </a:xfrm>
            <a:prstGeom prst="roundRect">
              <a:avLst>
                <a:gd name="adj" fmla="val 9412"/>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28" name="TextBox 28"/>
            <p:cNvSpPr txBox="1"/>
            <p:nvPr/>
          </p:nvSpPr>
          <p:spPr>
            <a:xfrm>
              <a:off x="865346" y="3678793"/>
              <a:ext cx="148920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94A3B8"/>
                  </a:solidFill>
                  <a:latin typeface="Segoe UI"/>
                  <a:ea typeface="Microsoft YaHei"/>
                  <a:cs typeface="Segoe UI"/>
                </a:rPr>
                <a:t>REST API CRUD ENDPOINTS:</a:t>
              </a:r>
            </a:p>
          </p:txBody>
        </p:sp>
        <p:sp>
          <p:nvSpPr>
            <p:cNvPr id="29" name="TextBox 29"/>
            <p:cNvSpPr txBox="1"/>
            <p:nvPr/>
          </p:nvSpPr>
          <p:spPr>
            <a:xfrm>
              <a:off x="865346" y="3878818"/>
              <a:ext cx="2086416"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38BDF8"/>
                  </a:solidFill>
                  <a:latin typeface="Consolas"/>
                  <a:ea typeface="Microsoft YaHei"/>
                  <a:cs typeface="Consolas"/>
                </a:rPr>
                <a:t>GET /api/v1/customers (Filter/Page)</a:t>
              </a:r>
            </a:p>
          </p:txBody>
        </p:sp>
        <p:sp>
          <p:nvSpPr>
            <p:cNvPr id="30" name="TextBox 30"/>
            <p:cNvSpPr txBox="1"/>
            <p:nvPr/>
          </p:nvSpPr>
          <p:spPr>
            <a:xfrm>
              <a:off x="865346" y="4050268"/>
              <a:ext cx="2046160"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38BDF8"/>
                  </a:solidFill>
                  <a:latin typeface="Consolas"/>
                  <a:ea typeface="Microsoft YaHei"/>
                  <a:cs typeface="Consolas"/>
                </a:rPr>
                <a:t>POST /api/v1/customers (Tạo hồ sơ)</a:t>
              </a:r>
            </a:p>
          </p:txBody>
        </p:sp>
        <p:sp>
          <p:nvSpPr>
            <p:cNvPr id="31" name="TextBox 31"/>
            <p:cNvSpPr txBox="1"/>
            <p:nvPr/>
          </p:nvSpPr>
          <p:spPr>
            <a:xfrm>
              <a:off x="865346" y="4221718"/>
              <a:ext cx="2212931"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38BDF8"/>
                  </a:solidFill>
                  <a:latin typeface="Consolas"/>
                  <a:ea typeface="Microsoft YaHei"/>
                  <a:cs typeface="Consolas"/>
                </a:rPr>
                <a:t>PUT /api/v1/customers/{id} (Cập nhật)</a:t>
              </a:r>
            </a:p>
          </p:txBody>
        </p:sp>
        <p:sp>
          <p:nvSpPr>
            <p:cNvPr id="32" name="Rectangle 32"/>
            <p:cNvSpPr/>
            <p:nvPr/>
          </p:nvSpPr>
          <p:spPr>
            <a:xfrm>
              <a:off x="742950" y="4524375"/>
              <a:ext cx="3143250" cy="685800"/>
            </a:xfrm>
            <a:prstGeom prst="roundRect">
              <a:avLst>
                <a:gd name="adj" fmla="val 11111"/>
              </a:avLst>
            </a:prstGeom>
            <a:solidFill>
              <a:srgbClr val="0F172A"/>
            </a:solidFill>
            <a:ln w="9525">
              <a:solidFill>
                <a:srgbClr val="2563EB"/>
              </a:solidFill>
            </a:ln>
            <a:effectLst>
              <a:outerShdw blurRad="95250" dist="28575" dir="5400000" algn="ctr" rotWithShape="0">
                <a:srgbClr val="000000">
                  <a:alpha val="26250"/>
                </a:srgbClr>
              </a:outerShdw>
            </a:effectLst>
          </p:spPr>
        </p:sp>
        <p:grpSp>
          <p:nvGrpSpPr>
            <p:cNvPr id="36" name="Group 36"/>
            <p:cNvGrpSpPr/>
            <p:nvPr/>
          </p:nvGrpSpPr>
          <p:grpSpPr>
            <a:xfrm>
              <a:off x="895350" y="4743450"/>
              <a:ext cx="152400" cy="171450"/>
              <a:chOff x="895350" y="4743450"/>
              <a:chExt cx="152400" cy="171450"/>
            </a:xfrm>
          </p:grpSpPr>
          <p:sp>
            <p:nvSpPr>
              <p:cNvPr id="33" name="Freeform 33"/>
              <p:cNvSpPr/>
              <p:nvPr/>
            </p:nvSpPr>
            <p:spPr>
              <a:xfrm>
                <a:off x="895350" y="4743450"/>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a:solidFill>
                  <a:srgbClr val="38BDF8"/>
                </a:solidFill>
              </a:ln>
              <a:effectLst>
                <a:outerShdw blurRad="95250" dist="28575" dir="5400000" algn="ctr" rotWithShape="0">
                  <a:srgbClr val="000000">
                    <a:alpha val="26250"/>
                  </a:srgbClr>
                </a:outerShdw>
              </a:effectLst>
            </p:spPr>
          </p:sp>
          <p:sp>
            <p:nvSpPr>
              <p:cNvPr id="34" name="Freeform 34"/>
              <p:cNvSpPr/>
              <p:nvPr/>
            </p:nvSpPr>
            <p:spPr>
              <a:xfrm>
                <a:off x="895350" y="477202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38BDF8"/>
                </a:solidFill>
              </a:ln>
              <a:effectLst>
                <a:outerShdw blurRad="95250" dist="28575" dir="5400000" algn="ctr" rotWithShape="0">
                  <a:srgbClr val="000000">
                    <a:alpha val="26250"/>
                  </a:srgbClr>
                </a:outerShdw>
              </a:effectLst>
            </p:spPr>
          </p:sp>
          <p:sp>
            <p:nvSpPr>
              <p:cNvPr id="35" name="Freeform 35"/>
              <p:cNvSpPr/>
              <p:nvPr/>
            </p:nvSpPr>
            <p:spPr>
              <a:xfrm>
                <a:off x="895350" y="482917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38BDF8"/>
                </a:solidFill>
              </a:ln>
              <a:effectLst>
                <a:outerShdw blurRad="95250" dist="28575" dir="5400000" algn="ctr" rotWithShape="0">
                  <a:srgbClr val="000000">
                    <a:alpha val="26250"/>
                  </a:srgbClr>
                </a:outerShdw>
              </a:effectLst>
            </p:spPr>
          </p:sp>
        </p:grpSp>
        <p:sp>
          <p:nvSpPr>
            <p:cNvPr id="37" name="TextBox 37"/>
            <p:cNvSpPr txBox="1"/>
            <p:nvPr/>
          </p:nvSpPr>
          <p:spPr>
            <a:xfrm>
              <a:off x="1168718" y="4695349"/>
              <a:ext cx="205204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Database Sở Hữu: db_customer</a:t>
              </a:r>
            </a:p>
          </p:txBody>
        </p:sp>
        <p:sp>
          <p:nvSpPr>
            <p:cNvPr id="38" name="TextBox 38"/>
            <p:cNvSpPr txBox="1"/>
            <p:nvPr/>
          </p:nvSpPr>
          <p:spPr>
            <a:xfrm>
              <a:off x="1170622" y="4911566"/>
              <a:ext cx="2694289"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Cô lập dữ liệu hoàn toàn · Không chia sẻ connection</a:t>
              </a:r>
            </a:p>
          </p:txBody>
        </p:sp>
      </p:grpSp>
      <p:grpSp>
        <p:nvGrpSpPr>
          <p:cNvPr id="66" name="Group 66"/>
          <p:cNvGrpSpPr/>
          <p:nvPr/>
        </p:nvGrpSpPr>
        <p:grpSpPr>
          <a:xfrm>
            <a:off x="4333875" y="1285875"/>
            <a:ext cx="3476625" cy="4095750"/>
            <a:chOff x="4333875" y="1285875"/>
            <a:chExt cx="3476625" cy="4095750"/>
          </a:xfrm>
          <a:effectLst>
            <a:outerShdw blurRad="95250" dist="28575" dir="5400000" algn="ctr" rotWithShape="0">
              <a:srgbClr val="000000">
                <a:alpha val="26250"/>
              </a:srgbClr>
            </a:outerShdw>
          </a:effectLst>
        </p:grpSpPr>
        <p:sp>
          <p:nvSpPr>
            <p:cNvPr id="40" name="Rectangle 40"/>
            <p:cNvSpPr/>
            <p:nvPr/>
          </p:nvSpPr>
          <p:spPr>
            <a:xfrm>
              <a:off x="4333875" y="1285875"/>
              <a:ext cx="3476625" cy="4095750"/>
            </a:xfrm>
            <a:prstGeom prst="roundRect">
              <a:avLst>
                <a:gd name="adj" fmla="val 383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41" name="Freeform 41"/>
            <p:cNvSpPr/>
            <p:nvPr/>
          </p:nvSpPr>
          <p:spPr>
            <a:xfrm>
              <a:off x="4333875" y="1285875"/>
              <a:ext cx="3476625" cy="857250"/>
            </a:xfrm>
            <a:custGeom>
              <a:avLst/>
              <a:gdLst/>
              <a:ahLst/>
              <a:cxnLst/>
              <a:rect l="l" t="t" r="r" b="b"/>
              <a:pathLst>
                <a:path w="3476625" h="857250">
                  <a:moveTo>
                    <a:pt x="133350" y="0"/>
                  </a:moveTo>
                  <a:lnTo>
                    <a:pt x="3343275" y="0"/>
                  </a:lnTo>
                  <a:cubicBezTo>
                    <a:pt x="3416922" y="0"/>
                    <a:pt x="3476625" y="59703"/>
                    <a:pt x="3476625" y="133350"/>
                  </a:cubicBezTo>
                  <a:lnTo>
                    <a:pt x="3476625" y="857250"/>
                  </a:lnTo>
                  <a:lnTo>
                    <a:pt x="0" y="857250"/>
                  </a:lnTo>
                  <a:lnTo>
                    <a:pt x="0" y="133350"/>
                  </a:lnTo>
                  <a:cubicBezTo>
                    <a:pt x="0" y="59703"/>
                    <a:pt x="59703" y="0"/>
                    <a:pt x="133350" y="0"/>
                  </a:cubicBezTo>
                  <a:close/>
                </a:path>
              </a:pathLst>
            </a:custGeom>
            <a:solidFill>
              <a:srgbClr val="14532D"/>
            </a:solidFill>
            <a:ln>
              <a:noFill/>
            </a:ln>
            <a:effectLst>
              <a:outerShdw blurRad="95250" dist="28575" dir="5400000" algn="ctr" rotWithShape="0">
                <a:srgbClr val="000000">
                  <a:alpha val="26250"/>
                </a:srgbClr>
              </a:outerShdw>
            </a:effectLst>
          </p:spPr>
        </p:sp>
        <p:grpSp>
          <p:nvGrpSpPr>
            <p:cNvPr id="45" name="Group 45"/>
            <p:cNvGrpSpPr/>
            <p:nvPr/>
          </p:nvGrpSpPr>
          <p:grpSpPr>
            <a:xfrm>
              <a:off x="4605338" y="1488281"/>
              <a:ext cx="202405" cy="242888"/>
              <a:chOff x="4605338" y="1488281"/>
              <a:chExt cx="202405" cy="242888"/>
            </a:xfrm>
          </p:grpSpPr>
          <p:sp>
            <p:nvSpPr>
              <p:cNvPr id="42" name="Freeform 42"/>
              <p:cNvSpPr/>
              <p:nvPr/>
            </p:nvSpPr>
            <p:spPr>
              <a:xfrm>
                <a:off x="4632325" y="148828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4ADE80"/>
                </a:solidFill>
              </a:ln>
              <a:effectLst>
                <a:outerShdw blurRad="95250" dist="28575" dir="5400000" algn="ctr" rotWithShape="0">
                  <a:srgbClr val="000000">
                    <a:alpha val="26250"/>
                  </a:srgbClr>
                </a:outerShdw>
              </a:effectLst>
            </p:spPr>
          </p:sp>
          <p:sp>
            <p:nvSpPr>
              <p:cNvPr id="43" name="Freeform 43"/>
              <p:cNvSpPr/>
              <p:nvPr/>
            </p:nvSpPr>
            <p:spPr>
              <a:xfrm>
                <a:off x="4605338" y="1650206"/>
                <a:ext cx="107950" cy="80962"/>
              </a:xfrm>
              <a:custGeom>
                <a:avLst/>
                <a:gdLst/>
                <a:ahLst/>
                <a:cxnLst/>
                <a:rect l="l" t="t" r="r" b="b"/>
                <a:pathLst>
                  <a:path w="107950" h="80962">
                    <a:moveTo>
                      <a:pt x="0" y="80962"/>
                    </a:moveTo>
                    <a:lnTo>
                      <a:pt x="0" y="53975"/>
                    </a:lnTo>
                    <a:cubicBezTo>
                      <a:pt x="0" y="24165"/>
                      <a:pt x="24165" y="0"/>
                      <a:pt x="53975" y="0"/>
                    </a:cubicBezTo>
                    <a:lnTo>
                      <a:pt x="107950" y="0"/>
                    </a:lnTo>
                  </a:path>
                </a:pathLst>
              </a:custGeom>
              <a:noFill/>
              <a:ln w="19050">
                <a:solidFill>
                  <a:srgbClr val="4ADE80"/>
                </a:solidFill>
              </a:ln>
              <a:effectLst>
                <a:outerShdw blurRad="95250" dist="28575" dir="5400000" algn="ctr" rotWithShape="0">
                  <a:srgbClr val="000000">
                    <a:alpha val="26250"/>
                  </a:srgbClr>
                </a:outerShdw>
              </a:effectLst>
            </p:spPr>
          </p:sp>
          <p:sp>
            <p:nvSpPr>
              <p:cNvPr id="44" name="Freeform 44"/>
              <p:cNvSpPr/>
              <p:nvPr/>
            </p:nvSpPr>
            <p:spPr>
              <a:xfrm>
                <a:off x="4726781" y="1677194"/>
                <a:ext cx="80962" cy="53975"/>
              </a:xfrm>
              <a:custGeom>
                <a:avLst/>
                <a:gdLst/>
                <a:ahLst/>
                <a:cxnLst/>
                <a:rect l="l" t="t" r="r" b="b"/>
                <a:pathLst>
                  <a:path w="80962" h="53975">
                    <a:moveTo>
                      <a:pt x="0" y="26987"/>
                    </a:moveTo>
                    <a:lnTo>
                      <a:pt x="26987" y="53975"/>
                    </a:lnTo>
                    <a:lnTo>
                      <a:pt x="80962" y="0"/>
                    </a:lnTo>
                  </a:path>
                </a:pathLst>
              </a:custGeom>
              <a:noFill/>
              <a:ln w="19050">
                <a:solidFill>
                  <a:srgbClr val="4ADE80"/>
                </a:solidFill>
              </a:ln>
              <a:effectLst>
                <a:outerShdw blurRad="95250" dist="28575" dir="5400000" algn="ctr" rotWithShape="0">
                  <a:srgbClr val="000000">
                    <a:alpha val="26250"/>
                  </a:srgbClr>
                </a:outerShdw>
              </a:effectLst>
            </p:spPr>
          </p:sp>
        </p:grpSp>
        <p:sp>
          <p:nvSpPr>
            <p:cNvPr id="46" name="TextBox 46"/>
            <p:cNvSpPr txBox="1"/>
            <p:nvPr/>
          </p:nvSpPr>
          <p:spPr>
            <a:xfrm>
              <a:off x="4946332" y="1443514"/>
              <a:ext cx="1630160" cy="2590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275" b="1" dirty="0">
                  <a:solidFill>
                    <a:srgbClr val="F8FAFC"/>
                  </a:solidFill>
                  <a:latin typeface="Segoe UI"/>
                  <a:ea typeface="Microsoft YaHei"/>
                  <a:cs typeface="Segoe UI"/>
                </a:rPr>
                <a:t>Staff Management</a:t>
              </a:r>
            </a:p>
          </p:txBody>
        </p:sp>
        <p:sp>
          <p:nvSpPr>
            <p:cNvPr id="47" name="TextBox 47"/>
            <p:cNvSpPr txBox="1"/>
            <p:nvPr/>
          </p:nvSpPr>
          <p:spPr>
            <a:xfrm>
              <a:off x="4950619" y="1689497"/>
              <a:ext cx="163838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86EFAC"/>
                  </a:solidFill>
                  <a:latin typeface="Segoe UI"/>
                  <a:ea typeface="Microsoft YaHei"/>
                  <a:cs typeface="Segoe UI"/>
                </a:rPr>
                <a:t>Nhân Viên &amp; Giao Dịch Viên</a:t>
              </a:r>
            </a:p>
          </p:txBody>
        </p:sp>
        <p:sp>
          <p:nvSpPr>
            <p:cNvPr id="48" name="Line 48"/>
            <p:cNvSpPr/>
            <p:nvPr/>
          </p:nvSpPr>
          <p:spPr>
            <a:xfrm>
              <a:off x="4524375" y="2143125"/>
              <a:ext cx="3095625" cy="9525"/>
            </a:xfrm>
            <a:custGeom>
              <a:avLst/>
              <a:gdLst/>
              <a:ahLst/>
              <a:cxnLst/>
              <a:rect l="l" t="t" r="r" b="b"/>
              <a:pathLst>
                <a:path w="3095625" h="9525">
                  <a:moveTo>
                    <a:pt x="0" y="0"/>
                  </a:moveTo>
                  <a:lnTo>
                    <a:pt x="3095625" y="0"/>
                  </a:lnTo>
                </a:path>
              </a:pathLst>
            </a:custGeom>
            <a:noFill/>
            <a:ln w="14288">
              <a:solidFill>
                <a:srgbClr val="166534"/>
              </a:solidFill>
            </a:ln>
          </p:spPr>
        </p:sp>
        <p:sp>
          <p:nvSpPr>
            <p:cNvPr id="49" name="TextBox 49"/>
            <p:cNvSpPr txBox="1"/>
            <p:nvPr/>
          </p:nvSpPr>
          <p:spPr>
            <a:xfrm>
              <a:off x="4512945" y="2303145"/>
              <a:ext cx="202021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4ADE80"/>
                  </a:solidFill>
                  <a:latin typeface="Segoe UI"/>
                  <a:ea typeface="Microsoft YaHei"/>
                  <a:cs typeface="Segoe UI"/>
                </a:rPr>
                <a:t>THỰC THỂ CỐT LÕI (STAFF ENTITY):</a:t>
              </a:r>
            </a:p>
          </p:txBody>
        </p:sp>
        <p:sp>
          <p:nvSpPr>
            <p:cNvPr id="50" name="TextBox 50"/>
            <p:cNvSpPr txBox="1"/>
            <p:nvPr/>
          </p:nvSpPr>
          <p:spPr>
            <a:xfrm>
              <a:off x="4512945" y="2522220"/>
              <a:ext cx="59293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4ADE80"/>
                  </a:solidFill>
                  <a:latin typeface="Consolas"/>
                  <a:ea typeface="Microsoft YaHei"/>
                  <a:cs typeface="Consolas"/>
                </a:rPr>
                <a:t>id (UUID):</a:t>
              </a:r>
            </a:p>
          </p:txBody>
        </p:sp>
        <p:sp>
          <p:nvSpPr>
            <p:cNvPr id="51" name="TextBox 51"/>
            <p:cNvSpPr txBox="1"/>
            <p:nvPr/>
          </p:nvSpPr>
          <p:spPr>
            <a:xfrm>
              <a:off x="4512945" y="2731770"/>
              <a:ext cx="74895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4ADE80"/>
                  </a:solidFill>
                  <a:latin typeface="Consolas"/>
                  <a:ea typeface="Microsoft YaHei"/>
                  <a:cs typeface="Consolas"/>
                </a:rPr>
                <a:t>branchCode:</a:t>
              </a:r>
            </a:p>
          </p:txBody>
        </p:sp>
        <p:sp>
          <p:nvSpPr>
            <p:cNvPr id="52" name="TextBox 52"/>
            <p:cNvSpPr txBox="1"/>
            <p:nvPr/>
          </p:nvSpPr>
          <p:spPr>
            <a:xfrm>
              <a:off x="4512945" y="2941320"/>
              <a:ext cx="32289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4ADE80"/>
                  </a:solidFill>
                  <a:latin typeface="Consolas"/>
                  <a:ea typeface="Microsoft YaHei"/>
                  <a:cs typeface="Consolas"/>
                </a:rPr>
                <a:t>role:</a:t>
              </a:r>
            </a:p>
          </p:txBody>
        </p:sp>
        <p:sp>
          <p:nvSpPr>
            <p:cNvPr id="53" name="TextBox 53"/>
            <p:cNvSpPr txBox="1"/>
            <p:nvPr/>
          </p:nvSpPr>
          <p:spPr>
            <a:xfrm>
              <a:off x="4512945" y="3150870"/>
              <a:ext cx="77295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4ADE80"/>
                  </a:solidFill>
                  <a:latin typeface="Consolas"/>
                  <a:ea typeface="Microsoft YaHei"/>
                  <a:cs typeface="Consolas"/>
                </a:rPr>
                <a:t>department:</a:t>
              </a:r>
            </a:p>
          </p:txBody>
        </p:sp>
        <p:sp>
          <p:nvSpPr>
            <p:cNvPr id="54" name="Rectangle 54"/>
            <p:cNvSpPr/>
            <p:nvPr/>
          </p:nvSpPr>
          <p:spPr>
            <a:xfrm>
              <a:off x="4505325" y="3571875"/>
              <a:ext cx="3143250" cy="809625"/>
            </a:xfrm>
            <a:prstGeom prst="roundRect">
              <a:avLst>
                <a:gd name="adj" fmla="val 9412"/>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55" name="TextBox 55"/>
            <p:cNvSpPr txBox="1"/>
            <p:nvPr/>
          </p:nvSpPr>
          <p:spPr>
            <a:xfrm>
              <a:off x="4627721" y="3678793"/>
              <a:ext cx="148920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94A3B8"/>
                  </a:solidFill>
                  <a:latin typeface="Segoe UI"/>
                  <a:ea typeface="Microsoft YaHei"/>
                  <a:cs typeface="Segoe UI"/>
                </a:rPr>
                <a:t>REST API CRUD ENDPOINTS:</a:t>
              </a:r>
            </a:p>
          </p:txBody>
        </p:sp>
        <p:sp>
          <p:nvSpPr>
            <p:cNvPr id="56" name="TextBox 56"/>
            <p:cNvSpPr txBox="1"/>
            <p:nvPr/>
          </p:nvSpPr>
          <p:spPr>
            <a:xfrm>
              <a:off x="4627721" y="3878818"/>
              <a:ext cx="235094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4ADE80"/>
                  </a:solidFill>
                  <a:latin typeface="Consolas"/>
                  <a:ea typeface="Microsoft YaHei"/>
                  <a:cs typeface="Consolas"/>
                </a:rPr>
                <a:t>GET /api/v1/staff (Phân trang danh sách)</a:t>
              </a:r>
            </a:p>
          </p:txBody>
        </p:sp>
        <p:sp>
          <p:nvSpPr>
            <p:cNvPr id="57" name="TextBox 57"/>
            <p:cNvSpPr txBox="1"/>
            <p:nvPr/>
          </p:nvSpPr>
          <p:spPr>
            <a:xfrm>
              <a:off x="4627721" y="4050268"/>
              <a:ext cx="242570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4ADE80"/>
                  </a:solidFill>
                  <a:latin typeface="Consolas"/>
                  <a:ea typeface="Microsoft YaHei"/>
                  <a:cs typeface="Consolas"/>
                </a:rPr>
                <a:t>POST /api/v1/staff (Admin thêm nhân viên)</a:t>
              </a:r>
            </a:p>
          </p:txBody>
        </p:sp>
        <p:sp>
          <p:nvSpPr>
            <p:cNvPr id="58" name="TextBox 58"/>
            <p:cNvSpPr txBox="1"/>
            <p:nvPr/>
          </p:nvSpPr>
          <p:spPr>
            <a:xfrm>
              <a:off x="4627721" y="4221718"/>
              <a:ext cx="2258937"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4ADE80"/>
                  </a:solidFill>
                  <a:latin typeface="Consolas"/>
                  <a:ea typeface="Microsoft YaHei"/>
                  <a:cs typeface="Consolas"/>
                </a:rPr>
                <a:t>PUT /api/v1/staff/{id}/role (Đổi quyền)</a:t>
              </a:r>
            </a:p>
          </p:txBody>
        </p:sp>
        <p:sp>
          <p:nvSpPr>
            <p:cNvPr id="59" name="Rectangle 59"/>
            <p:cNvSpPr/>
            <p:nvPr/>
          </p:nvSpPr>
          <p:spPr>
            <a:xfrm>
              <a:off x="4505325" y="4524375"/>
              <a:ext cx="3143250" cy="685800"/>
            </a:xfrm>
            <a:prstGeom prst="roundRect">
              <a:avLst>
                <a:gd name="adj" fmla="val 11111"/>
              </a:avLst>
            </a:prstGeom>
            <a:solidFill>
              <a:srgbClr val="0F172A"/>
            </a:solidFill>
            <a:ln w="9525">
              <a:solidFill>
                <a:srgbClr val="16A34A"/>
              </a:solidFill>
            </a:ln>
            <a:effectLst>
              <a:outerShdw blurRad="95250" dist="28575" dir="5400000" algn="ctr" rotWithShape="0">
                <a:srgbClr val="000000">
                  <a:alpha val="26250"/>
                </a:srgbClr>
              </a:outerShdw>
            </a:effectLst>
          </p:spPr>
        </p:sp>
        <p:grpSp>
          <p:nvGrpSpPr>
            <p:cNvPr id="63" name="Group 63"/>
            <p:cNvGrpSpPr/>
            <p:nvPr/>
          </p:nvGrpSpPr>
          <p:grpSpPr>
            <a:xfrm>
              <a:off x="4657725" y="4743450"/>
              <a:ext cx="152400" cy="171450"/>
              <a:chOff x="4657725" y="4743450"/>
              <a:chExt cx="152400" cy="171450"/>
            </a:xfrm>
          </p:grpSpPr>
          <p:sp>
            <p:nvSpPr>
              <p:cNvPr id="60" name="Freeform 60"/>
              <p:cNvSpPr/>
              <p:nvPr/>
            </p:nvSpPr>
            <p:spPr>
              <a:xfrm>
                <a:off x="4657725" y="4743450"/>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a:solidFill>
                  <a:srgbClr val="4ADE80"/>
                </a:solidFill>
              </a:ln>
              <a:effectLst>
                <a:outerShdw blurRad="95250" dist="28575" dir="5400000" algn="ctr" rotWithShape="0">
                  <a:srgbClr val="000000">
                    <a:alpha val="26250"/>
                  </a:srgbClr>
                </a:outerShdw>
              </a:effectLst>
            </p:spPr>
          </p:sp>
          <p:sp>
            <p:nvSpPr>
              <p:cNvPr id="61" name="Freeform 61"/>
              <p:cNvSpPr/>
              <p:nvPr/>
            </p:nvSpPr>
            <p:spPr>
              <a:xfrm>
                <a:off x="4657725" y="477202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4ADE80"/>
                </a:solidFill>
              </a:ln>
              <a:effectLst>
                <a:outerShdw blurRad="95250" dist="28575" dir="5400000" algn="ctr" rotWithShape="0">
                  <a:srgbClr val="000000">
                    <a:alpha val="26250"/>
                  </a:srgbClr>
                </a:outerShdw>
              </a:effectLst>
            </p:spPr>
          </p:sp>
          <p:sp>
            <p:nvSpPr>
              <p:cNvPr id="62" name="Freeform 62"/>
              <p:cNvSpPr/>
              <p:nvPr/>
            </p:nvSpPr>
            <p:spPr>
              <a:xfrm>
                <a:off x="4657725" y="482917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4ADE80"/>
                </a:solidFill>
              </a:ln>
              <a:effectLst>
                <a:outerShdw blurRad="95250" dist="28575" dir="5400000" algn="ctr" rotWithShape="0">
                  <a:srgbClr val="000000">
                    <a:alpha val="26250"/>
                  </a:srgbClr>
                </a:outerShdw>
              </a:effectLst>
            </p:spPr>
          </p:sp>
        </p:grpSp>
        <p:sp>
          <p:nvSpPr>
            <p:cNvPr id="64" name="TextBox 64"/>
            <p:cNvSpPr txBox="1"/>
            <p:nvPr/>
          </p:nvSpPr>
          <p:spPr>
            <a:xfrm>
              <a:off x="4931092" y="4695349"/>
              <a:ext cx="205204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Database Sở Hữu: db_customer</a:t>
              </a:r>
            </a:p>
          </p:txBody>
        </p:sp>
        <p:sp>
          <p:nvSpPr>
            <p:cNvPr id="65" name="TextBox 65"/>
            <p:cNvSpPr txBox="1"/>
            <p:nvPr/>
          </p:nvSpPr>
          <p:spPr>
            <a:xfrm>
              <a:off x="4932998" y="4911566"/>
              <a:ext cx="2364248"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Quan hệ logic với bảng Customer qua StaffId</a:t>
              </a:r>
            </a:p>
          </p:txBody>
        </p:sp>
      </p:grpSp>
      <p:grpSp>
        <p:nvGrpSpPr>
          <p:cNvPr id="98" name="Group 98"/>
          <p:cNvGrpSpPr/>
          <p:nvPr/>
        </p:nvGrpSpPr>
        <p:grpSpPr>
          <a:xfrm>
            <a:off x="8096250" y="1285875"/>
            <a:ext cx="3628953" cy="4095750"/>
            <a:chOff x="8096250" y="1285875"/>
            <a:chExt cx="3628953" cy="4095750"/>
          </a:xfrm>
          <a:effectLst>
            <a:outerShdw blurRad="95250" dist="28575" dir="5400000" algn="ctr" rotWithShape="0">
              <a:srgbClr val="000000">
                <a:alpha val="26250"/>
              </a:srgbClr>
            </a:outerShdw>
          </a:effectLst>
        </p:grpSpPr>
        <p:sp>
          <p:nvSpPr>
            <p:cNvPr id="67" name="Rectangle 67"/>
            <p:cNvSpPr/>
            <p:nvPr/>
          </p:nvSpPr>
          <p:spPr>
            <a:xfrm>
              <a:off x="8096250" y="1285875"/>
              <a:ext cx="3524250" cy="4095750"/>
            </a:xfrm>
            <a:prstGeom prst="roundRect">
              <a:avLst>
                <a:gd name="adj" fmla="val 3784"/>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68" name="Freeform 68"/>
            <p:cNvSpPr/>
            <p:nvPr/>
          </p:nvSpPr>
          <p:spPr>
            <a:xfrm>
              <a:off x="8096250" y="1285875"/>
              <a:ext cx="3524250" cy="857250"/>
            </a:xfrm>
            <a:custGeom>
              <a:avLst/>
              <a:gdLst/>
              <a:ahLst/>
              <a:cxnLst/>
              <a:rect l="l" t="t" r="r" b="b"/>
              <a:pathLst>
                <a:path w="3524250" h="857250">
                  <a:moveTo>
                    <a:pt x="133350" y="0"/>
                  </a:moveTo>
                  <a:lnTo>
                    <a:pt x="3390900" y="0"/>
                  </a:lnTo>
                  <a:cubicBezTo>
                    <a:pt x="3464547" y="0"/>
                    <a:pt x="3524250" y="59703"/>
                    <a:pt x="3524250" y="133350"/>
                  </a:cubicBezTo>
                  <a:lnTo>
                    <a:pt x="3524250" y="857250"/>
                  </a:lnTo>
                  <a:lnTo>
                    <a:pt x="0" y="857250"/>
                  </a:lnTo>
                  <a:lnTo>
                    <a:pt x="0" y="133350"/>
                  </a:lnTo>
                  <a:cubicBezTo>
                    <a:pt x="0" y="59703"/>
                    <a:pt x="59703" y="0"/>
                    <a:pt x="133350" y="0"/>
                  </a:cubicBezTo>
                  <a:close/>
                </a:path>
              </a:pathLst>
            </a:custGeom>
            <a:solidFill>
              <a:srgbClr val="78350F"/>
            </a:solidFill>
            <a:ln>
              <a:noFill/>
            </a:ln>
            <a:effectLst>
              <a:outerShdw blurRad="95250" dist="28575" dir="5400000" algn="ctr" rotWithShape="0">
                <a:srgbClr val="000000">
                  <a:alpha val="26250"/>
                </a:srgbClr>
              </a:outerShdw>
            </a:effectLst>
          </p:spPr>
        </p:sp>
        <p:grpSp>
          <p:nvGrpSpPr>
            <p:cNvPr id="77" name="Group 77"/>
            <p:cNvGrpSpPr/>
            <p:nvPr/>
          </p:nvGrpSpPr>
          <p:grpSpPr>
            <a:xfrm>
              <a:off x="8327231" y="1488281"/>
              <a:ext cx="242888" cy="252413"/>
              <a:chOff x="8327231" y="1488281"/>
              <a:chExt cx="242888" cy="252413"/>
            </a:xfrm>
          </p:grpSpPr>
          <p:sp>
            <p:nvSpPr>
              <p:cNvPr id="69" name="Freeform 69"/>
              <p:cNvSpPr/>
              <p:nvPr/>
            </p:nvSpPr>
            <p:spPr>
              <a:xfrm>
                <a:off x="8327231" y="1731169"/>
                <a:ext cx="242888" cy="9525"/>
              </a:xfrm>
              <a:custGeom>
                <a:avLst/>
                <a:gdLst/>
                <a:ahLst/>
                <a:cxnLst/>
                <a:rect l="l" t="t" r="r" b="b"/>
                <a:pathLst>
                  <a:path w="242888" h="9525">
                    <a:moveTo>
                      <a:pt x="0" y="0"/>
                    </a:moveTo>
                    <a:lnTo>
                      <a:pt x="242888" y="0"/>
                    </a:lnTo>
                  </a:path>
                </a:pathLst>
              </a:custGeom>
              <a:noFill/>
              <a:ln w="19050">
                <a:solidFill>
                  <a:srgbClr val="FBBF24"/>
                </a:solidFill>
              </a:ln>
              <a:effectLst>
                <a:outerShdw blurRad="95250" dist="28575" dir="5400000" algn="ctr" rotWithShape="0">
                  <a:srgbClr val="000000">
                    <a:alpha val="26250"/>
                  </a:srgbClr>
                </a:outerShdw>
              </a:effectLst>
            </p:spPr>
          </p:sp>
          <p:sp>
            <p:nvSpPr>
              <p:cNvPr id="70" name="Freeform 70"/>
              <p:cNvSpPr/>
              <p:nvPr/>
            </p:nvSpPr>
            <p:spPr>
              <a:xfrm>
                <a:off x="8327231" y="1582738"/>
                <a:ext cx="242888" cy="9525"/>
              </a:xfrm>
              <a:custGeom>
                <a:avLst/>
                <a:gdLst/>
                <a:ahLst/>
                <a:cxnLst/>
                <a:rect l="l" t="t" r="r" b="b"/>
                <a:pathLst>
                  <a:path w="242888" h="9525">
                    <a:moveTo>
                      <a:pt x="0" y="0"/>
                    </a:moveTo>
                    <a:lnTo>
                      <a:pt x="242888" y="0"/>
                    </a:lnTo>
                  </a:path>
                </a:pathLst>
              </a:custGeom>
              <a:noFill/>
              <a:ln w="19050">
                <a:solidFill>
                  <a:srgbClr val="FBBF24"/>
                </a:solidFill>
              </a:ln>
              <a:effectLst>
                <a:outerShdw blurRad="95250" dist="28575" dir="5400000" algn="ctr" rotWithShape="0">
                  <a:srgbClr val="000000">
                    <a:alpha val="26250"/>
                  </a:srgbClr>
                </a:outerShdw>
              </a:effectLst>
            </p:spPr>
          </p:sp>
          <p:sp>
            <p:nvSpPr>
              <p:cNvPr id="71" name="Freeform 71"/>
              <p:cNvSpPr/>
              <p:nvPr/>
            </p:nvSpPr>
            <p:spPr>
              <a:xfrm>
                <a:off x="8354219" y="1488281"/>
                <a:ext cx="188912" cy="40481"/>
              </a:xfrm>
              <a:custGeom>
                <a:avLst/>
                <a:gdLst/>
                <a:ahLst/>
                <a:cxnLst/>
                <a:rect l="l" t="t" r="r" b="b"/>
                <a:pathLst>
                  <a:path w="188912" h="40481">
                    <a:moveTo>
                      <a:pt x="0" y="40481"/>
                    </a:moveTo>
                    <a:lnTo>
                      <a:pt x="94456" y="0"/>
                    </a:lnTo>
                    <a:lnTo>
                      <a:pt x="188912" y="40481"/>
                    </a:lnTo>
                  </a:path>
                </a:pathLst>
              </a:custGeom>
              <a:noFill/>
              <a:ln w="19050">
                <a:solidFill>
                  <a:srgbClr val="FBBF24"/>
                </a:solidFill>
              </a:ln>
              <a:effectLst>
                <a:outerShdw blurRad="95250" dist="28575" dir="5400000" algn="ctr" rotWithShape="0">
                  <a:srgbClr val="000000">
                    <a:alpha val="26250"/>
                  </a:srgbClr>
                </a:outerShdw>
              </a:effectLst>
            </p:spPr>
          </p:sp>
          <p:sp>
            <p:nvSpPr>
              <p:cNvPr id="72" name="Freeform 72"/>
              <p:cNvSpPr/>
              <p:nvPr/>
            </p:nvSpPr>
            <p:spPr>
              <a:xfrm>
                <a:off x="8340725" y="1582738"/>
                <a:ext cx="9525" cy="148431"/>
              </a:xfrm>
              <a:custGeom>
                <a:avLst/>
                <a:gdLst/>
                <a:ahLst/>
                <a:cxnLst/>
                <a:rect l="l" t="t" r="r" b="b"/>
                <a:pathLst>
                  <a:path w="9525" h="148431">
                    <a:moveTo>
                      <a:pt x="0" y="0"/>
                    </a:moveTo>
                    <a:lnTo>
                      <a:pt x="0" y="148431"/>
                    </a:lnTo>
                  </a:path>
                </a:pathLst>
              </a:custGeom>
              <a:noFill/>
              <a:ln w="19050">
                <a:solidFill>
                  <a:srgbClr val="FBBF24"/>
                </a:solidFill>
              </a:ln>
              <a:effectLst>
                <a:outerShdw blurRad="95250" dist="28575" dir="5400000" algn="ctr" rotWithShape="0">
                  <a:srgbClr val="000000">
                    <a:alpha val="26250"/>
                  </a:srgbClr>
                </a:outerShdw>
              </a:effectLst>
            </p:spPr>
          </p:sp>
          <p:sp>
            <p:nvSpPr>
              <p:cNvPr id="73" name="Freeform 73"/>
              <p:cNvSpPr/>
              <p:nvPr/>
            </p:nvSpPr>
            <p:spPr>
              <a:xfrm>
                <a:off x="8556625" y="1582738"/>
                <a:ext cx="9525" cy="148431"/>
              </a:xfrm>
              <a:custGeom>
                <a:avLst/>
                <a:gdLst/>
                <a:ahLst/>
                <a:cxnLst/>
                <a:rect l="l" t="t" r="r" b="b"/>
                <a:pathLst>
                  <a:path w="9525" h="148431">
                    <a:moveTo>
                      <a:pt x="0" y="0"/>
                    </a:moveTo>
                    <a:lnTo>
                      <a:pt x="0" y="148431"/>
                    </a:lnTo>
                  </a:path>
                </a:pathLst>
              </a:custGeom>
              <a:noFill/>
              <a:ln w="19050">
                <a:solidFill>
                  <a:srgbClr val="FBBF24"/>
                </a:solidFill>
              </a:ln>
              <a:effectLst>
                <a:outerShdw blurRad="95250" dist="28575" dir="5400000" algn="ctr" rotWithShape="0">
                  <a:srgbClr val="000000">
                    <a:alpha val="26250"/>
                  </a:srgbClr>
                </a:outerShdw>
              </a:effectLst>
            </p:spPr>
          </p:sp>
          <p:sp>
            <p:nvSpPr>
              <p:cNvPr id="74" name="Freeform 74"/>
              <p:cNvSpPr/>
              <p:nvPr/>
            </p:nvSpPr>
            <p:spPr>
              <a:xfrm>
                <a:off x="8394700" y="1636712"/>
                <a:ext cx="9525" cy="40481"/>
              </a:xfrm>
              <a:custGeom>
                <a:avLst/>
                <a:gdLst/>
                <a:ahLst/>
                <a:cxnLst/>
                <a:rect l="l" t="t" r="r" b="b"/>
                <a:pathLst>
                  <a:path w="9525" h="40481">
                    <a:moveTo>
                      <a:pt x="0" y="0"/>
                    </a:moveTo>
                    <a:lnTo>
                      <a:pt x="0" y="40481"/>
                    </a:lnTo>
                  </a:path>
                </a:pathLst>
              </a:custGeom>
              <a:noFill/>
              <a:ln w="19050">
                <a:solidFill>
                  <a:srgbClr val="FBBF24"/>
                </a:solidFill>
              </a:ln>
              <a:effectLst>
                <a:outerShdw blurRad="95250" dist="28575" dir="5400000" algn="ctr" rotWithShape="0">
                  <a:srgbClr val="000000">
                    <a:alpha val="26250"/>
                  </a:srgbClr>
                </a:outerShdw>
              </a:effectLst>
            </p:spPr>
          </p:sp>
          <p:sp>
            <p:nvSpPr>
              <p:cNvPr id="75" name="Freeform 75"/>
              <p:cNvSpPr/>
              <p:nvPr/>
            </p:nvSpPr>
            <p:spPr>
              <a:xfrm>
                <a:off x="8448675" y="1636712"/>
                <a:ext cx="9525" cy="40481"/>
              </a:xfrm>
              <a:custGeom>
                <a:avLst/>
                <a:gdLst/>
                <a:ahLst/>
                <a:cxnLst/>
                <a:rect l="l" t="t" r="r" b="b"/>
                <a:pathLst>
                  <a:path w="9525" h="40481">
                    <a:moveTo>
                      <a:pt x="0" y="0"/>
                    </a:moveTo>
                    <a:lnTo>
                      <a:pt x="0" y="40481"/>
                    </a:lnTo>
                  </a:path>
                </a:pathLst>
              </a:custGeom>
              <a:noFill/>
              <a:ln w="19050">
                <a:solidFill>
                  <a:srgbClr val="FBBF24"/>
                </a:solidFill>
              </a:ln>
              <a:effectLst>
                <a:outerShdw blurRad="95250" dist="28575" dir="5400000" algn="ctr" rotWithShape="0">
                  <a:srgbClr val="000000">
                    <a:alpha val="26250"/>
                  </a:srgbClr>
                </a:outerShdw>
              </a:effectLst>
            </p:spPr>
          </p:sp>
          <p:sp>
            <p:nvSpPr>
              <p:cNvPr id="76" name="Freeform 76"/>
              <p:cNvSpPr/>
              <p:nvPr/>
            </p:nvSpPr>
            <p:spPr>
              <a:xfrm>
                <a:off x="8502650" y="1636712"/>
                <a:ext cx="9525" cy="40481"/>
              </a:xfrm>
              <a:custGeom>
                <a:avLst/>
                <a:gdLst/>
                <a:ahLst/>
                <a:cxnLst/>
                <a:rect l="l" t="t" r="r" b="b"/>
                <a:pathLst>
                  <a:path w="9525" h="40481">
                    <a:moveTo>
                      <a:pt x="0" y="0"/>
                    </a:moveTo>
                    <a:lnTo>
                      <a:pt x="0" y="40481"/>
                    </a:lnTo>
                  </a:path>
                </a:pathLst>
              </a:custGeom>
              <a:noFill/>
              <a:ln w="19050">
                <a:solidFill>
                  <a:srgbClr val="FBBF24"/>
                </a:solidFill>
              </a:ln>
              <a:effectLst>
                <a:outerShdw blurRad="95250" dist="28575" dir="5400000" algn="ctr" rotWithShape="0">
                  <a:srgbClr val="000000">
                    <a:alpha val="26250"/>
                  </a:srgbClr>
                </a:outerShdw>
              </a:effectLst>
            </p:spPr>
          </p:sp>
        </p:grpSp>
        <p:sp>
          <p:nvSpPr>
            <p:cNvPr id="78" name="TextBox 78"/>
            <p:cNvSpPr txBox="1"/>
            <p:nvPr/>
          </p:nvSpPr>
          <p:spPr>
            <a:xfrm>
              <a:off x="8708708" y="1443514"/>
              <a:ext cx="1415933" cy="2590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275" b="1" dirty="0">
                  <a:solidFill>
                    <a:srgbClr val="F8FAFC"/>
                  </a:solidFill>
                  <a:latin typeface="Segoe UI"/>
                  <a:ea typeface="Microsoft YaHei"/>
                  <a:cs typeface="Segoe UI"/>
                </a:rPr>
                <a:t>Account Service</a:t>
              </a:r>
            </a:p>
          </p:txBody>
        </p:sp>
        <p:sp>
          <p:nvSpPr>
            <p:cNvPr id="79" name="TextBox 79"/>
            <p:cNvSpPr txBox="1"/>
            <p:nvPr/>
          </p:nvSpPr>
          <p:spPr>
            <a:xfrm>
              <a:off x="8712994" y="1689497"/>
              <a:ext cx="1887795"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DE68A"/>
                  </a:solidFill>
                  <a:latin typeface="Segoe UI"/>
                  <a:ea typeface="Microsoft YaHei"/>
                  <a:cs typeface="Segoe UI"/>
                </a:rPr>
                <a:t>Quản lý Loại &amp; Số Dư Tài Khoản</a:t>
              </a:r>
            </a:p>
          </p:txBody>
        </p:sp>
        <p:sp>
          <p:nvSpPr>
            <p:cNvPr id="80" name="Line 80"/>
            <p:cNvSpPr/>
            <p:nvPr/>
          </p:nvSpPr>
          <p:spPr>
            <a:xfrm>
              <a:off x="8286750" y="2143125"/>
              <a:ext cx="3143250" cy="9525"/>
            </a:xfrm>
            <a:custGeom>
              <a:avLst/>
              <a:gdLst/>
              <a:ahLst/>
              <a:cxnLst/>
              <a:rect l="l" t="t" r="r" b="b"/>
              <a:pathLst>
                <a:path w="3143250" h="9525">
                  <a:moveTo>
                    <a:pt x="0" y="0"/>
                  </a:moveTo>
                  <a:lnTo>
                    <a:pt x="3143250" y="0"/>
                  </a:lnTo>
                </a:path>
              </a:pathLst>
            </a:custGeom>
            <a:noFill/>
            <a:ln w="14288">
              <a:solidFill>
                <a:srgbClr val="92400E"/>
              </a:solidFill>
            </a:ln>
          </p:spPr>
        </p:sp>
        <p:sp>
          <p:nvSpPr>
            <p:cNvPr id="81" name="TextBox 81"/>
            <p:cNvSpPr txBox="1"/>
            <p:nvPr/>
          </p:nvSpPr>
          <p:spPr>
            <a:xfrm>
              <a:off x="8275320" y="2303145"/>
              <a:ext cx="218403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FBBF24"/>
                  </a:solidFill>
                  <a:latin typeface="Segoe UI"/>
                  <a:ea typeface="Microsoft YaHei"/>
                  <a:cs typeface="Segoe UI"/>
                </a:rPr>
                <a:t>THỰC THỂ CỐT LÕI (ACCOUNT &amp; TYPE):</a:t>
              </a:r>
            </a:p>
          </p:txBody>
        </p:sp>
        <p:sp>
          <p:nvSpPr>
            <p:cNvPr id="82" name="TextBox 82"/>
            <p:cNvSpPr txBox="1"/>
            <p:nvPr/>
          </p:nvSpPr>
          <p:spPr>
            <a:xfrm>
              <a:off x="8275320" y="2522220"/>
              <a:ext cx="127101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BBF24"/>
                  </a:solidFill>
                  <a:latin typeface="Consolas"/>
                  <a:ea typeface="Microsoft YaHei"/>
                  <a:cs typeface="Consolas"/>
                </a:rPr>
                <a:t>accountNumber (PK):</a:t>
              </a:r>
            </a:p>
          </p:txBody>
        </p:sp>
        <p:sp>
          <p:nvSpPr>
            <p:cNvPr id="83" name="TextBox 83"/>
            <p:cNvSpPr txBox="1"/>
            <p:nvPr/>
          </p:nvSpPr>
          <p:spPr>
            <a:xfrm>
              <a:off x="8275320" y="2731770"/>
              <a:ext cx="110899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BBF24"/>
                  </a:solidFill>
                  <a:latin typeface="Consolas"/>
                  <a:ea typeface="Microsoft YaHei"/>
                  <a:cs typeface="Consolas"/>
                </a:rPr>
                <a:t>customerId (Ref):</a:t>
              </a:r>
            </a:p>
          </p:txBody>
        </p:sp>
        <p:sp>
          <p:nvSpPr>
            <p:cNvPr id="84" name="TextBox 84"/>
            <p:cNvSpPr txBox="1"/>
            <p:nvPr/>
          </p:nvSpPr>
          <p:spPr>
            <a:xfrm>
              <a:off x="8275320" y="2941320"/>
              <a:ext cx="115100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BBF24"/>
                  </a:solidFill>
                  <a:latin typeface="Consolas"/>
                  <a:ea typeface="Microsoft YaHei"/>
                  <a:cs typeface="Consolas"/>
                </a:rPr>
                <a:t>balance, currency:</a:t>
              </a:r>
            </a:p>
          </p:txBody>
        </p:sp>
        <p:sp>
          <p:nvSpPr>
            <p:cNvPr id="85" name="TextBox 85"/>
            <p:cNvSpPr txBox="1"/>
            <p:nvPr/>
          </p:nvSpPr>
          <p:spPr>
            <a:xfrm>
              <a:off x="8275320" y="3150870"/>
              <a:ext cx="91697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BBF24"/>
                  </a:solidFill>
                  <a:latin typeface="Consolas"/>
                  <a:ea typeface="Microsoft YaHei"/>
                  <a:cs typeface="Consolas"/>
                </a:rPr>
                <a:t>accountTypeId:</a:t>
              </a:r>
            </a:p>
          </p:txBody>
        </p:sp>
        <p:sp>
          <p:nvSpPr>
            <p:cNvPr id="86" name="Rectangle 86"/>
            <p:cNvSpPr/>
            <p:nvPr/>
          </p:nvSpPr>
          <p:spPr>
            <a:xfrm>
              <a:off x="8267700" y="3571875"/>
              <a:ext cx="3190875" cy="809625"/>
            </a:xfrm>
            <a:prstGeom prst="roundRect">
              <a:avLst>
                <a:gd name="adj" fmla="val 9412"/>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87" name="TextBox 87"/>
            <p:cNvSpPr txBox="1"/>
            <p:nvPr/>
          </p:nvSpPr>
          <p:spPr>
            <a:xfrm>
              <a:off x="8390096" y="3678793"/>
              <a:ext cx="148920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94A3B8"/>
                  </a:solidFill>
                  <a:latin typeface="Segoe UI"/>
                  <a:ea typeface="Microsoft YaHei"/>
                  <a:cs typeface="Segoe UI"/>
                </a:rPr>
                <a:t>REST API CRUD ENDPOINTS:</a:t>
              </a:r>
            </a:p>
          </p:txBody>
        </p:sp>
        <p:sp>
          <p:nvSpPr>
            <p:cNvPr id="88" name="TextBox 88"/>
            <p:cNvSpPr txBox="1"/>
            <p:nvPr/>
          </p:nvSpPr>
          <p:spPr>
            <a:xfrm>
              <a:off x="8390096" y="3878818"/>
              <a:ext cx="224168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FBBF24"/>
                  </a:solidFill>
                  <a:latin typeface="Consolas"/>
                  <a:ea typeface="Microsoft YaHei"/>
                  <a:cs typeface="Consolas"/>
                </a:rPr>
                <a:t>GET /api/v1/accounts/types (Danh mục)</a:t>
              </a:r>
            </a:p>
          </p:txBody>
        </p:sp>
        <p:sp>
          <p:nvSpPr>
            <p:cNvPr id="89" name="TextBox 89"/>
            <p:cNvSpPr txBox="1"/>
            <p:nvPr/>
          </p:nvSpPr>
          <p:spPr>
            <a:xfrm>
              <a:off x="8390096" y="4050268"/>
              <a:ext cx="214392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FBBF24"/>
                  </a:solidFill>
                  <a:latin typeface="Consolas"/>
                  <a:ea typeface="Microsoft YaHei"/>
                  <a:cs typeface="Consolas"/>
                </a:rPr>
                <a:t>POST /api/v1/accounts (Mở tài khoản)</a:t>
              </a:r>
            </a:p>
          </p:txBody>
        </p:sp>
        <p:sp>
          <p:nvSpPr>
            <p:cNvPr id="90" name="TextBox 90"/>
            <p:cNvSpPr txBox="1"/>
            <p:nvPr/>
          </p:nvSpPr>
          <p:spPr>
            <a:xfrm>
              <a:off x="8390096" y="4221718"/>
              <a:ext cx="218417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FBBF24"/>
                  </a:solidFill>
                  <a:latin typeface="Consolas"/>
                  <a:ea typeface="Microsoft YaHei"/>
                  <a:cs typeface="Consolas"/>
                </a:rPr>
                <a:t>GET /api/v1/accounts/{accNo}/balance</a:t>
              </a:r>
            </a:p>
          </p:txBody>
        </p:sp>
        <p:sp>
          <p:nvSpPr>
            <p:cNvPr id="91" name="Rectangle 91"/>
            <p:cNvSpPr/>
            <p:nvPr/>
          </p:nvSpPr>
          <p:spPr>
            <a:xfrm>
              <a:off x="8267700" y="4524375"/>
              <a:ext cx="3190875" cy="685800"/>
            </a:xfrm>
            <a:prstGeom prst="roundRect">
              <a:avLst>
                <a:gd name="adj" fmla="val 11111"/>
              </a:avLst>
            </a:prstGeom>
            <a:solidFill>
              <a:srgbClr val="0F172A"/>
            </a:solidFill>
            <a:ln w="9525">
              <a:solidFill>
                <a:srgbClr val="D97706"/>
              </a:solidFill>
            </a:ln>
            <a:effectLst>
              <a:outerShdw blurRad="95250" dist="28575" dir="5400000" algn="ctr" rotWithShape="0">
                <a:srgbClr val="000000">
                  <a:alpha val="26250"/>
                </a:srgbClr>
              </a:outerShdw>
            </a:effectLst>
          </p:spPr>
        </p:sp>
        <p:grpSp>
          <p:nvGrpSpPr>
            <p:cNvPr id="95" name="Group 95"/>
            <p:cNvGrpSpPr/>
            <p:nvPr/>
          </p:nvGrpSpPr>
          <p:grpSpPr>
            <a:xfrm>
              <a:off x="8420100" y="4743450"/>
              <a:ext cx="152400" cy="171450"/>
              <a:chOff x="8420100" y="4743450"/>
              <a:chExt cx="152400" cy="171450"/>
            </a:xfrm>
          </p:grpSpPr>
          <p:sp>
            <p:nvSpPr>
              <p:cNvPr id="92" name="Freeform 92"/>
              <p:cNvSpPr/>
              <p:nvPr/>
            </p:nvSpPr>
            <p:spPr>
              <a:xfrm>
                <a:off x="8420100" y="4743450"/>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a:solidFill>
                  <a:srgbClr val="FBBF24"/>
                </a:solidFill>
              </a:ln>
              <a:effectLst>
                <a:outerShdw blurRad="95250" dist="28575" dir="5400000" algn="ctr" rotWithShape="0">
                  <a:srgbClr val="000000">
                    <a:alpha val="26250"/>
                  </a:srgbClr>
                </a:outerShdw>
              </a:effectLst>
            </p:spPr>
          </p:sp>
          <p:sp>
            <p:nvSpPr>
              <p:cNvPr id="93" name="Freeform 93"/>
              <p:cNvSpPr/>
              <p:nvPr/>
            </p:nvSpPr>
            <p:spPr>
              <a:xfrm>
                <a:off x="8420100" y="477202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FBBF24"/>
                </a:solidFill>
              </a:ln>
              <a:effectLst>
                <a:outerShdw blurRad="95250" dist="28575" dir="5400000" algn="ctr" rotWithShape="0">
                  <a:srgbClr val="000000">
                    <a:alpha val="26250"/>
                  </a:srgbClr>
                </a:outerShdw>
              </a:effectLst>
            </p:spPr>
          </p:sp>
          <p:sp>
            <p:nvSpPr>
              <p:cNvPr id="94" name="Freeform 94"/>
              <p:cNvSpPr/>
              <p:nvPr/>
            </p:nvSpPr>
            <p:spPr>
              <a:xfrm>
                <a:off x="8420100" y="4829175"/>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rgbClr val="FBBF24"/>
                </a:solidFill>
              </a:ln>
              <a:effectLst>
                <a:outerShdw blurRad="95250" dist="28575" dir="5400000" algn="ctr" rotWithShape="0">
                  <a:srgbClr val="000000">
                    <a:alpha val="26250"/>
                  </a:srgbClr>
                </a:outerShdw>
              </a:effectLst>
            </p:spPr>
          </p:sp>
        </p:grpSp>
        <p:sp>
          <p:nvSpPr>
            <p:cNvPr id="96" name="TextBox 96"/>
            <p:cNvSpPr txBox="1"/>
            <p:nvPr/>
          </p:nvSpPr>
          <p:spPr>
            <a:xfrm>
              <a:off x="8693468" y="4695349"/>
              <a:ext cx="1949656"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Database Sở Hữu: db_account</a:t>
              </a:r>
            </a:p>
          </p:txBody>
        </p:sp>
        <p:sp>
          <p:nvSpPr>
            <p:cNvPr id="97" name="TextBox 97"/>
            <p:cNvSpPr txBox="1"/>
            <p:nvPr/>
          </p:nvSpPr>
          <p:spPr>
            <a:xfrm>
              <a:off x="8695372" y="4911566"/>
              <a:ext cx="3029831"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Giao dịch ACID nội bộ · Khóa bi quan chống race-condition</a:t>
              </a:r>
            </a:p>
          </p:txBody>
        </p:sp>
      </p:grpSp>
      <p:grpSp>
        <p:nvGrpSpPr>
          <p:cNvPr id="107" name="Group 107"/>
          <p:cNvGrpSpPr/>
          <p:nvPr/>
        </p:nvGrpSpPr>
        <p:grpSpPr>
          <a:xfrm>
            <a:off x="571500" y="5524500"/>
            <a:ext cx="11049000" cy="809625"/>
            <a:chOff x="571500" y="5524500"/>
            <a:chExt cx="11049000" cy="809625"/>
          </a:xfrm>
          <a:effectLst>
            <a:outerShdw blurRad="95250" dist="28575" dir="5400000" algn="ctr" rotWithShape="0">
              <a:srgbClr val="000000">
                <a:alpha val="26250"/>
              </a:srgbClr>
            </a:outerShdw>
          </a:effectLst>
        </p:grpSpPr>
        <p:sp>
          <p:nvSpPr>
            <p:cNvPr id="99" name="Rectangle 99"/>
            <p:cNvSpPr/>
            <p:nvPr/>
          </p:nvSpPr>
          <p:spPr>
            <a:xfrm>
              <a:off x="571500" y="5524500"/>
              <a:ext cx="11049000" cy="809625"/>
            </a:xfrm>
            <a:prstGeom prst="roundRect">
              <a:avLst>
                <a:gd name="adj" fmla="val 14118"/>
              </a:avLst>
            </a:prstGeom>
            <a:solidFill>
              <a:srgbClr val="0F172A"/>
            </a:solidFill>
            <a:ln w="14288">
              <a:solidFill>
                <a:srgbClr val="06B6D4"/>
              </a:solidFill>
            </a:ln>
            <a:effectLst>
              <a:outerShdw blurRad="95250" dist="28575" dir="5400000" algn="ctr" rotWithShape="0">
                <a:srgbClr val="000000">
                  <a:alpha val="26250"/>
                </a:srgbClr>
              </a:outerShdw>
            </a:effectLst>
          </p:spPr>
        </p:sp>
        <p:sp>
          <p:nvSpPr>
            <p:cNvPr id="100" name="Ellipse 100"/>
            <p:cNvSpPr/>
            <p:nvPr/>
          </p:nvSpPr>
          <p:spPr>
            <a:xfrm>
              <a:off x="781050" y="5753100"/>
              <a:ext cx="342900" cy="342900"/>
            </a:xfrm>
            <a:prstGeom prst="ellipse">
              <a:avLst/>
            </a:prstGeom>
            <a:solidFill>
              <a:srgbClr val="164E63"/>
            </a:solidFill>
            <a:ln>
              <a:noFill/>
            </a:ln>
            <a:effectLst>
              <a:outerShdw blurRad="95250" dist="28575" dir="5400000" algn="ctr" rotWithShape="0">
                <a:srgbClr val="000000">
                  <a:alpha val="26250"/>
                </a:srgbClr>
              </a:outerShdw>
            </a:effectLst>
          </p:spPr>
        </p:sp>
        <p:grpSp>
          <p:nvGrpSpPr>
            <p:cNvPr id="103" name="Group 103"/>
            <p:cNvGrpSpPr/>
            <p:nvPr/>
          </p:nvGrpSpPr>
          <p:grpSpPr>
            <a:xfrm>
              <a:off x="862135" y="5845969"/>
              <a:ext cx="170506" cy="157162"/>
              <a:chOff x="862135" y="5845969"/>
              <a:chExt cx="170506" cy="157162"/>
            </a:xfrm>
          </p:grpSpPr>
          <p:sp>
            <p:nvSpPr>
              <p:cNvPr id="101" name="Freeform 101"/>
              <p:cNvSpPr/>
              <p:nvPr/>
            </p:nvSpPr>
            <p:spPr>
              <a:xfrm>
                <a:off x="862135" y="5845969"/>
                <a:ext cx="170506" cy="155818"/>
              </a:xfrm>
              <a:custGeom>
                <a:avLst/>
                <a:gdLst/>
                <a:ahLst/>
                <a:cxnLst/>
                <a:rect l="l" t="t" r="r" b="b"/>
                <a:pathLst>
                  <a:path w="170506" h="155818">
                    <a:moveTo>
                      <a:pt x="85650" y="155818"/>
                    </a:moveTo>
                    <a:cubicBezTo>
                      <a:pt x="30952" y="138863"/>
                      <a:pt x="0" y="81134"/>
                      <a:pt x="16149" y="26194"/>
                    </a:cubicBezTo>
                    <a:cubicBezTo>
                      <a:pt x="43351" y="27439"/>
                      <a:pt x="69970" y="18044"/>
                      <a:pt x="90365" y="0"/>
                    </a:cubicBezTo>
                    <a:cubicBezTo>
                      <a:pt x="110759" y="18044"/>
                      <a:pt x="137378" y="27439"/>
                      <a:pt x="164580" y="26194"/>
                    </a:cubicBezTo>
                    <a:cubicBezTo>
                      <a:pt x="170506" y="46355"/>
                      <a:pt x="170232" y="67833"/>
                      <a:pt x="163794" y="87836"/>
                    </a:cubicBezTo>
                  </a:path>
                </a:pathLst>
              </a:custGeom>
              <a:noFill/>
              <a:ln w="19050">
                <a:solidFill>
                  <a:srgbClr val="22D3EE"/>
                </a:solidFill>
              </a:ln>
              <a:effectLst>
                <a:outerShdw blurRad="95250" dist="28575" dir="5400000" algn="ctr" rotWithShape="0">
                  <a:srgbClr val="000000">
                    <a:alpha val="26250"/>
                  </a:srgbClr>
                </a:outerShdw>
              </a:effectLst>
            </p:spPr>
          </p:sp>
          <p:sp>
            <p:nvSpPr>
              <p:cNvPr id="102" name="Freeform 102"/>
              <p:cNvSpPr/>
              <p:nvPr/>
            </p:nvSpPr>
            <p:spPr>
              <a:xfrm>
                <a:off x="978694" y="5968206"/>
                <a:ext cx="52388" cy="34925"/>
              </a:xfrm>
              <a:custGeom>
                <a:avLst/>
                <a:gdLst/>
                <a:ahLst/>
                <a:cxnLst/>
                <a:rect l="l" t="t" r="r" b="b"/>
                <a:pathLst>
                  <a:path w="52388" h="34925">
                    <a:moveTo>
                      <a:pt x="0" y="17462"/>
                    </a:moveTo>
                    <a:lnTo>
                      <a:pt x="17462" y="34925"/>
                    </a:lnTo>
                    <a:lnTo>
                      <a:pt x="52388" y="0"/>
                    </a:lnTo>
                  </a:path>
                </a:pathLst>
              </a:custGeom>
              <a:noFill/>
              <a:ln w="19050">
                <a:solidFill>
                  <a:srgbClr val="22D3EE"/>
                </a:solidFill>
              </a:ln>
              <a:effectLst>
                <a:outerShdw blurRad="95250" dist="28575" dir="5400000" algn="ctr" rotWithShape="0">
                  <a:srgbClr val="000000">
                    <a:alpha val="26250"/>
                  </a:srgbClr>
                </a:outerShdw>
              </a:effectLst>
            </p:spPr>
          </p:sp>
        </p:grpSp>
        <p:sp>
          <p:nvSpPr>
            <p:cNvPr id="104" name="TextBox 104"/>
            <p:cNvSpPr txBox="1"/>
            <p:nvPr/>
          </p:nvSpPr>
          <p:spPr>
            <a:xfrm>
              <a:off x="1272064" y="5721429"/>
              <a:ext cx="6027022" cy="2209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88" b="1" dirty="0">
                  <a:solidFill>
                    <a:srgbClr val="22D3EE"/>
                  </a:solidFill>
                  <a:latin typeface="Segoe UI"/>
                  <a:ea typeface="Microsoft YaHei"/>
                  <a:cs typeface="Segoe UI"/>
                </a:rPr>
                <a:t>Nguyên Tắc Bất Di Bất Dịch: "Database-Per-Service" trong Hệ Thống Ngân Hàng Số</a:t>
              </a:r>
            </a:p>
          </p:txBody>
        </p:sp>
        <p:sp>
          <p:nvSpPr>
            <p:cNvPr id="105" name="TextBox 105"/>
            <p:cNvSpPr txBox="1"/>
            <p:nvPr/>
          </p:nvSpPr>
          <p:spPr>
            <a:xfrm>
              <a:off x="1273969" y="5947172"/>
              <a:ext cx="613707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Tuyệt đối không JOIN bảng chéo database; mọi truy vấn liên dịch vụ đi qua REST API hoặc Kafka Event.</a:t>
              </a:r>
            </a:p>
          </p:txBody>
        </p:sp>
        <p:sp>
          <p:nvSpPr>
            <p:cNvPr id="106" name="TextBox 106"/>
            <p:cNvSpPr txBox="1"/>
            <p:nvPr/>
          </p:nvSpPr>
          <p:spPr>
            <a:xfrm>
              <a:off x="1273969" y="6118622"/>
              <a:ext cx="663713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Admin và Giao dịch viên thực hiện CRUD danh mục qua API Gateway với chính sách phân quyền bảo mật chặt chẽ.</a:t>
              </a:r>
            </a:p>
          </p:txBody>
        </p:sp>
      </p:grpSp>
      <p:grpSp>
        <p:nvGrpSpPr>
          <p:cNvPr id="110" name="Group 110"/>
          <p:cNvGrpSpPr/>
          <p:nvPr/>
        </p:nvGrpSpPr>
        <p:grpSpPr>
          <a:xfrm>
            <a:off x="560070" y="6522720"/>
            <a:ext cx="11071860" cy="182880"/>
            <a:chOff x="560070" y="6522720"/>
            <a:chExt cx="11071860" cy="182880"/>
          </a:xfrm>
        </p:grpSpPr>
        <p:sp>
          <p:nvSpPr>
            <p:cNvPr id="108" name="TextBox 108"/>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109" name="TextBox 109"/>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slide(fromBottom)">
                                      <p:cBhvr>
                                        <p:cTn id="7" dur="400"/>
                                        <p:tgtEl>
                                          <p:spTgt spid="3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slide(fromBottom)">
                                      <p:cBhvr>
                                        <p:cTn id="11" dur="400"/>
                                        <p:tgtEl>
                                          <p:spTgt spid="6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98"/>
                                        </p:tgtEl>
                                        <p:attrNameLst>
                                          <p:attrName>style.visibility</p:attrName>
                                        </p:attrNameLst>
                                      </p:cBhvr>
                                      <p:to>
                                        <p:strVal val="visible"/>
                                      </p:to>
                                    </p:set>
                                    <p:animEffect transition="in" filter="slide(fromBottom)">
                                      <p:cBhvr>
                                        <p:cTn id="15"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6" grpId="0"/>
      <p:bldP spid="9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3B82F6">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636344" cy="797719"/>
            <a:chOff x="548640" y="342900"/>
            <a:chExt cx="6636344" cy="797719"/>
          </a:xfrm>
        </p:grpSpPr>
        <p:sp>
          <p:nvSpPr>
            <p:cNvPr id="7" name="Rectangle 7"/>
            <p:cNvSpPr/>
            <p:nvPr/>
          </p:nvSpPr>
          <p:spPr>
            <a:xfrm>
              <a:off x="571500" y="342900"/>
              <a:ext cx="1428750" cy="247650"/>
            </a:xfrm>
            <a:prstGeom prst="roundRect">
              <a:avLst>
                <a:gd name="adj" fmla="val 50000"/>
              </a:avLst>
            </a:prstGeom>
            <a:solidFill>
              <a:srgbClr val="1E293B"/>
            </a:solidFill>
            <a:ln w="9525">
              <a:solidFill>
                <a:srgbClr val="3B82F6"/>
              </a:solidFill>
            </a:ln>
          </p:spPr>
        </p:sp>
        <p:sp>
          <p:nvSpPr>
            <p:cNvPr id="8" name="TextBox 8"/>
            <p:cNvSpPr txBox="1"/>
            <p:nvPr/>
          </p:nvSpPr>
          <p:spPr>
            <a:xfrm>
              <a:off x="663171" y="415766"/>
              <a:ext cx="1245408" cy="167640"/>
            </a:xfrm>
            <a:prstGeom prst="rect">
              <a:avLst/>
            </a:prstGeom>
            <a:noFill/>
            <a:ln>
              <a:noFill/>
            </a:ln>
          </p:spPr>
          <p:txBody>
            <a:bodyPr wrap="none" lIns="0" tIns="0" rIns="0" bIns="0" anchor="t" anchorCtr="0">
              <a:spAutoFit/>
            </a:bodyPr>
            <a:lstStyle/>
            <a:p>
              <a:pPr algn="ctr"/>
              <a:r>
                <a:rPr lang="zh-CN" sz="825" b="1" dirty="0">
                  <a:solidFill>
                    <a:srgbClr val="38BDF8"/>
                  </a:solidFill>
                  <a:latin typeface="Segoe UI"/>
                  <a:ea typeface="Microsoft YaHei"/>
                  <a:cs typeface="Segoe UI"/>
                </a:rPr>
                <a:t>BẢO MẬT &amp; PHÂN QUYỀN</a:t>
              </a:r>
            </a:p>
          </p:txBody>
        </p:sp>
        <p:sp>
          <p:nvSpPr>
            <p:cNvPr id="9" name="TextBox 9"/>
            <p:cNvSpPr txBox="1"/>
            <p:nvPr/>
          </p:nvSpPr>
          <p:spPr>
            <a:xfrm>
              <a:off x="548640" y="624840"/>
              <a:ext cx="6636344"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Phân Quyền Bảo Mật &amp; Trải Nghiệm Đăng Nhập Liền Mạch</a:t>
              </a:r>
            </a:p>
          </p:txBody>
        </p:sp>
        <p:sp>
          <p:nvSpPr>
            <p:cNvPr id="10" name="TextBox 10"/>
            <p:cNvSpPr txBox="1"/>
            <p:nvPr/>
          </p:nvSpPr>
          <p:spPr>
            <a:xfrm>
              <a:off x="559118" y="942499"/>
              <a:ext cx="5970083"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Hạ tầng xác thực JWT tập trung, RBAC ma trận và cơ chế cưỡng chế thu hồi token qua Redis</a:t>
              </a:r>
            </a:p>
          </p:txBody>
        </p:sp>
      </p:grpSp>
      <p:grpSp>
        <p:nvGrpSpPr>
          <p:cNvPr id="49" name="Group 49"/>
          <p:cNvGrpSpPr/>
          <p:nvPr/>
        </p:nvGrpSpPr>
        <p:grpSpPr>
          <a:xfrm>
            <a:off x="571500" y="1285875"/>
            <a:ext cx="5524500" cy="5000625"/>
            <a:chOff x="571500" y="1285875"/>
            <a:chExt cx="5524500" cy="5000625"/>
          </a:xfrm>
          <a:effectLst>
            <a:outerShdw blurRad="95250" dist="28575" dir="5400000" algn="ctr" rotWithShape="0">
              <a:srgbClr val="000000">
                <a:alpha val="26250"/>
              </a:srgbClr>
            </a:outerShdw>
          </a:effectLst>
        </p:grpSpPr>
        <p:sp>
          <p:nvSpPr>
            <p:cNvPr id="12" name="Rectangle 12"/>
            <p:cNvSpPr/>
            <p:nvPr/>
          </p:nvSpPr>
          <p:spPr>
            <a:xfrm>
              <a:off x="571500" y="1285875"/>
              <a:ext cx="5524500" cy="5000625"/>
            </a:xfrm>
            <a:prstGeom prst="roundRect">
              <a:avLst>
                <a:gd name="adj" fmla="val 2667"/>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Rectangle 13"/>
            <p:cNvSpPr/>
            <p:nvPr/>
          </p:nvSpPr>
          <p:spPr>
            <a:xfrm>
              <a:off x="762000" y="1447800"/>
              <a:ext cx="2095500" cy="266700"/>
            </a:xfrm>
            <a:prstGeom prst="roundRect">
              <a:avLst>
                <a:gd name="adj" fmla="val 21429"/>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16" name="Group 16"/>
            <p:cNvGrpSpPr/>
            <p:nvPr/>
          </p:nvGrpSpPr>
          <p:grpSpPr>
            <a:xfrm>
              <a:off x="849990" y="1516856"/>
              <a:ext cx="139505" cy="128588"/>
              <a:chOff x="849990" y="1516856"/>
              <a:chExt cx="139505" cy="128588"/>
            </a:xfrm>
          </p:grpSpPr>
          <p:sp>
            <p:nvSpPr>
              <p:cNvPr id="14" name="Freeform 14"/>
              <p:cNvSpPr/>
              <p:nvPr/>
            </p:nvSpPr>
            <p:spPr>
              <a:xfrm>
                <a:off x="849990" y="1516856"/>
                <a:ext cx="139505" cy="127487"/>
              </a:xfrm>
              <a:custGeom>
                <a:avLst/>
                <a:gdLst/>
                <a:ahLst/>
                <a:cxnLst/>
                <a:rect l="l" t="t" r="r" b="b"/>
                <a:pathLst>
                  <a:path w="139505" h="127487">
                    <a:moveTo>
                      <a:pt x="70077" y="127487"/>
                    </a:moveTo>
                    <a:cubicBezTo>
                      <a:pt x="25325" y="113615"/>
                      <a:pt x="0" y="66383"/>
                      <a:pt x="13213" y="21431"/>
                    </a:cubicBezTo>
                    <a:cubicBezTo>
                      <a:pt x="35469" y="22450"/>
                      <a:pt x="57248" y="14763"/>
                      <a:pt x="73935" y="0"/>
                    </a:cubicBezTo>
                    <a:cubicBezTo>
                      <a:pt x="90621" y="14763"/>
                      <a:pt x="112400" y="22450"/>
                      <a:pt x="134656" y="21431"/>
                    </a:cubicBezTo>
                    <a:cubicBezTo>
                      <a:pt x="139505" y="37927"/>
                      <a:pt x="139281" y="55499"/>
                      <a:pt x="134014" y="71866"/>
                    </a:cubicBezTo>
                  </a:path>
                </a:pathLst>
              </a:custGeom>
              <a:noFill/>
              <a:ln w="19050">
                <a:solidFill>
                  <a:srgbClr val="38BDF8"/>
                </a:solidFill>
              </a:ln>
              <a:effectLst>
                <a:outerShdw blurRad="95250" dist="28575" dir="5400000" algn="ctr" rotWithShape="0">
                  <a:srgbClr val="000000">
                    <a:alpha val="26250"/>
                  </a:srgbClr>
                </a:outerShdw>
              </a:effectLst>
            </p:spPr>
          </p:sp>
          <p:sp>
            <p:nvSpPr>
              <p:cNvPr id="15" name="Freeform 15"/>
              <p:cNvSpPr/>
              <p:nvPr/>
            </p:nvSpPr>
            <p:spPr>
              <a:xfrm>
                <a:off x="945356" y="1616869"/>
                <a:ext cx="42862" cy="28575"/>
              </a:xfrm>
              <a:custGeom>
                <a:avLst/>
                <a:gdLst/>
                <a:ahLst/>
                <a:cxnLst/>
                <a:rect l="l" t="t" r="r" b="b"/>
                <a:pathLst>
                  <a:path w="42862" h="28575">
                    <a:moveTo>
                      <a:pt x="0" y="14288"/>
                    </a:moveTo>
                    <a:lnTo>
                      <a:pt x="14288" y="28575"/>
                    </a:lnTo>
                    <a:lnTo>
                      <a:pt x="42862" y="0"/>
                    </a:lnTo>
                  </a:path>
                </a:pathLst>
              </a:custGeom>
              <a:noFill/>
              <a:ln w="19050">
                <a:solidFill>
                  <a:srgbClr val="38BDF8"/>
                </a:solidFill>
              </a:ln>
              <a:effectLst>
                <a:outerShdw blurRad="95250" dist="28575" dir="5400000" algn="ctr" rotWithShape="0">
                  <a:srgbClr val="000000">
                    <a:alpha val="26250"/>
                  </a:srgbClr>
                </a:outerShdw>
              </a:effectLst>
            </p:spPr>
          </p:sp>
        </p:grpSp>
        <p:sp>
          <p:nvSpPr>
            <p:cNvPr id="17" name="TextBox 17"/>
            <p:cNvSpPr txBox="1"/>
            <p:nvPr/>
          </p:nvSpPr>
          <p:spPr>
            <a:xfrm>
              <a:off x="1073944" y="1527572"/>
              <a:ext cx="1749966"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MA TRẬN PHÂN QUYỀN (RBAC)</a:t>
              </a:r>
            </a:p>
          </p:txBody>
        </p:sp>
        <p:grpSp>
          <p:nvGrpSpPr>
            <p:cNvPr id="25" name="Group 25"/>
            <p:cNvGrpSpPr/>
            <p:nvPr/>
          </p:nvGrpSpPr>
          <p:grpSpPr>
            <a:xfrm>
              <a:off x="762000" y="1809750"/>
              <a:ext cx="5143500" cy="933450"/>
              <a:chOff x="762000" y="1809750"/>
              <a:chExt cx="5143500" cy="933450"/>
            </a:xfrm>
          </p:grpSpPr>
          <p:sp>
            <p:nvSpPr>
              <p:cNvPr id="18" name="Rectangle 18"/>
              <p:cNvSpPr/>
              <p:nvPr/>
            </p:nvSpPr>
            <p:spPr>
              <a:xfrm>
                <a:off x="762000" y="1809750"/>
                <a:ext cx="5143500" cy="933450"/>
              </a:xfrm>
              <a:prstGeom prst="roundRect">
                <a:avLst>
                  <a:gd name="adj" fmla="val 10204"/>
                </a:avLst>
              </a:prstGeom>
              <a:solidFill>
                <a:srgbClr val="0F172A"/>
              </a:solidFill>
              <a:ln w="14288">
                <a:solidFill>
                  <a:srgbClr val="EF4444">
                    <a:alpha val="40000"/>
                  </a:srgbClr>
                </a:solidFill>
              </a:ln>
              <a:effectLst>
                <a:outerShdw blurRad="95250" dist="28575" dir="5400000" algn="ctr" rotWithShape="0">
                  <a:srgbClr val="000000">
                    <a:alpha val="26250"/>
                  </a:srgbClr>
                </a:outerShdw>
              </a:effectLst>
            </p:spPr>
          </p:sp>
          <p:sp>
            <p:nvSpPr>
              <p:cNvPr id="19" name="Rectangle 19"/>
              <p:cNvSpPr/>
              <p:nvPr/>
            </p:nvSpPr>
            <p:spPr>
              <a:xfrm>
                <a:off x="876300" y="1924050"/>
                <a:ext cx="666750" cy="228600"/>
              </a:xfrm>
              <a:prstGeom prst="roundRect">
                <a:avLst>
                  <a:gd name="adj" fmla="val 16667"/>
                </a:avLst>
              </a:prstGeom>
              <a:solidFill>
                <a:srgbClr val="7F1D1D"/>
              </a:solidFill>
              <a:ln>
                <a:noFill/>
              </a:ln>
              <a:effectLst>
                <a:outerShdw blurRad="95250" dist="28575" dir="5400000" algn="ctr" rotWithShape="0">
                  <a:srgbClr val="000000">
                    <a:alpha val="26250"/>
                  </a:srgbClr>
                </a:outerShdw>
              </a:effectLst>
            </p:spPr>
          </p:sp>
          <p:sp>
            <p:nvSpPr>
              <p:cNvPr id="20" name="TextBox 20"/>
              <p:cNvSpPr txBox="1"/>
              <p:nvPr/>
            </p:nvSpPr>
            <p:spPr>
              <a:xfrm>
                <a:off x="1035688" y="1983343"/>
                <a:ext cx="34797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62" b="1" dirty="0">
                    <a:solidFill>
                      <a:srgbClr val="FCA5A5"/>
                    </a:solidFill>
                    <a:latin typeface="Arial"/>
                    <a:ea typeface="Microsoft YaHei"/>
                    <a:cs typeface="Arial"/>
                  </a:rPr>
                  <a:t>ADMIN</a:t>
                </a:r>
              </a:p>
            </p:txBody>
          </p:sp>
          <p:sp>
            <p:nvSpPr>
              <p:cNvPr id="21" name="TextBox 21"/>
              <p:cNvSpPr txBox="1"/>
              <p:nvPr/>
            </p:nvSpPr>
            <p:spPr>
              <a:xfrm>
                <a:off x="1644491" y="1967151"/>
                <a:ext cx="2542095"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Quản Trị Viên Hệ Thống (Full Access)</a:t>
                </a:r>
              </a:p>
            </p:txBody>
          </p:sp>
          <p:sp>
            <p:nvSpPr>
              <p:cNvPr id="22" name="TextBox 22"/>
              <p:cNvSpPr txBox="1"/>
              <p:nvPr/>
            </p:nvSpPr>
            <p:spPr>
              <a:xfrm>
                <a:off x="883920" y="2207895"/>
                <a:ext cx="392334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Toàn quyền Thêm / Sửa / Xóa Khách hàng, Staff và Loại tài khoản.</a:t>
                </a:r>
              </a:p>
            </p:txBody>
          </p:sp>
          <p:sp>
            <p:nvSpPr>
              <p:cNvPr id="23" name="TextBox 23"/>
              <p:cNvSpPr txBox="1"/>
              <p:nvPr/>
            </p:nvSpPr>
            <p:spPr>
              <a:xfrm>
                <a:off x="883920" y="2379345"/>
                <a:ext cx="408536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t>
                </a:r>
                <a:r>
                  <a:rPr lang="zh-CN" sz="900" b="1" dirty="0">
                    <a:solidFill>
                      <a:srgbClr val="EF4444"/>
                    </a:solidFill>
                    <a:latin typeface="Segoe UI"/>
                    <a:ea typeface="Microsoft YaHei"/>
                    <a:cs typeface="Segoe UI"/>
                  </a:rPr>
                  <a:t>Quyền Cưỡng Chế Đăng Xuất (Force Logout):</a:t>
                </a:r>
                <a:r>
                  <a:rPr lang="zh-CN" sz="900" dirty="0">
                    <a:solidFill>
                      <a:srgbClr val="94A3B8"/>
                    </a:solidFill>
                    <a:latin typeface="Segoe UI"/>
                    <a:ea typeface="Microsoft YaHei"/>
                    <a:cs typeface="Segoe UI"/>
                  </a:rPr>
                  <a:t xml:space="preserve"> Ngay lập tức vô hiệu hóa</a:t>
                </a:r>
              </a:p>
            </p:txBody>
          </p:sp>
          <p:sp>
            <p:nvSpPr>
              <p:cNvPr id="24" name="TextBox 24"/>
              <p:cNvSpPr txBox="1"/>
              <p:nvPr/>
            </p:nvSpPr>
            <p:spPr>
              <a:xfrm>
                <a:off x="883920" y="2550795"/>
                <a:ext cx="346729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token của tài khoản khi phát hiện dấu hiệu gian lận bảo mật.</a:t>
                </a:r>
              </a:p>
            </p:txBody>
          </p:sp>
        </p:grpSp>
        <p:grpSp>
          <p:nvGrpSpPr>
            <p:cNvPr id="33" name="Group 33"/>
            <p:cNvGrpSpPr/>
            <p:nvPr/>
          </p:nvGrpSpPr>
          <p:grpSpPr>
            <a:xfrm>
              <a:off x="762000" y="2838450"/>
              <a:ext cx="5143500" cy="933450"/>
              <a:chOff x="762000" y="2838450"/>
              <a:chExt cx="5143500" cy="933450"/>
            </a:xfrm>
          </p:grpSpPr>
          <p:sp>
            <p:nvSpPr>
              <p:cNvPr id="26" name="Rectangle 26"/>
              <p:cNvSpPr/>
              <p:nvPr/>
            </p:nvSpPr>
            <p:spPr>
              <a:xfrm>
                <a:off x="762000" y="2838450"/>
                <a:ext cx="5143500" cy="933450"/>
              </a:xfrm>
              <a:prstGeom prst="roundRect">
                <a:avLst>
                  <a:gd name="adj" fmla="val 10204"/>
                </a:avLst>
              </a:prstGeom>
              <a:solidFill>
                <a:srgbClr val="0F172A"/>
              </a:solidFill>
              <a:ln w="14288">
                <a:solidFill>
                  <a:srgbClr val="3B82F6">
                    <a:alpha val="40000"/>
                  </a:srgbClr>
                </a:solidFill>
              </a:ln>
              <a:effectLst>
                <a:outerShdw blurRad="95250" dist="28575" dir="5400000" algn="ctr" rotWithShape="0">
                  <a:srgbClr val="000000">
                    <a:alpha val="26250"/>
                  </a:srgbClr>
                </a:outerShdw>
              </a:effectLst>
            </p:spPr>
          </p:sp>
          <p:sp>
            <p:nvSpPr>
              <p:cNvPr id="27" name="Rectangle 27"/>
              <p:cNvSpPr/>
              <p:nvPr/>
            </p:nvSpPr>
            <p:spPr>
              <a:xfrm>
                <a:off x="876300" y="2952750"/>
                <a:ext cx="666750" cy="228600"/>
              </a:xfrm>
              <a:prstGeom prst="roundRect">
                <a:avLst>
                  <a:gd name="adj" fmla="val 16667"/>
                </a:avLst>
              </a:prstGeom>
              <a:solidFill>
                <a:srgbClr val="1E3A8A"/>
              </a:solidFill>
              <a:ln>
                <a:noFill/>
              </a:ln>
              <a:effectLst>
                <a:outerShdw blurRad="95250" dist="28575" dir="5400000" algn="ctr" rotWithShape="0">
                  <a:srgbClr val="000000">
                    <a:alpha val="26250"/>
                  </a:srgbClr>
                </a:outerShdw>
              </a:effectLst>
            </p:spPr>
          </p:sp>
          <p:sp>
            <p:nvSpPr>
              <p:cNvPr id="28" name="TextBox 28"/>
              <p:cNvSpPr txBox="1"/>
              <p:nvPr/>
            </p:nvSpPr>
            <p:spPr>
              <a:xfrm>
                <a:off x="999459" y="3012043"/>
                <a:ext cx="420432"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62" b="1" dirty="0">
                    <a:solidFill>
                      <a:srgbClr val="93C5FD"/>
                    </a:solidFill>
                    <a:latin typeface="Arial"/>
                    <a:ea typeface="Microsoft YaHei"/>
                    <a:cs typeface="Arial"/>
                  </a:rPr>
                  <a:t>TELLER</a:t>
                </a:r>
              </a:p>
            </p:txBody>
          </p:sp>
          <p:sp>
            <p:nvSpPr>
              <p:cNvPr id="29" name="TextBox 29"/>
              <p:cNvSpPr txBox="1"/>
              <p:nvPr/>
            </p:nvSpPr>
            <p:spPr>
              <a:xfrm>
                <a:off x="1644491" y="2995851"/>
                <a:ext cx="3102077"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Giao Dịch Viên Chi Nhánh (Restricted Access)</a:t>
                </a:r>
              </a:p>
            </p:txBody>
          </p:sp>
          <p:sp>
            <p:nvSpPr>
              <p:cNvPr id="30" name="TextBox 30"/>
              <p:cNvSpPr txBox="1"/>
              <p:nvPr/>
            </p:nvSpPr>
            <p:spPr>
              <a:xfrm>
                <a:off x="883920" y="3236595"/>
                <a:ext cx="398335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Xem và xử lý các giao dịch mở tài khoản, nạp/rút trong phân công.</a:t>
                </a:r>
              </a:p>
            </p:txBody>
          </p:sp>
          <p:sp>
            <p:nvSpPr>
              <p:cNvPr id="31" name="TextBox 31"/>
              <p:cNvSpPr txBox="1"/>
              <p:nvPr/>
            </p:nvSpPr>
            <p:spPr>
              <a:xfrm>
                <a:off x="883920" y="3408045"/>
                <a:ext cx="358130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t>
                </a:r>
                <a:r>
                  <a:rPr lang="zh-CN" sz="900" b="1" dirty="0">
                    <a:solidFill>
                      <a:srgbClr val="F59E0B"/>
                    </a:solidFill>
                    <a:latin typeface="Segoe UI"/>
                    <a:ea typeface="Microsoft YaHei"/>
                    <a:cs typeface="Segoe UI"/>
                  </a:rPr>
                  <a:t>Cô lập dữ liệu:</a:t>
                </a:r>
                <a:r>
                  <a:rPr lang="zh-CN" sz="900" dirty="0">
                    <a:solidFill>
                      <a:srgbClr val="94A3B8"/>
                    </a:solidFill>
                    <a:latin typeface="Segoe UI"/>
                    <a:ea typeface="Microsoft YaHei"/>
                    <a:cs typeface="Segoe UI"/>
                  </a:rPr>
                  <a:t xml:space="preserve"> Tuyệt đối không can thiệp vào hồ sơ giao dịch</a:t>
                </a:r>
              </a:p>
            </p:txBody>
          </p:sp>
          <p:sp>
            <p:nvSpPr>
              <p:cNvPr id="32" name="TextBox 32"/>
              <p:cNvSpPr txBox="1"/>
              <p:nvPr/>
            </p:nvSpPr>
            <p:spPr>
              <a:xfrm>
                <a:off x="883920" y="3579495"/>
                <a:ext cx="395935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của nhân viên hoặc chi nhánh khác; kiểm soát chặt tại tầng Service.</a:t>
                </a:r>
              </a:p>
            </p:txBody>
          </p:sp>
        </p:grpSp>
        <p:grpSp>
          <p:nvGrpSpPr>
            <p:cNvPr id="41" name="Group 41"/>
            <p:cNvGrpSpPr/>
            <p:nvPr/>
          </p:nvGrpSpPr>
          <p:grpSpPr>
            <a:xfrm>
              <a:off x="762000" y="3867150"/>
              <a:ext cx="5143500" cy="971550"/>
              <a:chOff x="762000" y="3867150"/>
              <a:chExt cx="5143500" cy="971550"/>
            </a:xfrm>
          </p:grpSpPr>
          <p:sp>
            <p:nvSpPr>
              <p:cNvPr id="34" name="Rectangle 34"/>
              <p:cNvSpPr/>
              <p:nvPr/>
            </p:nvSpPr>
            <p:spPr>
              <a:xfrm>
                <a:off x="762000" y="3867150"/>
                <a:ext cx="5143500" cy="971550"/>
              </a:xfrm>
              <a:prstGeom prst="roundRect">
                <a:avLst>
                  <a:gd name="adj" fmla="val 9804"/>
                </a:avLst>
              </a:prstGeom>
              <a:solidFill>
                <a:srgbClr val="0F172A"/>
              </a:solidFill>
              <a:ln w="14288">
                <a:solidFill>
                  <a:srgbClr val="10B981">
                    <a:alpha val="40000"/>
                  </a:srgbClr>
                </a:solidFill>
              </a:ln>
              <a:effectLst>
                <a:outerShdw blurRad="95250" dist="28575" dir="5400000" algn="ctr" rotWithShape="0">
                  <a:srgbClr val="000000">
                    <a:alpha val="26250"/>
                  </a:srgbClr>
                </a:outerShdw>
              </a:effectLst>
            </p:spPr>
          </p:sp>
          <p:sp>
            <p:nvSpPr>
              <p:cNvPr id="35" name="Rectangle 35"/>
              <p:cNvSpPr/>
              <p:nvPr/>
            </p:nvSpPr>
            <p:spPr>
              <a:xfrm>
                <a:off x="876300" y="3981450"/>
                <a:ext cx="809625" cy="228600"/>
              </a:xfrm>
              <a:prstGeom prst="roundRect">
                <a:avLst>
                  <a:gd name="adj" fmla="val 16667"/>
                </a:avLst>
              </a:prstGeom>
              <a:solidFill>
                <a:srgbClr val="064E3B"/>
              </a:solidFill>
              <a:ln>
                <a:noFill/>
              </a:ln>
              <a:effectLst>
                <a:outerShdw blurRad="95250" dist="28575" dir="5400000" algn="ctr" rotWithShape="0">
                  <a:srgbClr val="000000">
                    <a:alpha val="26250"/>
                  </a:srgbClr>
                </a:outerShdw>
              </a:effectLst>
            </p:spPr>
          </p:sp>
          <p:sp>
            <p:nvSpPr>
              <p:cNvPr id="36" name="TextBox 36"/>
              <p:cNvSpPr txBox="1"/>
              <p:nvPr/>
            </p:nvSpPr>
            <p:spPr>
              <a:xfrm>
                <a:off x="988638" y="4044791"/>
                <a:ext cx="575424"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25" b="1" dirty="0">
                    <a:solidFill>
                      <a:srgbClr val="6EE7B7"/>
                    </a:solidFill>
                    <a:latin typeface="Arial"/>
                    <a:ea typeface="Microsoft YaHei"/>
                    <a:cs typeface="Arial"/>
                  </a:rPr>
                  <a:t>CUSTOMER</a:t>
                </a:r>
              </a:p>
            </p:txBody>
          </p:sp>
          <p:sp>
            <p:nvSpPr>
              <p:cNvPr id="37" name="TextBox 37"/>
              <p:cNvSpPr txBox="1"/>
              <p:nvPr/>
            </p:nvSpPr>
            <p:spPr>
              <a:xfrm>
                <a:off x="1758791" y="4024551"/>
                <a:ext cx="2740569"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Khách Hàng Ngân Hàng Số (Self-Service)</a:t>
                </a:r>
              </a:p>
            </p:txBody>
          </p:sp>
          <p:sp>
            <p:nvSpPr>
              <p:cNvPr id="38" name="TextBox 38"/>
              <p:cNvSpPr txBox="1"/>
              <p:nvPr/>
            </p:nvSpPr>
            <p:spPr>
              <a:xfrm>
                <a:off x="883920" y="4265295"/>
                <a:ext cx="408536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Xem số dư, danh sách tài khoản và lịch sử giao dịch của CHÍNH MÌNH.</a:t>
                </a:r>
              </a:p>
            </p:txBody>
          </p:sp>
          <p:sp>
            <p:nvSpPr>
              <p:cNvPr id="39" name="TextBox 39"/>
              <p:cNvSpPr txBox="1"/>
              <p:nvPr/>
            </p:nvSpPr>
            <p:spPr>
              <a:xfrm>
                <a:off x="883920" y="4436745"/>
                <a:ext cx="339528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Thực hiện chuyển khoản an toàn đến tài khoản thụ hưởng.</a:t>
                </a:r>
              </a:p>
            </p:txBody>
          </p:sp>
          <p:sp>
            <p:nvSpPr>
              <p:cNvPr id="40" name="TextBox 40"/>
              <p:cNvSpPr txBox="1"/>
              <p:nvPr/>
            </p:nvSpPr>
            <p:spPr>
              <a:xfrm>
                <a:off x="883920" y="4608195"/>
                <a:ext cx="378533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t>
                </a:r>
                <a:r>
                  <a:rPr lang="zh-CN" sz="900" b="1" dirty="0">
                    <a:solidFill>
                      <a:srgbClr val="38BDF8"/>
                    </a:solidFill>
                    <a:latin typeface="Segoe UI"/>
                    <a:ea typeface="Microsoft YaHei"/>
                    <a:cs typeface="Segoe UI"/>
                  </a:rPr>
                  <a:t>Trải nghiệm liền mạch:</a:t>
                </a:r>
                <a:r>
                  <a:rPr lang="zh-CN" sz="900" dirty="0">
                    <a:solidFill>
                      <a:srgbClr val="94A3B8"/>
                    </a:solidFill>
                    <a:latin typeface="Segoe UI"/>
                    <a:ea typeface="Microsoft YaHei"/>
                    <a:cs typeface="Segoe UI"/>
                  </a:rPr>
                  <a:t xml:space="preserve"> Tra cứu nhanh không bị hỏi lại mật khẩu.</a:t>
                </a:r>
              </a:p>
            </p:txBody>
          </p:sp>
        </p:grpSp>
        <p:grpSp>
          <p:nvGrpSpPr>
            <p:cNvPr id="48" name="Group 48"/>
            <p:cNvGrpSpPr/>
            <p:nvPr/>
          </p:nvGrpSpPr>
          <p:grpSpPr>
            <a:xfrm>
              <a:off x="762000" y="4933950"/>
              <a:ext cx="5143500" cy="304800"/>
              <a:chOff x="762000" y="4933950"/>
              <a:chExt cx="5143500" cy="304800"/>
            </a:xfrm>
          </p:grpSpPr>
          <p:sp>
            <p:nvSpPr>
              <p:cNvPr id="42" name="Rectangle 42"/>
              <p:cNvSpPr/>
              <p:nvPr/>
            </p:nvSpPr>
            <p:spPr>
              <a:xfrm>
                <a:off x="762000" y="4933950"/>
                <a:ext cx="5143500" cy="304800"/>
              </a:xfrm>
              <a:prstGeom prst="roundRect">
                <a:avLst>
                  <a:gd name="adj" fmla="val 18750"/>
                </a:avLst>
              </a:prstGeom>
              <a:solidFill>
                <a:srgbClr val="0F172A"/>
              </a:solidFill>
              <a:ln w="9525">
                <a:solidFill>
                  <a:srgbClr val="EF4444"/>
                </a:solidFill>
              </a:ln>
              <a:effectLst>
                <a:outerShdw blurRad="95250" dist="28575" dir="5400000" algn="ctr" rotWithShape="0">
                  <a:srgbClr val="000000">
                    <a:alpha val="26250"/>
                  </a:srgbClr>
                </a:outerShdw>
              </a:effectLst>
            </p:spPr>
          </p:sp>
          <p:grpSp>
            <p:nvGrpSpPr>
              <p:cNvPr id="46" name="Group 46"/>
              <p:cNvGrpSpPr/>
              <p:nvPr/>
            </p:nvGrpSpPr>
            <p:grpSpPr>
              <a:xfrm>
                <a:off x="888460" y="5027090"/>
                <a:ext cx="128076" cy="110034"/>
                <a:chOff x="888460" y="5027090"/>
                <a:chExt cx="128076" cy="110034"/>
              </a:xfrm>
            </p:grpSpPr>
            <p:sp>
              <p:nvSpPr>
                <p:cNvPr id="43" name="Freeform 43"/>
                <p:cNvSpPr/>
                <p:nvPr/>
              </p:nvSpPr>
              <p:spPr>
                <a:xfrm>
                  <a:off x="952500" y="5067300"/>
                  <a:ext cx="9525" cy="25400"/>
                </a:xfrm>
                <a:custGeom>
                  <a:avLst/>
                  <a:gdLst/>
                  <a:ahLst/>
                  <a:cxnLst/>
                  <a:rect l="l" t="t" r="r" b="b"/>
                  <a:pathLst>
                    <a:path w="9525" h="25400">
                      <a:moveTo>
                        <a:pt x="0" y="0"/>
                      </a:moveTo>
                      <a:lnTo>
                        <a:pt x="0" y="25400"/>
                      </a:lnTo>
                    </a:path>
                  </a:pathLst>
                </a:custGeom>
                <a:noFill/>
                <a:ln w="19050">
                  <a:solidFill>
                    <a:srgbClr val="EF4444"/>
                  </a:solidFill>
                </a:ln>
                <a:effectLst>
                  <a:outerShdw blurRad="95250" dist="28575" dir="5400000" algn="ctr" rotWithShape="0">
                    <a:srgbClr val="000000">
                      <a:alpha val="26250"/>
                    </a:srgbClr>
                  </a:outerShdw>
                </a:effectLst>
              </p:spPr>
            </p:sp>
            <p:sp>
              <p:nvSpPr>
                <p:cNvPr id="44" name="Freeform 44"/>
                <p:cNvSpPr/>
                <p:nvPr/>
              </p:nvSpPr>
              <p:spPr>
                <a:xfrm>
                  <a:off x="888460" y="5027090"/>
                  <a:ext cx="128076" cy="110034"/>
                </a:xfrm>
                <a:custGeom>
                  <a:avLst/>
                  <a:gdLst/>
                  <a:ahLst/>
                  <a:cxnLst/>
                  <a:rect l="l" t="t" r="r" b="b"/>
                  <a:pathLst>
                    <a:path w="128076" h="110034">
                      <a:moveTo>
                        <a:pt x="53646" y="5862"/>
                      </a:moveTo>
                      <a:lnTo>
                        <a:pt x="2172" y="91803"/>
                      </a:lnTo>
                      <a:cubicBezTo>
                        <a:pt x="13" y="95543"/>
                        <a:pt x="0" y="100147"/>
                        <a:pt x="2138" y="103898"/>
                      </a:cubicBezTo>
                      <a:cubicBezTo>
                        <a:pt x="4276" y="107650"/>
                        <a:pt x="8243" y="109986"/>
                        <a:pt x="12561" y="110034"/>
                      </a:cubicBezTo>
                      <a:lnTo>
                        <a:pt x="115520" y="110034"/>
                      </a:lnTo>
                      <a:cubicBezTo>
                        <a:pt x="119836" y="109984"/>
                        <a:pt x="123801" y="107650"/>
                        <a:pt x="125939" y="103900"/>
                      </a:cubicBezTo>
                      <a:cubicBezTo>
                        <a:pt x="128076" y="100150"/>
                        <a:pt x="128065" y="95549"/>
                        <a:pt x="125909" y="91810"/>
                      </a:cubicBezTo>
                      <a:lnTo>
                        <a:pt x="74435" y="5856"/>
                      </a:lnTo>
                      <a:cubicBezTo>
                        <a:pt x="72233" y="2221"/>
                        <a:pt x="68291" y="0"/>
                        <a:pt x="64040" y="0"/>
                      </a:cubicBezTo>
                      <a:cubicBezTo>
                        <a:pt x="59790" y="0"/>
                        <a:pt x="55848" y="2221"/>
                        <a:pt x="53646" y="5856"/>
                      </a:cubicBezTo>
                    </a:path>
                  </a:pathLst>
                </a:custGeom>
                <a:noFill/>
                <a:ln w="19050">
                  <a:solidFill>
                    <a:srgbClr val="EF4444"/>
                  </a:solidFill>
                </a:ln>
                <a:effectLst>
                  <a:outerShdw blurRad="95250" dist="28575" dir="5400000" algn="ctr" rotWithShape="0">
                    <a:srgbClr val="000000">
                      <a:alpha val="26250"/>
                    </a:srgbClr>
                  </a:outerShdw>
                </a:effectLst>
              </p:spPr>
            </p:sp>
            <p:sp>
              <p:nvSpPr>
                <p:cNvPr id="45" name="Freeform 45"/>
                <p:cNvSpPr/>
                <p:nvPr/>
              </p:nvSpPr>
              <p:spPr>
                <a:xfrm>
                  <a:off x="952500" y="5111750"/>
                  <a:ext cx="9525" cy="9525"/>
                </a:xfrm>
                <a:custGeom>
                  <a:avLst/>
                  <a:gdLst/>
                  <a:ahLst/>
                  <a:cxnLst/>
                  <a:rect l="l" t="t" r="r" b="b"/>
                  <a:pathLst>
                    <a:path w="9525" h="9525">
                      <a:moveTo>
                        <a:pt x="0" y="0"/>
                      </a:moveTo>
                      <a:lnTo>
                        <a:pt x="63" y="0"/>
                      </a:lnTo>
                    </a:path>
                  </a:pathLst>
                </a:custGeom>
                <a:noFill/>
                <a:ln w="19050">
                  <a:solidFill>
                    <a:srgbClr val="EF4444"/>
                  </a:solidFill>
                </a:ln>
                <a:effectLst>
                  <a:outerShdw blurRad="95250" dist="28575" dir="5400000" algn="ctr" rotWithShape="0">
                    <a:srgbClr val="000000">
                      <a:alpha val="26250"/>
                    </a:srgbClr>
                  </a:outerShdw>
                </a:effectLst>
              </p:spPr>
            </p:sp>
          </p:grpSp>
          <p:sp>
            <p:nvSpPr>
              <p:cNvPr id="47" name="TextBox 47"/>
              <p:cNvSpPr txBox="1"/>
              <p:nvPr/>
            </p:nvSpPr>
            <p:spPr>
              <a:xfrm>
                <a:off x="1093946" y="5040868"/>
                <a:ext cx="4085653"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FCA5A5"/>
                    </a:solidFill>
                    <a:latin typeface="Segoe UI"/>
                    <a:ea typeface="Microsoft YaHei"/>
                    <a:cs typeface="Segoe UI"/>
                  </a:rPr>
                  <a:t>Khách vãng lai: Bị chặn 100% tại API Gateway (HTTP 401 Unauthorized).</a:t>
                </a:r>
              </a:p>
            </p:txBody>
          </p:sp>
        </p:grpSp>
      </p:grpSp>
      <p:grpSp>
        <p:nvGrpSpPr>
          <p:cNvPr id="87" name="Group 87"/>
          <p:cNvGrpSpPr/>
          <p:nvPr/>
        </p:nvGrpSpPr>
        <p:grpSpPr>
          <a:xfrm>
            <a:off x="6381750" y="1285875"/>
            <a:ext cx="5238750" cy="5000625"/>
            <a:chOff x="6381750" y="1285875"/>
            <a:chExt cx="5238750" cy="5000625"/>
          </a:xfrm>
          <a:effectLst>
            <a:outerShdw blurRad="95250" dist="28575" dir="5400000" algn="ctr" rotWithShape="0">
              <a:srgbClr val="000000">
                <a:alpha val="26250"/>
              </a:srgbClr>
            </a:outerShdw>
          </a:effectLst>
        </p:grpSpPr>
        <p:sp>
          <p:nvSpPr>
            <p:cNvPr id="50" name="Rectangle 50"/>
            <p:cNvSpPr/>
            <p:nvPr/>
          </p:nvSpPr>
          <p:spPr>
            <a:xfrm>
              <a:off x="6381750" y="1285875"/>
              <a:ext cx="5238750" cy="5000625"/>
            </a:xfrm>
            <a:prstGeom prst="roundRect">
              <a:avLst>
                <a:gd name="adj" fmla="val 2667"/>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51" name="Rectangle 51"/>
            <p:cNvSpPr/>
            <p:nvPr/>
          </p:nvSpPr>
          <p:spPr>
            <a:xfrm>
              <a:off x="6572250" y="1447800"/>
              <a:ext cx="2667000" cy="266700"/>
            </a:xfrm>
            <a:prstGeom prst="roundRect">
              <a:avLst>
                <a:gd name="adj" fmla="val 21429"/>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54" name="Group 54"/>
            <p:cNvGrpSpPr/>
            <p:nvPr/>
          </p:nvGrpSpPr>
          <p:grpSpPr>
            <a:xfrm>
              <a:off x="6669881" y="1516858"/>
              <a:ext cx="128586" cy="128586"/>
              <a:chOff x="6669881" y="1516858"/>
              <a:chExt cx="128586" cy="128586"/>
            </a:xfrm>
          </p:grpSpPr>
          <p:sp>
            <p:nvSpPr>
              <p:cNvPr id="52" name="Freeform 52"/>
              <p:cNvSpPr/>
              <p:nvPr/>
            </p:nvSpPr>
            <p:spPr>
              <a:xfrm>
                <a:off x="6669881" y="1516858"/>
                <a:ext cx="128586" cy="128586"/>
              </a:xfrm>
              <a:custGeom>
                <a:avLst/>
                <a:gdLst/>
                <a:ahLst/>
                <a:cxnLst/>
                <a:rect l="l" t="t" r="r" b="b"/>
                <a:pathLst>
                  <a:path w="128586" h="128586">
                    <a:moveTo>
                      <a:pt x="96834" y="6021"/>
                    </a:moveTo>
                    <a:lnTo>
                      <a:pt x="122565" y="31753"/>
                    </a:lnTo>
                    <a:cubicBezTo>
                      <a:pt x="126420" y="35607"/>
                      <a:pt x="128586" y="40835"/>
                      <a:pt x="128586" y="46287"/>
                    </a:cubicBezTo>
                    <a:cubicBezTo>
                      <a:pt x="128586" y="51738"/>
                      <a:pt x="126420" y="56966"/>
                      <a:pt x="122565" y="60821"/>
                    </a:cubicBezTo>
                    <a:lnTo>
                      <a:pt x="103684" y="79701"/>
                    </a:lnTo>
                    <a:cubicBezTo>
                      <a:pt x="99830" y="83556"/>
                      <a:pt x="94602" y="85722"/>
                      <a:pt x="89150" y="85722"/>
                    </a:cubicBezTo>
                    <a:cubicBezTo>
                      <a:pt x="83699" y="85722"/>
                      <a:pt x="78471" y="83556"/>
                      <a:pt x="74616" y="79701"/>
                    </a:cubicBezTo>
                    <a:lnTo>
                      <a:pt x="72466" y="77551"/>
                    </a:lnTo>
                    <a:lnTo>
                      <a:pt x="25617" y="124400"/>
                    </a:lnTo>
                    <a:cubicBezTo>
                      <a:pt x="23244" y="126773"/>
                      <a:pt x="20110" y="128235"/>
                      <a:pt x="16766" y="128529"/>
                    </a:cubicBezTo>
                    <a:lnTo>
                      <a:pt x="15516" y="128586"/>
                    </a:lnTo>
                    <a:lnTo>
                      <a:pt x="7144" y="128586"/>
                    </a:lnTo>
                    <a:cubicBezTo>
                      <a:pt x="3522" y="128586"/>
                      <a:pt x="474" y="125875"/>
                      <a:pt x="50" y="122278"/>
                    </a:cubicBezTo>
                    <a:lnTo>
                      <a:pt x="0" y="121442"/>
                    </a:lnTo>
                    <a:lnTo>
                      <a:pt x="0" y="113070"/>
                    </a:lnTo>
                    <a:cubicBezTo>
                      <a:pt x="1" y="109716"/>
                      <a:pt x="1182" y="106468"/>
                      <a:pt x="3336" y="103897"/>
                    </a:cubicBezTo>
                    <a:lnTo>
                      <a:pt x="4186" y="102969"/>
                    </a:lnTo>
                    <a:lnTo>
                      <a:pt x="7144" y="100011"/>
                    </a:lnTo>
                    <a:lnTo>
                      <a:pt x="21431" y="100011"/>
                    </a:lnTo>
                    <a:lnTo>
                      <a:pt x="21431" y="85724"/>
                    </a:lnTo>
                    <a:lnTo>
                      <a:pt x="35719" y="85724"/>
                    </a:lnTo>
                    <a:lnTo>
                      <a:pt x="35719" y="71436"/>
                    </a:lnTo>
                    <a:lnTo>
                      <a:pt x="51035" y="56120"/>
                    </a:lnTo>
                    <a:lnTo>
                      <a:pt x="48885" y="53970"/>
                    </a:lnTo>
                    <a:cubicBezTo>
                      <a:pt x="45030" y="50115"/>
                      <a:pt x="42864" y="44887"/>
                      <a:pt x="42864" y="39436"/>
                    </a:cubicBezTo>
                    <a:cubicBezTo>
                      <a:pt x="42864" y="33984"/>
                      <a:pt x="45030" y="28756"/>
                      <a:pt x="48885" y="24902"/>
                    </a:cubicBezTo>
                    <a:lnTo>
                      <a:pt x="67766" y="6021"/>
                    </a:lnTo>
                    <a:cubicBezTo>
                      <a:pt x="71620" y="2166"/>
                      <a:pt x="76848" y="0"/>
                      <a:pt x="82300" y="0"/>
                    </a:cubicBezTo>
                    <a:cubicBezTo>
                      <a:pt x="87751" y="0"/>
                      <a:pt x="92979" y="2166"/>
                      <a:pt x="96834" y="6021"/>
                    </a:cubicBezTo>
                  </a:path>
                </a:pathLst>
              </a:custGeom>
              <a:noFill/>
              <a:ln w="19050">
                <a:solidFill>
                  <a:srgbClr val="38BDF8"/>
                </a:solidFill>
              </a:ln>
              <a:effectLst>
                <a:outerShdw blurRad="95250" dist="28575" dir="5400000" algn="ctr" rotWithShape="0">
                  <a:srgbClr val="000000">
                    <a:alpha val="26250"/>
                  </a:srgbClr>
                </a:outerShdw>
              </a:effectLst>
            </p:spPr>
          </p:sp>
          <p:sp>
            <p:nvSpPr>
              <p:cNvPr id="53" name="Freeform 53"/>
              <p:cNvSpPr/>
              <p:nvPr/>
            </p:nvSpPr>
            <p:spPr>
              <a:xfrm>
                <a:off x="6755606" y="1559719"/>
                <a:ext cx="9525" cy="9525"/>
              </a:xfrm>
              <a:custGeom>
                <a:avLst/>
                <a:gdLst/>
                <a:ahLst/>
                <a:cxnLst/>
                <a:rect l="l" t="t" r="r" b="b"/>
                <a:pathLst>
                  <a:path w="9525" h="9525">
                    <a:moveTo>
                      <a:pt x="0" y="0"/>
                    </a:moveTo>
                    <a:lnTo>
                      <a:pt x="71" y="0"/>
                    </a:lnTo>
                  </a:path>
                </a:pathLst>
              </a:custGeom>
              <a:noFill/>
              <a:ln w="19050">
                <a:solidFill>
                  <a:srgbClr val="38BDF8"/>
                </a:solidFill>
              </a:ln>
              <a:effectLst>
                <a:outerShdw blurRad="95250" dist="28575" dir="5400000" algn="ctr" rotWithShape="0">
                  <a:srgbClr val="000000">
                    <a:alpha val="26250"/>
                  </a:srgbClr>
                </a:outerShdw>
              </a:effectLst>
            </p:spPr>
          </p:sp>
        </p:grpSp>
        <p:sp>
          <p:nvSpPr>
            <p:cNvPr id="55" name="TextBox 55"/>
            <p:cNvSpPr txBox="1"/>
            <p:nvPr/>
          </p:nvSpPr>
          <p:spPr>
            <a:xfrm>
              <a:off x="6884194" y="1527572"/>
              <a:ext cx="195342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KIẾN TRÚC XÁC THỰC JWT &amp; REDIS</a:t>
              </a:r>
            </a:p>
          </p:txBody>
        </p:sp>
        <p:grpSp>
          <p:nvGrpSpPr>
            <p:cNvPr id="66" name="Group 66"/>
            <p:cNvGrpSpPr/>
            <p:nvPr/>
          </p:nvGrpSpPr>
          <p:grpSpPr>
            <a:xfrm>
              <a:off x="6572250" y="1809750"/>
              <a:ext cx="4857750" cy="1095375"/>
              <a:chOff x="6572250" y="1809750"/>
              <a:chExt cx="4857750" cy="1095375"/>
            </a:xfrm>
          </p:grpSpPr>
          <p:sp>
            <p:nvSpPr>
              <p:cNvPr id="56" name="Rectangle 56"/>
              <p:cNvSpPr/>
              <p:nvPr/>
            </p:nvSpPr>
            <p:spPr>
              <a:xfrm>
                <a:off x="6572250" y="1809750"/>
                <a:ext cx="4857750" cy="1047750"/>
              </a:xfrm>
              <a:prstGeom prst="roundRect">
                <a:avLst>
                  <a:gd name="adj" fmla="val 9091"/>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60" name="Group 60"/>
              <p:cNvGrpSpPr/>
              <p:nvPr/>
            </p:nvGrpSpPr>
            <p:grpSpPr>
              <a:xfrm>
                <a:off x="6758781" y="1969294"/>
                <a:ext cx="122237" cy="157162"/>
                <a:chOff x="6758781" y="1969294"/>
                <a:chExt cx="122237" cy="157162"/>
              </a:xfrm>
            </p:grpSpPr>
            <p:sp>
              <p:nvSpPr>
                <p:cNvPr id="57" name="Freeform 57"/>
                <p:cNvSpPr/>
                <p:nvPr/>
              </p:nvSpPr>
              <p:spPr>
                <a:xfrm>
                  <a:off x="6758781" y="2039144"/>
                  <a:ext cx="122237" cy="87312"/>
                </a:xfrm>
                <a:custGeom>
                  <a:avLst/>
                  <a:gdLst/>
                  <a:ahLst/>
                  <a:cxnLst/>
                  <a:rect l="l" t="t" r="r" b="b"/>
                  <a:pathLst>
                    <a:path w="122237" h="87312">
                      <a:moveTo>
                        <a:pt x="0" y="17462"/>
                      </a:moveTo>
                      <a:cubicBezTo>
                        <a:pt x="0" y="7818"/>
                        <a:pt x="7818" y="0"/>
                        <a:pt x="17462" y="0"/>
                      </a:cubicBezTo>
                      <a:lnTo>
                        <a:pt x="104775" y="0"/>
                      </a:lnTo>
                      <a:cubicBezTo>
                        <a:pt x="114419" y="0"/>
                        <a:pt x="122237" y="7818"/>
                        <a:pt x="122237" y="17462"/>
                      </a:cubicBezTo>
                      <a:lnTo>
                        <a:pt x="122237" y="69850"/>
                      </a:lnTo>
                      <a:cubicBezTo>
                        <a:pt x="122237" y="79494"/>
                        <a:pt x="114419" y="87312"/>
                        <a:pt x="104775" y="87312"/>
                      </a:cubicBezTo>
                      <a:lnTo>
                        <a:pt x="17462" y="87312"/>
                      </a:lnTo>
                      <a:cubicBezTo>
                        <a:pt x="7818" y="87312"/>
                        <a:pt x="0" y="79494"/>
                        <a:pt x="0" y="69850"/>
                      </a:cubicBezTo>
                      <a:lnTo>
                        <a:pt x="0" y="17462"/>
                      </a:lnTo>
                    </a:path>
                  </a:pathLst>
                </a:custGeom>
                <a:noFill/>
                <a:ln w="19050">
                  <a:solidFill>
                    <a:srgbClr val="38BDF8"/>
                  </a:solidFill>
                </a:ln>
                <a:effectLst>
                  <a:outerShdw blurRad="95250" dist="28575" dir="5400000" algn="ctr" rotWithShape="0">
                    <a:srgbClr val="000000">
                      <a:alpha val="26250"/>
                    </a:srgbClr>
                  </a:outerShdw>
                </a:effectLst>
              </p:spPr>
            </p:sp>
            <p:sp>
              <p:nvSpPr>
                <p:cNvPr id="58" name="Freeform 58"/>
                <p:cNvSpPr/>
                <p:nvPr/>
              </p:nvSpPr>
              <p:spPr>
                <a:xfrm>
                  <a:off x="6811169" y="2074069"/>
                  <a:ext cx="17462" cy="17463"/>
                </a:xfrm>
                <a:custGeom>
                  <a:avLst/>
                  <a:gdLst/>
                  <a:ahLst/>
                  <a:cxnLst/>
                  <a:rect l="l" t="t" r="r" b="b"/>
                  <a:pathLst>
                    <a:path w="17462" h="17463">
                      <a:moveTo>
                        <a:pt x="0" y="8731"/>
                      </a:moveTo>
                      <a:cubicBezTo>
                        <a:pt x="0" y="13553"/>
                        <a:pt x="3909" y="17463"/>
                        <a:pt x="8731" y="17463"/>
                      </a:cubicBezTo>
                      <a:cubicBezTo>
                        <a:pt x="13553" y="17463"/>
                        <a:pt x="17462" y="13553"/>
                        <a:pt x="17462" y="8731"/>
                      </a:cubicBezTo>
                      <a:cubicBezTo>
                        <a:pt x="17462" y="3909"/>
                        <a:pt x="13553" y="0"/>
                        <a:pt x="8731" y="0"/>
                      </a:cubicBezTo>
                      <a:cubicBezTo>
                        <a:pt x="3909" y="0"/>
                        <a:pt x="0" y="3909"/>
                        <a:pt x="0" y="8731"/>
                      </a:cubicBezTo>
                    </a:path>
                  </a:pathLst>
                </a:custGeom>
                <a:noFill/>
                <a:ln w="19050">
                  <a:solidFill>
                    <a:srgbClr val="38BDF8"/>
                  </a:solidFill>
                </a:ln>
                <a:effectLst>
                  <a:outerShdw blurRad="95250" dist="28575" dir="5400000" algn="ctr" rotWithShape="0">
                    <a:srgbClr val="000000">
                      <a:alpha val="26250"/>
                    </a:srgbClr>
                  </a:outerShdw>
                </a:effectLst>
              </p:spPr>
            </p:sp>
            <p:sp>
              <p:nvSpPr>
                <p:cNvPr id="59" name="Freeform 59"/>
                <p:cNvSpPr/>
                <p:nvPr/>
              </p:nvSpPr>
              <p:spPr>
                <a:xfrm>
                  <a:off x="6784975" y="1969294"/>
                  <a:ext cx="69850" cy="69850"/>
                </a:xfrm>
                <a:custGeom>
                  <a:avLst/>
                  <a:gdLst/>
                  <a:ahLst/>
                  <a:cxnLst/>
                  <a:rect l="l" t="t" r="r" b="b"/>
                  <a:pathLst>
                    <a:path w="69850" h="69850">
                      <a:moveTo>
                        <a:pt x="0" y="69850"/>
                      </a:moveTo>
                      <a:lnTo>
                        <a:pt x="0" y="34925"/>
                      </a:lnTo>
                      <a:cubicBezTo>
                        <a:pt x="0" y="15636"/>
                        <a:pt x="15636" y="0"/>
                        <a:pt x="34925" y="0"/>
                      </a:cubicBezTo>
                      <a:cubicBezTo>
                        <a:pt x="54214" y="0"/>
                        <a:pt x="69850" y="15636"/>
                        <a:pt x="69850" y="34925"/>
                      </a:cubicBezTo>
                      <a:lnTo>
                        <a:pt x="69850" y="69850"/>
                      </a:lnTo>
                    </a:path>
                  </a:pathLst>
                </a:custGeom>
                <a:noFill/>
                <a:ln w="19050">
                  <a:solidFill>
                    <a:srgbClr val="38BDF8"/>
                  </a:solidFill>
                </a:ln>
                <a:effectLst>
                  <a:outerShdw blurRad="95250" dist="28575" dir="5400000" algn="ctr" rotWithShape="0">
                    <a:srgbClr val="000000">
                      <a:alpha val="26250"/>
                    </a:srgbClr>
                  </a:outerShdw>
                </a:effectLst>
              </p:spPr>
            </p:sp>
          </p:grpSp>
          <p:sp>
            <p:nvSpPr>
              <p:cNvPr id="61" name="TextBox 61"/>
              <p:cNvSpPr txBox="1"/>
              <p:nvPr/>
            </p:nvSpPr>
            <p:spPr>
              <a:xfrm>
                <a:off x="6988016" y="1967151"/>
                <a:ext cx="3371436"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38BDF8"/>
                    </a:solidFill>
                    <a:latin typeface="Segoe UI"/>
                    <a:ea typeface="Microsoft YaHei"/>
                    <a:cs typeface="Segoe UI"/>
                  </a:rPr>
                  <a:t>Cơ Chế Dual Token: Access Token &amp; Refresh Token</a:t>
                </a:r>
              </a:p>
            </p:txBody>
          </p:sp>
          <p:sp>
            <p:nvSpPr>
              <p:cNvPr id="62" name="TextBox 62"/>
              <p:cNvSpPr txBox="1"/>
              <p:nvPr/>
            </p:nvSpPr>
            <p:spPr>
              <a:xfrm>
                <a:off x="6703695" y="2207895"/>
                <a:ext cx="338328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t>
                </a:r>
                <a:r>
                  <a:rPr lang="zh-CN" sz="900" b="1" dirty="0">
                    <a:solidFill>
                      <a:srgbClr val="F8FAFC"/>
                    </a:solidFill>
                    <a:latin typeface="Segoe UI"/>
                    <a:ea typeface="Microsoft YaHei"/>
                    <a:cs typeface="Segoe UI"/>
                  </a:rPr>
                  <a:t>Access Token (Ngắn hạn - 15 phút):</a:t>
                </a:r>
                <a:r>
                  <a:rPr lang="zh-CN" sz="900" dirty="0">
                    <a:solidFill>
                      <a:srgbClr val="94A3B8"/>
                    </a:solidFill>
                    <a:latin typeface="Segoe UI"/>
                    <a:ea typeface="Microsoft YaHei"/>
                    <a:cs typeface="Segoe UI"/>
                  </a:rPr>
                  <a:t xml:space="preserve"> Mang claims và role;</a:t>
                </a:r>
              </a:p>
            </p:txBody>
          </p:sp>
          <p:sp>
            <p:nvSpPr>
              <p:cNvPr id="63" name="TextBox 63"/>
              <p:cNvSpPr txBox="1"/>
              <p:nvPr/>
            </p:nvSpPr>
            <p:spPr>
              <a:xfrm>
                <a:off x="6703695" y="2379345"/>
                <a:ext cx="343128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Gateway kiểm tra chữ ký HMAC-SHA256 cục bộ không gọi DB.</a:t>
                </a:r>
              </a:p>
            </p:txBody>
          </p:sp>
          <p:sp>
            <p:nvSpPr>
              <p:cNvPr id="64" name="TextBox 64"/>
              <p:cNvSpPr txBox="1"/>
              <p:nvPr/>
            </p:nvSpPr>
            <p:spPr>
              <a:xfrm>
                <a:off x="6703695" y="2550795"/>
                <a:ext cx="388734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t>
                </a:r>
                <a:r>
                  <a:rPr lang="zh-CN" sz="900" b="1" dirty="0">
                    <a:solidFill>
                      <a:srgbClr val="F8FAFC"/>
                    </a:solidFill>
                    <a:latin typeface="Segoe UI"/>
                    <a:ea typeface="Microsoft YaHei"/>
                    <a:cs typeface="Segoe UI"/>
                  </a:rPr>
                  <a:t>Refresh Token (Dài hạn - 30 ngày):</a:t>
                </a:r>
                <a:r>
                  <a:rPr lang="zh-CN" sz="900" dirty="0">
                    <a:solidFill>
                      <a:srgbClr val="94A3B8"/>
                    </a:solidFill>
                    <a:latin typeface="Segoe UI"/>
                    <a:ea typeface="Microsoft YaHei"/>
                    <a:cs typeface="Segoe UI"/>
                  </a:rPr>
                  <a:t xml:space="preserve"> Tự động cấp mới Access Token</a:t>
                </a:r>
              </a:p>
            </p:txBody>
          </p:sp>
          <p:sp>
            <p:nvSpPr>
              <p:cNvPr id="65" name="TextBox 65"/>
              <p:cNvSpPr txBox="1"/>
              <p:nvPr/>
            </p:nvSpPr>
            <p:spPr>
              <a:xfrm>
                <a:off x="6703695" y="2722245"/>
                <a:ext cx="355730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ngầm dưới nền giúp người dùng không bị văng phiên đăng nhập.</a:t>
                </a:r>
              </a:p>
            </p:txBody>
          </p:sp>
        </p:grpSp>
        <p:grpSp>
          <p:nvGrpSpPr>
            <p:cNvPr id="74" name="Group 74"/>
            <p:cNvGrpSpPr/>
            <p:nvPr/>
          </p:nvGrpSpPr>
          <p:grpSpPr>
            <a:xfrm>
              <a:off x="6572250" y="2952750"/>
              <a:ext cx="4857750" cy="1095375"/>
              <a:chOff x="6572250" y="2952750"/>
              <a:chExt cx="4857750" cy="1095375"/>
            </a:xfrm>
          </p:grpSpPr>
          <p:sp>
            <p:nvSpPr>
              <p:cNvPr id="67" name="Rectangle 67"/>
              <p:cNvSpPr/>
              <p:nvPr/>
            </p:nvSpPr>
            <p:spPr>
              <a:xfrm>
                <a:off x="6572250" y="2952750"/>
                <a:ext cx="4857750" cy="1095375"/>
              </a:xfrm>
              <a:prstGeom prst="roundRect">
                <a:avLst>
                  <a:gd name="adj" fmla="val 8696"/>
                </a:avLst>
              </a:prstGeom>
              <a:solidFill>
                <a:srgbClr val="0F172A"/>
              </a:solidFill>
              <a:ln w="9525">
                <a:solidFill>
                  <a:srgbClr val="EF4444">
                    <a:alpha val="50000"/>
                  </a:srgbClr>
                </a:solidFill>
              </a:ln>
              <a:effectLst>
                <a:outerShdw blurRad="95250" dist="28575" dir="5400000" algn="ctr" rotWithShape="0">
                  <a:srgbClr val="000000">
                    <a:alpha val="26250"/>
                  </a:srgbClr>
                </a:outerShdw>
              </a:effectLst>
            </p:spPr>
          </p:sp>
          <p:sp>
            <p:nvSpPr>
              <p:cNvPr id="68" name="Freeform 68"/>
              <p:cNvSpPr/>
              <p:nvPr/>
            </p:nvSpPr>
            <p:spPr>
              <a:xfrm>
                <a:off x="6758781" y="3112294"/>
                <a:ext cx="122237" cy="157162"/>
              </a:xfrm>
              <a:custGeom>
                <a:avLst/>
                <a:gdLst/>
                <a:ahLst/>
                <a:cxnLst/>
                <a:rect l="l" t="t" r="r" b="b"/>
                <a:pathLst>
                  <a:path w="122237" h="157162">
                    <a:moveTo>
                      <a:pt x="69850" y="0"/>
                    </a:moveTo>
                    <a:lnTo>
                      <a:pt x="69850" y="61119"/>
                    </a:lnTo>
                    <a:lnTo>
                      <a:pt x="122237" y="61119"/>
                    </a:lnTo>
                    <a:lnTo>
                      <a:pt x="52388" y="157162"/>
                    </a:lnTo>
                    <a:lnTo>
                      <a:pt x="52388" y="96044"/>
                    </a:lnTo>
                    <a:lnTo>
                      <a:pt x="0" y="96044"/>
                    </a:lnTo>
                    <a:lnTo>
                      <a:pt x="69850" y="0"/>
                    </a:lnTo>
                  </a:path>
                </a:pathLst>
              </a:custGeom>
              <a:noFill/>
              <a:ln w="19050">
                <a:solidFill>
                  <a:srgbClr val="F87171"/>
                </a:solidFill>
              </a:ln>
              <a:effectLst>
                <a:outerShdw blurRad="95250" dist="28575" dir="5400000" algn="ctr" rotWithShape="0">
                  <a:srgbClr val="000000">
                    <a:alpha val="26250"/>
                  </a:srgbClr>
                </a:outerShdw>
              </a:effectLst>
            </p:spPr>
          </p:sp>
          <p:sp>
            <p:nvSpPr>
              <p:cNvPr id="69" name="TextBox 69"/>
              <p:cNvSpPr txBox="1"/>
              <p:nvPr/>
            </p:nvSpPr>
            <p:spPr>
              <a:xfrm>
                <a:off x="6988016" y="3110151"/>
                <a:ext cx="3293463"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7171"/>
                    </a:solidFill>
                    <a:latin typeface="Segoe UI"/>
                    <a:ea typeface="Microsoft YaHei"/>
                    <a:cs typeface="Segoe UI"/>
                  </a:rPr>
                  <a:t>Redis Token Blacklist (Cưỡng Chế Thu Hồi Quyền)</a:t>
                </a:r>
              </a:p>
            </p:txBody>
          </p:sp>
          <p:sp>
            <p:nvSpPr>
              <p:cNvPr id="70" name="TextBox 70"/>
              <p:cNvSpPr txBox="1"/>
              <p:nvPr/>
            </p:nvSpPr>
            <p:spPr>
              <a:xfrm>
                <a:off x="6703695" y="3350895"/>
                <a:ext cx="391134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Khi Admin kích hoạt Force Logout hoặc người dùng bấm Đăng Xuất:</a:t>
                </a:r>
              </a:p>
            </p:txBody>
          </p:sp>
          <p:sp>
            <p:nvSpPr>
              <p:cNvPr id="71" name="TextBox 71"/>
              <p:cNvSpPr txBox="1"/>
              <p:nvPr/>
            </p:nvSpPr>
            <p:spPr>
              <a:xfrm>
                <a:off x="6703695" y="3522345"/>
                <a:ext cx="362331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Token JTI lập tức được lưu vào Redis với TTL = thời gian còn lại.</a:t>
                </a:r>
              </a:p>
            </p:txBody>
          </p:sp>
          <p:sp>
            <p:nvSpPr>
              <p:cNvPr id="72" name="TextBox 72"/>
              <p:cNvSpPr txBox="1"/>
              <p:nvPr/>
            </p:nvSpPr>
            <p:spPr>
              <a:xfrm>
                <a:off x="6703695" y="3693795"/>
                <a:ext cx="3995357"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Gateway Filter kiểm tra nhanh Redis (&lt; 2ms): nếu Token nằm trong</a:t>
                </a:r>
              </a:p>
            </p:txBody>
          </p:sp>
          <p:sp>
            <p:nvSpPr>
              <p:cNvPr id="73" name="TextBox 73"/>
              <p:cNvSpPr txBox="1"/>
              <p:nvPr/>
            </p:nvSpPr>
            <p:spPr>
              <a:xfrm>
                <a:off x="6703695" y="3865245"/>
                <a:ext cx="373732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Blacklist, lập tức từ chối request trả về HTTP 401 Unauthorized.</a:t>
                </a:r>
              </a:p>
            </p:txBody>
          </p:sp>
        </p:grpSp>
        <p:grpSp>
          <p:nvGrpSpPr>
            <p:cNvPr id="84" name="Group 84"/>
            <p:cNvGrpSpPr/>
            <p:nvPr/>
          </p:nvGrpSpPr>
          <p:grpSpPr>
            <a:xfrm>
              <a:off x="6572250" y="4143375"/>
              <a:ext cx="4857750" cy="952500"/>
              <a:chOff x="6572250" y="4143375"/>
              <a:chExt cx="4857750" cy="952500"/>
            </a:xfrm>
          </p:grpSpPr>
          <p:sp>
            <p:nvSpPr>
              <p:cNvPr id="75" name="Rectangle 75"/>
              <p:cNvSpPr/>
              <p:nvPr/>
            </p:nvSpPr>
            <p:spPr>
              <a:xfrm>
                <a:off x="6572250" y="4143375"/>
                <a:ext cx="2333625" cy="952500"/>
              </a:xfrm>
              <a:prstGeom prst="roundRect">
                <a:avLst>
                  <a:gd name="adj" fmla="val 8000"/>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76" name="TextBox 76"/>
              <p:cNvSpPr txBox="1"/>
              <p:nvPr/>
            </p:nvSpPr>
            <p:spPr>
              <a:xfrm>
                <a:off x="6736080" y="4221480"/>
                <a:ext cx="847239" cy="4267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2100" b="1" dirty="0">
                    <a:solidFill>
                      <a:srgbClr val="06B6D4"/>
                    </a:solidFill>
                    <a:latin typeface="Arial"/>
                    <a:ea typeface="Microsoft YaHei"/>
                    <a:cs typeface="Arial"/>
                  </a:rPr>
                  <a:t>&lt; 2ms</a:t>
                </a:r>
              </a:p>
            </p:txBody>
          </p:sp>
          <p:sp>
            <p:nvSpPr>
              <p:cNvPr id="77" name="TextBox 77"/>
              <p:cNvSpPr txBox="1"/>
              <p:nvPr/>
            </p:nvSpPr>
            <p:spPr>
              <a:xfrm>
                <a:off x="6750844" y="4575572"/>
                <a:ext cx="157931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Độ Trễ Xác Thực Gateway</a:t>
                </a:r>
              </a:p>
            </p:txBody>
          </p:sp>
          <p:sp>
            <p:nvSpPr>
              <p:cNvPr id="78" name="TextBox 78"/>
              <p:cNvSpPr txBox="1"/>
              <p:nvPr/>
            </p:nvSpPr>
            <p:spPr>
              <a:xfrm>
                <a:off x="6752272" y="4778216"/>
                <a:ext cx="1599652"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Xác thực Token không chạm DB</a:t>
                </a:r>
              </a:p>
            </p:txBody>
          </p:sp>
          <p:grpSp>
            <p:nvGrpSpPr>
              <p:cNvPr id="83" name="Group 83"/>
              <p:cNvGrpSpPr/>
              <p:nvPr/>
            </p:nvGrpSpPr>
            <p:grpSpPr>
              <a:xfrm>
                <a:off x="9096375" y="4143375"/>
                <a:ext cx="2333625" cy="952500"/>
                <a:chOff x="9096375" y="4143375"/>
                <a:chExt cx="2333625" cy="952500"/>
              </a:xfrm>
            </p:grpSpPr>
            <p:sp>
              <p:nvSpPr>
                <p:cNvPr id="79" name="Rectangle 79"/>
                <p:cNvSpPr/>
                <p:nvPr/>
              </p:nvSpPr>
              <p:spPr>
                <a:xfrm>
                  <a:off x="9096375" y="4143375"/>
                  <a:ext cx="2333625" cy="952500"/>
                </a:xfrm>
                <a:prstGeom prst="roundRect">
                  <a:avLst>
                    <a:gd name="adj" fmla="val 8000"/>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80" name="TextBox 80"/>
                <p:cNvSpPr txBox="1"/>
                <p:nvPr/>
              </p:nvSpPr>
              <p:spPr>
                <a:xfrm>
                  <a:off x="9260205" y="4221480"/>
                  <a:ext cx="626712" cy="4267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2100" b="1" dirty="0">
                      <a:solidFill>
                        <a:srgbClr val="10B981"/>
                      </a:solidFill>
                      <a:latin typeface="Arial"/>
                      <a:ea typeface="Microsoft YaHei"/>
                      <a:cs typeface="Arial"/>
                    </a:rPr>
                    <a:t>100%</a:t>
                  </a:r>
                </a:p>
              </p:txBody>
            </p:sp>
            <p:sp>
              <p:nvSpPr>
                <p:cNvPr id="81" name="TextBox 81"/>
                <p:cNvSpPr txBox="1"/>
                <p:nvPr/>
              </p:nvSpPr>
              <p:spPr>
                <a:xfrm>
                  <a:off x="9274969" y="4575572"/>
                  <a:ext cx="90329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Cô Lập Dữ Liệu</a:t>
                  </a:r>
                </a:p>
              </p:txBody>
            </p:sp>
            <p:sp>
              <p:nvSpPr>
                <p:cNvPr id="82" name="TextBox 82"/>
                <p:cNvSpPr txBox="1"/>
                <p:nvPr/>
              </p:nvSpPr>
              <p:spPr>
                <a:xfrm>
                  <a:off x="9276398" y="4778216"/>
                  <a:ext cx="1610654"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Không truy cập chéo tài khoản</a:t>
                  </a:r>
                </a:p>
              </p:txBody>
            </p:sp>
          </p:grpSp>
        </p:grpSp>
        <p:sp>
          <p:nvSpPr>
            <p:cNvPr id="85" name="Rectangle 85"/>
            <p:cNvSpPr/>
            <p:nvPr/>
          </p:nvSpPr>
          <p:spPr>
            <a:xfrm>
              <a:off x="6572250" y="5191125"/>
              <a:ext cx="4857750" cy="381000"/>
            </a:xfrm>
            <a:prstGeom prst="roundRect">
              <a:avLst>
                <a:gd name="adj" fmla="val 15000"/>
              </a:avLst>
            </a:prstGeom>
            <a:solidFill>
              <a:srgbClr val="0F172A"/>
            </a:solidFill>
            <a:ln w="9525">
              <a:solidFill>
                <a:srgbClr val="2563EB"/>
              </a:solidFill>
            </a:ln>
            <a:effectLst>
              <a:outerShdw blurRad="95250" dist="28575" dir="5400000" algn="ctr" rotWithShape="0">
                <a:srgbClr val="000000">
                  <a:alpha val="26250"/>
                </a:srgbClr>
              </a:outerShdw>
            </a:effectLst>
          </p:spPr>
        </p:sp>
        <p:sp>
          <p:nvSpPr>
            <p:cNvPr id="86" name="TextBox 86"/>
            <p:cNvSpPr txBox="1"/>
            <p:nvPr/>
          </p:nvSpPr>
          <p:spPr>
            <a:xfrm>
              <a:off x="6751320" y="5322570"/>
              <a:ext cx="450272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93C5FD"/>
                  </a:solidFill>
                  <a:latin typeface="Segoe UI"/>
                  <a:ea typeface="Microsoft YaHei"/>
                  <a:cs typeface="Segoe UI"/>
                </a:rPr>
                <a:t>Chuẩn OWASP API Security: Zero-Trust Network &amp; Stateless Architecture</a:t>
              </a:r>
            </a:p>
          </p:txBody>
        </p:sp>
      </p:grpSp>
      <p:grpSp>
        <p:nvGrpSpPr>
          <p:cNvPr id="90" name="Group 90"/>
          <p:cNvGrpSpPr/>
          <p:nvPr/>
        </p:nvGrpSpPr>
        <p:grpSpPr>
          <a:xfrm>
            <a:off x="560070" y="6522720"/>
            <a:ext cx="11071860" cy="182880"/>
            <a:chOff x="560070" y="6522720"/>
            <a:chExt cx="11071860" cy="182880"/>
          </a:xfrm>
        </p:grpSpPr>
        <p:sp>
          <p:nvSpPr>
            <p:cNvPr id="88" name="TextBox 88"/>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89" name="TextBox 89"/>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06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400"/>
                                        <p:tgtEl>
                                          <p:spTgt spid="4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87"/>
                                        </p:tgtEl>
                                        <p:attrNameLst>
                                          <p:attrName>style.visibility</p:attrName>
                                        </p:attrNameLst>
                                      </p:cBhvr>
                                      <p:to>
                                        <p:strVal val="visible"/>
                                      </p:to>
                                    </p:set>
                                    <p:animEffect transition="in" filter="slide(fromBottom)">
                                      <p:cBhvr>
                                        <p:cTn id="11" dur="4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10B981">
                    <a:alpha val="12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7883900" cy="797719"/>
            <a:chOff x="548640" y="342900"/>
            <a:chExt cx="7883900" cy="797719"/>
          </a:xfrm>
        </p:grpSpPr>
        <p:sp>
          <p:nvSpPr>
            <p:cNvPr id="7" name="Rectangle 7"/>
            <p:cNvSpPr/>
            <p:nvPr/>
          </p:nvSpPr>
          <p:spPr>
            <a:xfrm>
              <a:off x="571500" y="342900"/>
              <a:ext cx="1571625" cy="247650"/>
            </a:xfrm>
            <a:prstGeom prst="roundRect">
              <a:avLst>
                <a:gd name="adj" fmla="val 50000"/>
              </a:avLst>
            </a:prstGeom>
            <a:solidFill>
              <a:srgbClr val="1E293B"/>
            </a:solidFill>
            <a:ln w="9525">
              <a:solidFill>
                <a:srgbClr val="10B981"/>
              </a:solidFill>
            </a:ln>
          </p:spPr>
        </p:sp>
        <p:sp>
          <p:nvSpPr>
            <p:cNvPr id="8" name="TextBox 8"/>
            <p:cNvSpPr txBox="1"/>
            <p:nvPr/>
          </p:nvSpPr>
          <p:spPr>
            <a:xfrm>
              <a:off x="608556" y="415766"/>
              <a:ext cx="1487988" cy="167640"/>
            </a:xfrm>
            <a:prstGeom prst="rect">
              <a:avLst/>
            </a:prstGeom>
            <a:noFill/>
            <a:ln>
              <a:noFill/>
            </a:ln>
          </p:spPr>
          <p:txBody>
            <a:bodyPr wrap="none" lIns="0" tIns="0" rIns="0" bIns="0" anchor="t" anchorCtr="0">
              <a:spAutoFit/>
            </a:bodyPr>
            <a:lstStyle/>
            <a:p>
              <a:pPr algn="ctr"/>
              <a:r>
                <a:rPr lang="zh-CN" sz="825" b="1" dirty="0">
                  <a:solidFill>
                    <a:srgbClr val="34D399"/>
                  </a:solidFill>
                  <a:latin typeface="Segoe UI"/>
                  <a:ea typeface="Microsoft YaHei"/>
                  <a:cs typeface="Segoe UI"/>
                </a:rPr>
                <a:t>GIAO DỊCH PHÂN TÁN (SAGA)</a:t>
              </a:r>
            </a:p>
          </p:txBody>
        </p:sp>
        <p:sp>
          <p:nvSpPr>
            <p:cNvPr id="9" name="TextBox 9"/>
            <p:cNvSpPr txBox="1"/>
            <p:nvPr/>
          </p:nvSpPr>
          <p:spPr>
            <a:xfrm>
              <a:off x="548640" y="624840"/>
              <a:ext cx="7883900"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Nghiệp Vụ Chuyển Khoản &amp; Distributed Saga Pattern (Happy Path)</a:t>
              </a:r>
            </a:p>
          </p:txBody>
        </p:sp>
        <p:sp>
          <p:nvSpPr>
            <p:cNvPr id="10" name="TextBox 10"/>
            <p:cNvSpPr txBox="1"/>
            <p:nvPr/>
          </p:nvSpPr>
          <p:spPr>
            <a:xfrm>
              <a:off x="559118" y="942499"/>
              <a:ext cx="6099774"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Đảm bảo nhất quán dữ liệu cuối cùng xuyên suốt các microservice bằng luồng điều phối sự kiện</a:t>
              </a:r>
            </a:p>
          </p:txBody>
        </p:sp>
      </p:grpSp>
      <p:grpSp>
        <p:nvGrpSpPr>
          <p:cNvPr id="43" name="Group 43"/>
          <p:cNvGrpSpPr/>
          <p:nvPr/>
        </p:nvGrpSpPr>
        <p:grpSpPr>
          <a:xfrm>
            <a:off x="571500" y="1285875"/>
            <a:ext cx="7334250" cy="3318272"/>
            <a:chOff x="571500" y="1285875"/>
            <a:chExt cx="7334250" cy="3318272"/>
          </a:xfrm>
        </p:grpSpPr>
        <p:grpSp>
          <p:nvGrpSpPr>
            <p:cNvPr id="18" name="Group 18"/>
            <p:cNvGrpSpPr/>
            <p:nvPr/>
          </p:nvGrpSpPr>
          <p:grpSpPr>
            <a:xfrm>
              <a:off x="571500" y="1285875"/>
              <a:ext cx="7334250" cy="775097"/>
              <a:chOff x="571500" y="1285875"/>
              <a:chExt cx="7334250" cy="775097"/>
            </a:xfrm>
            <a:effectLst>
              <a:outerShdw blurRad="95250" dist="28575" dir="5400000" algn="ctr" rotWithShape="0">
                <a:srgbClr val="000000">
                  <a:alpha val="26250"/>
                </a:srgbClr>
              </a:outerShdw>
            </a:effectLst>
          </p:grpSpPr>
          <p:sp>
            <p:nvSpPr>
              <p:cNvPr id="12" name="Rectangle 12"/>
              <p:cNvSpPr/>
              <p:nvPr/>
            </p:nvSpPr>
            <p:spPr>
              <a:xfrm>
                <a:off x="571500" y="1285875"/>
                <a:ext cx="7334250" cy="723900"/>
              </a:xfrm>
              <a:prstGeom prst="roundRect">
                <a:avLst>
                  <a:gd name="adj" fmla="val 13158"/>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Rectangle 13"/>
              <p:cNvSpPr/>
              <p:nvPr/>
            </p:nvSpPr>
            <p:spPr>
              <a:xfrm>
                <a:off x="704850" y="1419225"/>
                <a:ext cx="438150" cy="457200"/>
              </a:xfrm>
              <a:prstGeom prst="roundRect">
                <a:avLst>
                  <a:gd name="adj" fmla="val 17391"/>
                </a:avLst>
              </a:prstGeom>
              <a:solidFill>
                <a:srgbClr val="1E3A8A"/>
              </a:solidFill>
              <a:ln>
                <a:noFill/>
              </a:ln>
              <a:effectLst>
                <a:outerShdw blurRad="95250" dist="28575" dir="5400000" algn="ctr" rotWithShape="0">
                  <a:srgbClr val="000000">
                    <a:alpha val="26250"/>
                  </a:srgbClr>
                </a:outerShdw>
              </a:effectLst>
            </p:spPr>
          </p:sp>
          <p:sp>
            <p:nvSpPr>
              <p:cNvPr id="14" name="TextBox 14"/>
              <p:cNvSpPr txBox="1"/>
              <p:nvPr/>
            </p:nvSpPr>
            <p:spPr>
              <a:xfrm>
                <a:off x="826445" y="1559242"/>
                <a:ext cx="194960" cy="2743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350" b="1" dirty="0">
                    <a:solidFill>
                      <a:srgbClr val="60A5FA"/>
                    </a:solidFill>
                    <a:latin typeface="Arial"/>
                    <a:ea typeface="Microsoft YaHei"/>
                    <a:cs typeface="Arial"/>
                  </a:rPr>
                  <a:t>01</a:t>
                </a:r>
              </a:p>
            </p:txBody>
          </p:sp>
          <p:sp>
            <p:nvSpPr>
              <p:cNvPr id="15" name="TextBox 15"/>
              <p:cNvSpPr txBox="1"/>
              <p:nvPr/>
            </p:nvSpPr>
            <p:spPr>
              <a:xfrm>
                <a:off x="1272540" y="1496378"/>
                <a:ext cx="4224045" cy="2133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50" b="1" dirty="0">
                    <a:solidFill>
                      <a:srgbClr val="F8FAFC"/>
                    </a:solidFill>
                    <a:latin typeface="Segoe UI"/>
                    <a:ea typeface="Microsoft YaHei"/>
                    <a:cs typeface="Segoe UI"/>
                  </a:rPr>
                  <a:t>Khách Hàng Khởi Tạo Lệnh Chuyển Khoản (Transfer Request)</a:t>
                </a:r>
              </a:p>
            </p:txBody>
          </p:sp>
          <p:sp>
            <p:nvSpPr>
              <p:cNvPr id="16" name="TextBox 16"/>
              <p:cNvSpPr txBox="1"/>
              <p:nvPr/>
            </p:nvSpPr>
            <p:spPr>
              <a:xfrm>
                <a:off x="1273969" y="1699022"/>
                <a:ext cx="3624262"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Client gửi yêu cầu POST /api/v1/transfers qua API Gateway.</a:t>
                </a:r>
              </a:p>
            </p:txBody>
          </p:sp>
          <p:sp>
            <p:nvSpPr>
              <p:cNvPr id="17" name="TextBox 17"/>
              <p:cNvSpPr txBox="1"/>
              <p:nvPr/>
            </p:nvSpPr>
            <p:spPr>
              <a:xfrm>
                <a:off x="1273969" y="1870472"/>
                <a:ext cx="4030563"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Transaction Service khởi tạo bản ghi giao dịch trạng thái PENDING.</a:t>
                </a:r>
              </a:p>
            </p:txBody>
          </p:sp>
        </p:grpSp>
        <p:sp>
          <p:nvSpPr>
            <p:cNvPr id="19" name="Line 19"/>
            <p:cNvSpPr/>
            <p:nvPr/>
          </p:nvSpPr>
          <p:spPr>
            <a:xfrm>
              <a:off x="4238625" y="2019300"/>
              <a:ext cx="1" cy="104775"/>
            </a:xfrm>
            <a:prstGeom prst="line">
              <a:avLst/>
            </a:prstGeom>
            <a:noFill/>
            <a:ln w="19050">
              <a:solidFill>
                <a:srgbClr val="06B6D4"/>
              </a:solidFill>
              <a:tailEnd type="triangle" w="lg" len="lg"/>
            </a:ln>
          </p:spPr>
        </p:sp>
        <p:grpSp>
          <p:nvGrpSpPr>
            <p:cNvPr id="26" name="Group 26"/>
            <p:cNvGrpSpPr/>
            <p:nvPr/>
          </p:nvGrpSpPr>
          <p:grpSpPr>
            <a:xfrm>
              <a:off x="571500" y="2133600"/>
              <a:ext cx="7334250" cy="775097"/>
              <a:chOff x="571500" y="2133600"/>
              <a:chExt cx="7334250" cy="775097"/>
            </a:xfrm>
            <a:effectLst>
              <a:outerShdw blurRad="95250" dist="28575" dir="5400000" algn="ctr" rotWithShape="0">
                <a:srgbClr val="000000">
                  <a:alpha val="26250"/>
                </a:srgbClr>
              </a:outerShdw>
            </a:effectLst>
          </p:grpSpPr>
          <p:sp>
            <p:nvSpPr>
              <p:cNvPr id="20" name="Rectangle 20"/>
              <p:cNvSpPr/>
              <p:nvPr/>
            </p:nvSpPr>
            <p:spPr>
              <a:xfrm>
                <a:off x="571500" y="2133600"/>
                <a:ext cx="7334250" cy="723900"/>
              </a:xfrm>
              <a:prstGeom prst="roundRect">
                <a:avLst>
                  <a:gd name="adj" fmla="val 13158"/>
                </a:avLst>
              </a:prstGeom>
              <a:solidFill>
                <a:srgbClr val="1E293B"/>
              </a:solidFill>
              <a:ln w="9525">
                <a:solidFill>
                  <a:srgbClr val="06B6D4">
                    <a:alpha val="40000"/>
                  </a:srgbClr>
                </a:solidFill>
              </a:ln>
              <a:effectLst>
                <a:outerShdw blurRad="95250" dist="28575" dir="5400000" algn="ctr" rotWithShape="0">
                  <a:srgbClr val="000000">
                    <a:alpha val="26250"/>
                  </a:srgbClr>
                </a:outerShdw>
              </a:effectLst>
            </p:spPr>
          </p:sp>
          <p:sp>
            <p:nvSpPr>
              <p:cNvPr id="21" name="Rectangle 21"/>
              <p:cNvSpPr/>
              <p:nvPr/>
            </p:nvSpPr>
            <p:spPr>
              <a:xfrm>
                <a:off x="704850" y="2266950"/>
                <a:ext cx="438150" cy="457200"/>
              </a:xfrm>
              <a:prstGeom prst="roundRect">
                <a:avLst>
                  <a:gd name="adj" fmla="val 17391"/>
                </a:avLst>
              </a:prstGeom>
              <a:solidFill>
                <a:srgbClr val="164E63"/>
              </a:solidFill>
              <a:ln>
                <a:noFill/>
              </a:ln>
              <a:effectLst>
                <a:outerShdw blurRad="95250" dist="28575" dir="5400000" algn="ctr" rotWithShape="0">
                  <a:srgbClr val="000000">
                    <a:alpha val="26250"/>
                  </a:srgbClr>
                </a:outerShdw>
              </a:effectLst>
            </p:spPr>
          </p:sp>
          <p:sp>
            <p:nvSpPr>
              <p:cNvPr id="22" name="TextBox 22"/>
              <p:cNvSpPr txBox="1"/>
              <p:nvPr/>
            </p:nvSpPr>
            <p:spPr>
              <a:xfrm>
                <a:off x="802817" y="2406968"/>
                <a:ext cx="242216" cy="2743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350" b="1" dirty="0">
                    <a:solidFill>
                      <a:srgbClr val="22D3EE"/>
                    </a:solidFill>
                    <a:latin typeface="Arial"/>
                    <a:ea typeface="Microsoft YaHei"/>
                    <a:cs typeface="Arial"/>
                  </a:rPr>
                  <a:t>02</a:t>
                </a:r>
              </a:p>
            </p:txBody>
          </p:sp>
          <p:sp>
            <p:nvSpPr>
              <p:cNvPr id="23" name="TextBox 23"/>
              <p:cNvSpPr txBox="1"/>
              <p:nvPr/>
            </p:nvSpPr>
            <p:spPr>
              <a:xfrm>
                <a:off x="1272540" y="2344102"/>
                <a:ext cx="3297829" cy="2133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50" b="1" dirty="0">
                    <a:solidFill>
                      <a:srgbClr val="F8FAFC"/>
                    </a:solidFill>
                    <a:latin typeface="Segoe UI"/>
                    <a:ea typeface="Microsoft YaHei"/>
                    <a:cs typeface="Segoe UI"/>
                  </a:rPr>
                  <a:t>Ghi Nợ Tài Khoản Nguồn (Debit Source Account)</a:t>
                </a:r>
              </a:p>
            </p:txBody>
          </p:sp>
          <p:sp>
            <p:nvSpPr>
              <p:cNvPr id="24" name="TextBox 24"/>
              <p:cNvSpPr txBox="1"/>
              <p:nvPr/>
            </p:nvSpPr>
            <p:spPr>
              <a:xfrm>
                <a:off x="1273969" y="2546747"/>
                <a:ext cx="454937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Account Service kiểm tra số dư và trừ tiền tài khoản nguồn (ACID local DB).</a:t>
                </a:r>
              </a:p>
            </p:txBody>
          </p:sp>
          <p:sp>
            <p:nvSpPr>
              <p:cNvPr id="25" name="TextBox 25"/>
              <p:cNvSpPr txBox="1"/>
              <p:nvPr/>
            </p:nvSpPr>
            <p:spPr>
              <a:xfrm>
                <a:off x="1273969" y="2718197"/>
                <a:ext cx="4674394"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Sau khi trừ thành công, xuất bản sự kiện MoneyDebitedEvent lên Kafka topic.</a:t>
                </a:r>
              </a:p>
            </p:txBody>
          </p:sp>
        </p:grpSp>
        <p:sp>
          <p:nvSpPr>
            <p:cNvPr id="27" name="Line 27"/>
            <p:cNvSpPr/>
            <p:nvPr/>
          </p:nvSpPr>
          <p:spPr>
            <a:xfrm>
              <a:off x="4238625" y="2867025"/>
              <a:ext cx="1" cy="104775"/>
            </a:xfrm>
            <a:prstGeom prst="line">
              <a:avLst/>
            </a:prstGeom>
            <a:noFill/>
            <a:ln w="19050">
              <a:solidFill>
                <a:srgbClr val="06B6D4"/>
              </a:solidFill>
              <a:tailEnd type="triangle" w="lg" len="lg"/>
            </a:ln>
          </p:spPr>
        </p:sp>
        <p:grpSp>
          <p:nvGrpSpPr>
            <p:cNvPr id="34" name="Group 34"/>
            <p:cNvGrpSpPr/>
            <p:nvPr/>
          </p:nvGrpSpPr>
          <p:grpSpPr>
            <a:xfrm>
              <a:off x="571500" y="2981325"/>
              <a:ext cx="7334250" cy="775097"/>
              <a:chOff x="571500" y="2981325"/>
              <a:chExt cx="7334250" cy="775097"/>
            </a:xfrm>
            <a:effectLst>
              <a:outerShdw blurRad="95250" dist="28575" dir="5400000" algn="ctr" rotWithShape="0">
                <a:srgbClr val="000000">
                  <a:alpha val="26250"/>
                </a:srgbClr>
              </a:outerShdw>
            </a:effectLst>
          </p:grpSpPr>
          <p:sp>
            <p:nvSpPr>
              <p:cNvPr id="28" name="Rectangle 28"/>
              <p:cNvSpPr/>
              <p:nvPr/>
            </p:nvSpPr>
            <p:spPr>
              <a:xfrm>
                <a:off x="571500" y="2981325"/>
                <a:ext cx="7334250" cy="723900"/>
              </a:xfrm>
              <a:prstGeom prst="roundRect">
                <a:avLst>
                  <a:gd name="adj" fmla="val 13158"/>
                </a:avLst>
              </a:prstGeom>
              <a:solidFill>
                <a:srgbClr val="1E293B"/>
              </a:solidFill>
              <a:ln w="9525">
                <a:solidFill>
                  <a:srgbClr val="10B981">
                    <a:alpha val="40000"/>
                  </a:srgbClr>
                </a:solidFill>
              </a:ln>
              <a:effectLst>
                <a:outerShdw blurRad="95250" dist="28575" dir="5400000" algn="ctr" rotWithShape="0">
                  <a:srgbClr val="000000">
                    <a:alpha val="26250"/>
                  </a:srgbClr>
                </a:outerShdw>
              </a:effectLst>
            </p:spPr>
          </p:sp>
          <p:sp>
            <p:nvSpPr>
              <p:cNvPr id="29" name="Rectangle 29"/>
              <p:cNvSpPr/>
              <p:nvPr/>
            </p:nvSpPr>
            <p:spPr>
              <a:xfrm>
                <a:off x="704850" y="3114675"/>
                <a:ext cx="438150" cy="457200"/>
              </a:xfrm>
              <a:prstGeom prst="roundRect">
                <a:avLst>
                  <a:gd name="adj" fmla="val 17391"/>
                </a:avLst>
              </a:prstGeom>
              <a:solidFill>
                <a:srgbClr val="064E3B"/>
              </a:solidFill>
              <a:ln>
                <a:noFill/>
              </a:ln>
              <a:effectLst>
                <a:outerShdw blurRad="95250" dist="28575" dir="5400000" algn="ctr" rotWithShape="0">
                  <a:srgbClr val="000000">
                    <a:alpha val="26250"/>
                  </a:srgbClr>
                </a:outerShdw>
              </a:effectLst>
            </p:spPr>
          </p:sp>
          <p:sp>
            <p:nvSpPr>
              <p:cNvPr id="30" name="TextBox 30"/>
              <p:cNvSpPr txBox="1"/>
              <p:nvPr/>
            </p:nvSpPr>
            <p:spPr>
              <a:xfrm>
                <a:off x="802817" y="3254692"/>
                <a:ext cx="242216" cy="2743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350" b="1" dirty="0">
                    <a:solidFill>
                      <a:srgbClr val="4ADE80"/>
                    </a:solidFill>
                    <a:latin typeface="Arial"/>
                    <a:ea typeface="Microsoft YaHei"/>
                    <a:cs typeface="Arial"/>
                  </a:rPr>
                  <a:t>03</a:t>
                </a:r>
              </a:p>
            </p:txBody>
          </p:sp>
          <p:sp>
            <p:nvSpPr>
              <p:cNvPr id="31" name="TextBox 31"/>
              <p:cNvSpPr txBox="1"/>
              <p:nvPr/>
            </p:nvSpPr>
            <p:spPr>
              <a:xfrm>
                <a:off x="1272540" y="3191828"/>
                <a:ext cx="3628620" cy="2133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50" b="1" dirty="0">
                    <a:solidFill>
                      <a:srgbClr val="F8FAFC"/>
                    </a:solidFill>
                    <a:latin typeface="Segoe UI"/>
                    <a:ea typeface="Microsoft YaHei"/>
                    <a:cs typeface="Segoe UI"/>
                  </a:rPr>
                  <a:t>Ghi Có Tài Khoản Đích (Credit Destination Account)</a:t>
                </a:r>
              </a:p>
            </p:txBody>
          </p:sp>
          <p:sp>
            <p:nvSpPr>
              <p:cNvPr id="32" name="TextBox 32"/>
              <p:cNvSpPr txBox="1"/>
              <p:nvPr/>
            </p:nvSpPr>
            <p:spPr>
              <a:xfrm>
                <a:off x="1273969" y="3394472"/>
                <a:ext cx="4686895"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Account Service tiêu thụ event từ Kafka, cộng tiền vào tài khoản người nhận.</a:t>
                </a:r>
              </a:p>
            </p:txBody>
          </p:sp>
          <p:sp>
            <p:nvSpPr>
              <p:cNvPr id="33" name="TextBox 33"/>
              <p:cNvSpPr txBox="1"/>
              <p:nvPr/>
            </p:nvSpPr>
            <p:spPr>
              <a:xfrm>
                <a:off x="1273969" y="3565922"/>
                <a:ext cx="4293096"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Ghi có hoàn tất, xuất bản sự kiện MoneyCreditedEvent lên Kafka topic.</a:t>
                </a:r>
              </a:p>
            </p:txBody>
          </p:sp>
        </p:grpSp>
        <p:sp>
          <p:nvSpPr>
            <p:cNvPr id="35" name="Line 35"/>
            <p:cNvSpPr/>
            <p:nvPr/>
          </p:nvSpPr>
          <p:spPr>
            <a:xfrm>
              <a:off x="4238625" y="3714750"/>
              <a:ext cx="1" cy="104775"/>
            </a:xfrm>
            <a:prstGeom prst="line">
              <a:avLst/>
            </a:prstGeom>
            <a:noFill/>
            <a:ln w="19050">
              <a:solidFill>
                <a:srgbClr val="10B981"/>
              </a:solidFill>
              <a:tailEnd type="triangle" w="lg" len="lg"/>
            </a:ln>
          </p:spPr>
        </p:sp>
        <p:grpSp>
          <p:nvGrpSpPr>
            <p:cNvPr id="42" name="Group 42"/>
            <p:cNvGrpSpPr/>
            <p:nvPr/>
          </p:nvGrpSpPr>
          <p:grpSpPr>
            <a:xfrm>
              <a:off x="571500" y="3829050"/>
              <a:ext cx="7334250" cy="775097"/>
              <a:chOff x="571500" y="3829050"/>
              <a:chExt cx="7334250" cy="775097"/>
            </a:xfrm>
            <a:effectLst>
              <a:outerShdw blurRad="95250" dist="28575" dir="5400000" algn="ctr" rotWithShape="0">
                <a:srgbClr val="000000">
                  <a:alpha val="26250"/>
                </a:srgbClr>
              </a:outerShdw>
            </a:effectLst>
          </p:grpSpPr>
          <p:sp>
            <p:nvSpPr>
              <p:cNvPr id="36" name="Rectangle 36"/>
              <p:cNvSpPr/>
              <p:nvPr/>
            </p:nvSpPr>
            <p:spPr>
              <a:xfrm>
                <a:off x="571500" y="3829050"/>
                <a:ext cx="7334250" cy="723900"/>
              </a:xfrm>
              <a:prstGeom prst="roundRect">
                <a:avLst>
                  <a:gd name="adj" fmla="val 13158"/>
                </a:avLst>
              </a:prstGeom>
              <a:solidFill>
                <a:srgbClr val="1E293B"/>
              </a:solidFill>
              <a:ln w="14288">
                <a:solidFill>
                  <a:srgbClr val="10B981"/>
                </a:solidFill>
              </a:ln>
              <a:effectLst>
                <a:outerShdw blurRad="95250" dist="28575" dir="5400000" algn="ctr" rotWithShape="0">
                  <a:srgbClr val="000000">
                    <a:alpha val="26250"/>
                  </a:srgbClr>
                </a:outerShdw>
              </a:effectLst>
            </p:spPr>
          </p:sp>
          <p:sp>
            <p:nvSpPr>
              <p:cNvPr id="37" name="Rectangle 37"/>
              <p:cNvSpPr/>
              <p:nvPr/>
            </p:nvSpPr>
            <p:spPr>
              <a:xfrm>
                <a:off x="704850" y="3962400"/>
                <a:ext cx="438150" cy="457200"/>
              </a:xfrm>
              <a:prstGeom prst="roundRect">
                <a:avLst>
                  <a:gd name="adj" fmla="val 17391"/>
                </a:avLst>
              </a:prstGeom>
              <a:solidFill>
                <a:srgbClr val="064E3B"/>
              </a:solidFill>
              <a:ln>
                <a:noFill/>
              </a:ln>
              <a:effectLst>
                <a:outerShdw blurRad="95250" dist="28575" dir="5400000" algn="ctr" rotWithShape="0">
                  <a:srgbClr val="000000">
                    <a:alpha val="26250"/>
                  </a:srgbClr>
                </a:outerShdw>
              </a:effectLst>
            </p:spPr>
          </p:sp>
          <p:sp>
            <p:nvSpPr>
              <p:cNvPr id="38" name="TextBox 38"/>
              <p:cNvSpPr txBox="1"/>
              <p:nvPr/>
            </p:nvSpPr>
            <p:spPr>
              <a:xfrm>
                <a:off x="802817" y="4102418"/>
                <a:ext cx="242216" cy="2743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350" b="1" dirty="0">
                    <a:solidFill>
                      <a:srgbClr val="4ADE80"/>
                    </a:solidFill>
                    <a:latin typeface="Arial"/>
                    <a:ea typeface="Microsoft YaHei"/>
                    <a:cs typeface="Arial"/>
                  </a:rPr>
                  <a:t>04</a:t>
                </a:r>
              </a:p>
            </p:txBody>
          </p:sp>
          <p:sp>
            <p:nvSpPr>
              <p:cNvPr id="39" name="TextBox 39"/>
              <p:cNvSpPr txBox="1"/>
              <p:nvPr/>
            </p:nvSpPr>
            <p:spPr>
              <a:xfrm>
                <a:off x="1272540" y="4039552"/>
                <a:ext cx="3305180" cy="2133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50" b="1" dirty="0">
                    <a:solidFill>
                      <a:srgbClr val="34D399"/>
                    </a:solidFill>
                    <a:latin typeface="Segoe UI"/>
                    <a:ea typeface="Microsoft YaHei"/>
                    <a:cs typeface="Segoe UI"/>
                  </a:rPr>
                  <a:t>Hoàn Tất Giao Dịch &amp; Thông Báo Biến Động Số Dư</a:t>
                </a:r>
              </a:p>
            </p:txBody>
          </p:sp>
          <p:sp>
            <p:nvSpPr>
              <p:cNvPr id="40" name="TextBox 40"/>
              <p:cNvSpPr txBox="1"/>
              <p:nvPr/>
            </p:nvSpPr>
            <p:spPr>
              <a:xfrm>
                <a:off x="1273969" y="4242197"/>
                <a:ext cx="413682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Transaction Service cập nhật trạng thái giao dịch sang COMPLETED.</a:t>
                </a:r>
              </a:p>
            </p:txBody>
          </p:sp>
          <p:sp>
            <p:nvSpPr>
              <p:cNvPr id="41" name="TextBox 41"/>
              <p:cNvSpPr txBox="1"/>
              <p:nvPr/>
            </p:nvSpPr>
            <p:spPr>
              <a:xfrm>
                <a:off x="1273969" y="4413647"/>
                <a:ext cx="4674394"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Notification Service nhận event, đẩy thông báo biến động số dư qua SSE/FCM.</a:t>
                </a:r>
              </a:p>
            </p:txBody>
          </p:sp>
        </p:grpSp>
      </p:grpSp>
      <p:grpSp>
        <p:nvGrpSpPr>
          <p:cNvPr id="49" name="Group 49"/>
          <p:cNvGrpSpPr/>
          <p:nvPr/>
        </p:nvGrpSpPr>
        <p:grpSpPr>
          <a:xfrm>
            <a:off x="8191500" y="1285875"/>
            <a:ext cx="3429000" cy="3267075"/>
            <a:chOff x="8191500" y="1285875"/>
            <a:chExt cx="3429000" cy="3267075"/>
          </a:xfrm>
        </p:grpSpPr>
        <p:sp>
          <p:nvSpPr>
            <p:cNvPr id="44" name="Rectangle 44"/>
            <p:cNvSpPr/>
            <p:nvPr/>
          </p:nvSpPr>
          <p:spPr>
            <a:xfrm>
              <a:off x="8191500" y="1285875"/>
              <a:ext cx="3429000" cy="3267075"/>
            </a:xfrm>
            <a:prstGeom prst="roundRect">
              <a:avLst>
                <a:gd name="adj" fmla="val 4665"/>
              </a:avLst>
            </a:prstGeom>
            <a:solidFill>
              <a:srgbClr val="0F172A"/>
            </a:solidFill>
            <a:ln w="14288">
              <a:solidFill>
                <a:srgbClr val="10B981">
                  <a:alpha val="40000"/>
                </a:srgbClr>
              </a:solidFill>
            </a:ln>
            <a:effectLst>
              <a:outerShdw blurRad="95250" dist="28575" dir="5400000" algn="ctr" rotWithShape="0">
                <a:srgbClr val="000000">
                  <a:alpha val="26250"/>
                </a:srgbClr>
              </a:outerShdw>
            </a:effectLst>
          </p:spPr>
        </p:sp>
        <p:pic>
          <p:nvPicPr>
            <p:cNvPr id="45" name="Image 45"/>
            <p:cNvPicPr>
              <a:picLocks noChangeAspect="1"/>
            </p:cNvPicPr>
            <p:nvPr/>
          </p:nvPicPr>
          <p:blipFill>
            <a:blip r:embed="rId2"/>
            <a:srcRect l="0" t="2429" r="0" b="2429"/>
            <a:stretch>
              <a:fillRect/>
            </a:stretch>
          </p:blipFill>
          <p:spPr>
            <a:xfrm>
              <a:off x="8239125" y="1333500"/>
              <a:ext cx="3333750" cy="3171825"/>
            </a:xfrm>
            <a:prstGeom prst="roundRect">
              <a:avLst>
                <a:gd name="adj" fmla="val 4804"/>
              </a:avLst>
            </a:prstGeom>
          </p:spPr>
        </p:pic>
        <p:sp>
          <p:nvSpPr>
            <p:cNvPr id="46" name="Rectangle 46"/>
            <p:cNvSpPr/>
            <p:nvPr/>
          </p:nvSpPr>
          <p:spPr>
            <a:xfrm>
              <a:off x="8382000" y="1447800"/>
              <a:ext cx="1571625" cy="228600"/>
            </a:xfrm>
            <a:prstGeom prst="roundRect">
              <a:avLst>
                <a:gd name="adj" fmla="val 50000"/>
              </a:avLst>
            </a:prstGeom>
            <a:solidFill>
              <a:srgbClr val="0B1120">
                <a:alpha val="85000"/>
              </a:srgbClr>
            </a:solidFill>
            <a:ln w="9525">
              <a:solidFill>
                <a:srgbClr val="10B981"/>
              </a:solidFill>
            </a:ln>
          </p:spPr>
        </p:sp>
        <p:sp>
          <p:nvSpPr>
            <p:cNvPr id="47" name="Ellipse 47"/>
            <p:cNvSpPr/>
            <p:nvPr/>
          </p:nvSpPr>
          <p:spPr>
            <a:xfrm>
              <a:off x="8486775" y="1524000"/>
              <a:ext cx="76200" cy="76200"/>
            </a:xfrm>
            <a:prstGeom prst="ellipse">
              <a:avLst/>
            </a:prstGeom>
            <a:solidFill>
              <a:srgbClr val="10B981"/>
            </a:solidFill>
            <a:ln>
              <a:noFill/>
            </a:ln>
          </p:spPr>
        </p:sp>
        <p:sp>
          <p:nvSpPr>
            <p:cNvPr id="48" name="TextBox 48"/>
            <p:cNvSpPr txBox="1"/>
            <p:nvPr/>
          </p:nvSpPr>
          <p:spPr>
            <a:xfrm>
              <a:off x="8638222" y="1511141"/>
              <a:ext cx="1233857" cy="167640"/>
            </a:xfrm>
            <a:prstGeom prst="rect">
              <a:avLst/>
            </a:prstGeom>
            <a:noFill/>
            <a:ln>
              <a:noFill/>
            </a:ln>
          </p:spPr>
          <p:txBody>
            <a:bodyPr wrap="none" lIns="0" tIns="0" rIns="0" bIns="0" anchor="t" anchorCtr="0">
              <a:spAutoFit/>
            </a:bodyPr>
            <a:lstStyle/>
            <a:p>
              <a:pPr algn="l"/>
              <a:r>
                <a:rPr lang="zh-CN" sz="825" b="1" dirty="0">
                  <a:solidFill>
                    <a:srgbClr val="34D399"/>
                  </a:solidFill>
                  <a:latin typeface="Segoe UI"/>
                  <a:ea typeface="Microsoft YaHei"/>
                  <a:cs typeface="Segoe UI"/>
                </a:rPr>
                <a:t>DUAL-ENTRY LEDGER 3D</a:t>
              </a:r>
            </a:p>
          </p:txBody>
        </p:sp>
      </p:grpSp>
      <p:grpSp>
        <p:nvGrpSpPr>
          <p:cNvPr id="79" name="Group 79"/>
          <p:cNvGrpSpPr/>
          <p:nvPr/>
        </p:nvGrpSpPr>
        <p:grpSpPr>
          <a:xfrm>
            <a:off x="571500" y="4762500"/>
            <a:ext cx="11049000" cy="1571625"/>
            <a:chOff x="571500" y="4762500"/>
            <a:chExt cx="11049000" cy="1571625"/>
          </a:xfrm>
          <a:effectLst>
            <a:outerShdw blurRad="95250" dist="28575" dir="5400000" algn="ctr" rotWithShape="0">
              <a:srgbClr val="000000">
                <a:alpha val="26250"/>
              </a:srgbClr>
            </a:outerShdw>
          </a:effectLst>
        </p:grpSpPr>
        <p:sp>
          <p:nvSpPr>
            <p:cNvPr id="50" name="Rectangle 50"/>
            <p:cNvSpPr/>
            <p:nvPr/>
          </p:nvSpPr>
          <p:spPr>
            <a:xfrm>
              <a:off x="571500" y="4762500"/>
              <a:ext cx="11049000" cy="1571625"/>
            </a:xfrm>
            <a:prstGeom prst="roundRect">
              <a:avLst>
                <a:gd name="adj" fmla="val 7273"/>
              </a:avLst>
            </a:prstGeom>
            <a:solidFill>
              <a:srgbClr val="0F172A"/>
            </a:solidFill>
            <a:ln w="14288">
              <a:solidFill>
                <a:srgbClr val="2563EB"/>
              </a:solidFill>
            </a:ln>
            <a:effectLst>
              <a:outerShdw blurRad="95250" dist="28575" dir="5400000" algn="ctr" rotWithShape="0">
                <a:srgbClr val="000000">
                  <a:alpha val="26250"/>
                </a:srgbClr>
              </a:outerShdw>
            </a:effectLst>
          </p:spPr>
        </p:sp>
        <p:sp>
          <p:nvSpPr>
            <p:cNvPr id="51" name="Rectangle 51"/>
            <p:cNvSpPr/>
            <p:nvPr/>
          </p:nvSpPr>
          <p:spPr>
            <a:xfrm>
              <a:off x="762000" y="4895850"/>
              <a:ext cx="2095500" cy="247650"/>
            </a:xfrm>
            <a:prstGeom prst="roundRect">
              <a:avLst>
                <a:gd name="adj" fmla="val 23077"/>
              </a:avLst>
            </a:prstGeom>
            <a:solidFill>
              <a:srgbClr val="1E293B"/>
            </a:solidFill>
            <a:ln w="9525">
              <a:solidFill>
                <a:srgbClr val="334155"/>
              </a:solidFill>
            </a:ln>
            <a:effectLst>
              <a:outerShdw blurRad="95250" dist="28575" dir="5400000" algn="ctr" rotWithShape="0">
                <a:srgbClr val="000000">
                  <a:alpha val="26250"/>
                </a:srgbClr>
              </a:outerShdw>
            </a:effectLst>
          </p:spPr>
        </p:sp>
        <p:grpSp>
          <p:nvGrpSpPr>
            <p:cNvPr id="60" name="Group 60"/>
            <p:cNvGrpSpPr/>
            <p:nvPr/>
          </p:nvGrpSpPr>
          <p:grpSpPr>
            <a:xfrm>
              <a:off x="857250" y="4962525"/>
              <a:ext cx="114300" cy="120650"/>
              <a:chOff x="857250" y="4962525"/>
              <a:chExt cx="114300" cy="120650"/>
            </a:xfrm>
          </p:grpSpPr>
          <p:sp>
            <p:nvSpPr>
              <p:cNvPr id="52" name="Freeform 52"/>
              <p:cNvSpPr/>
              <p:nvPr/>
            </p:nvSpPr>
            <p:spPr>
              <a:xfrm>
                <a:off x="876300" y="496252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60A5FA"/>
                </a:solidFill>
              </a:ln>
              <a:effectLst>
                <a:outerShdw blurRad="95250" dist="28575" dir="5400000" algn="ctr" rotWithShape="0">
                  <a:srgbClr val="000000">
                    <a:alpha val="26250"/>
                  </a:srgbClr>
                </a:outerShdw>
              </a:effectLst>
            </p:spPr>
          </p:sp>
          <p:sp>
            <p:nvSpPr>
              <p:cNvPr id="53" name="Freeform 53"/>
              <p:cNvSpPr/>
              <p:nvPr/>
            </p:nvSpPr>
            <p:spPr>
              <a:xfrm>
                <a:off x="914400" y="4962525"/>
                <a:ext cx="12700" cy="76200"/>
              </a:xfrm>
              <a:custGeom>
                <a:avLst/>
                <a:gdLst/>
                <a:ahLst/>
                <a:cxnLst/>
                <a:rect l="l" t="t" r="r" b="b"/>
                <a:pathLst>
                  <a:path w="12700" h="76200">
                    <a:moveTo>
                      <a:pt x="0" y="0"/>
                    </a:moveTo>
                    <a:cubicBezTo>
                      <a:pt x="8465" y="2115"/>
                      <a:pt x="12700" y="14815"/>
                      <a:pt x="12700" y="38100"/>
                    </a:cubicBezTo>
                    <a:cubicBezTo>
                      <a:pt x="12700" y="61385"/>
                      <a:pt x="8465" y="74085"/>
                      <a:pt x="0" y="76200"/>
                    </a:cubicBezTo>
                  </a:path>
                </a:pathLst>
              </a:custGeom>
              <a:noFill/>
              <a:ln w="19050">
                <a:solidFill>
                  <a:srgbClr val="60A5FA"/>
                </a:solidFill>
              </a:ln>
              <a:effectLst>
                <a:outerShdw blurRad="95250" dist="28575" dir="5400000" algn="ctr" rotWithShape="0">
                  <a:srgbClr val="000000">
                    <a:alpha val="26250"/>
                  </a:srgbClr>
                </a:outerShdw>
              </a:effectLst>
            </p:spPr>
          </p:sp>
          <p:sp>
            <p:nvSpPr>
              <p:cNvPr id="54" name="Freeform 54"/>
              <p:cNvSpPr/>
              <p:nvPr/>
            </p:nvSpPr>
            <p:spPr>
              <a:xfrm>
                <a:off x="901700" y="4962525"/>
                <a:ext cx="12700" cy="76200"/>
              </a:xfrm>
              <a:custGeom>
                <a:avLst/>
                <a:gdLst/>
                <a:ahLst/>
                <a:cxnLst/>
                <a:rect l="l" t="t" r="r" b="b"/>
                <a:pathLst>
                  <a:path w="12700" h="76200">
                    <a:moveTo>
                      <a:pt x="12700" y="0"/>
                    </a:moveTo>
                    <a:cubicBezTo>
                      <a:pt x="4235" y="2115"/>
                      <a:pt x="0" y="14815"/>
                      <a:pt x="0" y="38100"/>
                    </a:cubicBezTo>
                    <a:cubicBezTo>
                      <a:pt x="0" y="61385"/>
                      <a:pt x="4235" y="74085"/>
                      <a:pt x="12700" y="76200"/>
                    </a:cubicBezTo>
                  </a:path>
                </a:pathLst>
              </a:custGeom>
              <a:noFill/>
              <a:ln w="19050">
                <a:solidFill>
                  <a:srgbClr val="60A5FA"/>
                </a:solidFill>
              </a:ln>
              <a:effectLst>
                <a:outerShdw blurRad="95250" dist="28575" dir="5400000" algn="ctr" rotWithShape="0">
                  <a:srgbClr val="000000">
                    <a:alpha val="26250"/>
                  </a:srgbClr>
                </a:outerShdw>
              </a:effectLst>
            </p:spPr>
          </p:sp>
          <p:sp>
            <p:nvSpPr>
              <p:cNvPr id="55" name="Freeform 55"/>
              <p:cNvSpPr/>
              <p:nvPr/>
            </p:nvSpPr>
            <p:spPr>
              <a:xfrm>
                <a:off x="876300" y="5000625"/>
                <a:ext cx="76200" cy="9525"/>
              </a:xfrm>
              <a:custGeom>
                <a:avLst/>
                <a:gdLst/>
                <a:ahLst/>
                <a:cxnLst/>
                <a:rect l="l" t="t" r="r" b="b"/>
                <a:pathLst>
                  <a:path w="76200" h="9525">
                    <a:moveTo>
                      <a:pt x="0" y="0"/>
                    </a:moveTo>
                    <a:lnTo>
                      <a:pt x="76200" y="0"/>
                    </a:lnTo>
                  </a:path>
                </a:pathLst>
              </a:custGeom>
              <a:noFill/>
              <a:ln w="19050">
                <a:solidFill>
                  <a:srgbClr val="60A5FA"/>
                </a:solidFill>
              </a:ln>
              <a:effectLst>
                <a:outerShdw blurRad="95250" dist="28575" dir="5400000" algn="ctr" rotWithShape="0">
                  <a:srgbClr val="000000">
                    <a:alpha val="26250"/>
                  </a:srgbClr>
                </a:outerShdw>
              </a:effectLst>
            </p:spPr>
          </p:sp>
          <p:sp>
            <p:nvSpPr>
              <p:cNvPr id="56" name="Freeform 56"/>
              <p:cNvSpPr/>
              <p:nvPr/>
            </p:nvSpPr>
            <p:spPr>
              <a:xfrm>
                <a:off x="857250" y="5070475"/>
                <a:ext cx="44450" cy="9525"/>
              </a:xfrm>
              <a:custGeom>
                <a:avLst/>
                <a:gdLst/>
                <a:ahLst/>
                <a:cxnLst/>
                <a:rect l="l" t="t" r="r" b="b"/>
                <a:pathLst>
                  <a:path w="44450" h="9525">
                    <a:moveTo>
                      <a:pt x="0" y="0"/>
                    </a:moveTo>
                    <a:lnTo>
                      <a:pt x="44450" y="0"/>
                    </a:lnTo>
                  </a:path>
                </a:pathLst>
              </a:custGeom>
              <a:noFill/>
              <a:ln w="19050">
                <a:solidFill>
                  <a:srgbClr val="60A5FA"/>
                </a:solidFill>
              </a:ln>
              <a:effectLst>
                <a:outerShdw blurRad="95250" dist="28575" dir="5400000" algn="ctr" rotWithShape="0">
                  <a:srgbClr val="000000">
                    <a:alpha val="26250"/>
                  </a:srgbClr>
                </a:outerShdw>
              </a:effectLst>
            </p:spPr>
          </p:sp>
          <p:sp>
            <p:nvSpPr>
              <p:cNvPr id="57" name="Freeform 57"/>
              <p:cNvSpPr/>
              <p:nvPr/>
            </p:nvSpPr>
            <p:spPr>
              <a:xfrm>
                <a:off x="927100" y="5070475"/>
                <a:ext cx="44450" cy="9525"/>
              </a:xfrm>
              <a:custGeom>
                <a:avLst/>
                <a:gdLst/>
                <a:ahLst/>
                <a:cxnLst/>
                <a:rect l="l" t="t" r="r" b="b"/>
                <a:pathLst>
                  <a:path w="44450" h="9525">
                    <a:moveTo>
                      <a:pt x="0" y="0"/>
                    </a:moveTo>
                    <a:lnTo>
                      <a:pt x="44450" y="0"/>
                    </a:lnTo>
                  </a:path>
                </a:pathLst>
              </a:custGeom>
              <a:noFill/>
              <a:ln w="19050">
                <a:solidFill>
                  <a:srgbClr val="60A5FA"/>
                </a:solidFill>
              </a:ln>
              <a:effectLst>
                <a:outerShdw blurRad="95250" dist="28575" dir="5400000" algn="ctr" rotWithShape="0">
                  <a:srgbClr val="000000">
                    <a:alpha val="26250"/>
                  </a:srgbClr>
                </a:outerShdw>
              </a:effectLst>
            </p:spPr>
          </p:sp>
          <p:sp>
            <p:nvSpPr>
              <p:cNvPr id="58" name="Freeform 58"/>
              <p:cNvSpPr/>
              <p:nvPr/>
            </p:nvSpPr>
            <p:spPr>
              <a:xfrm>
                <a:off x="901700" y="5057775"/>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60A5FA"/>
                </a:solidFill>
              </a:ln>
              <a:effectLst>
                <a:outerShdw blurRad="95250" dist="28575" dir="5400000" algn="ctr" rotWithShape="0">
                  <a:srgbClr val="000000">
                    <a:alpha val="26250"/>
                  </a:srgbClr>
                </a:outerShdw>
              </a:effectLst>
            </p:spPr>
          </p:sp>
          <p:sp>
            <p:nvSpPr>
              <p:cNvPr id="59" name="Freeform 59"/>
              <p:cNvSpPr/>
              <p:nvPr/>
            </p:nvSpPr>
            <p:spPr>
              <a:xfrm>
                <a:off x="914400" y="5038725"/>
                <a:ext cx="9525" cy="19050"/>
              </a:xfrm>
              <a:custGeom>
                <a:avLst/>
                <a:gdLst/>
                <a:ahLst/>
                <a:cxnLst/>
                <a:rect l="l" t="t" r="r" b="b"/>
                <a:pathLst>
                  <a:path w="9525" h="19050">
                    <a:moveTo>
                      <a:pt x="0" y="0"/>
                    </a:moveTo>
                    <a:lnTo>
                      <a:pt x="0" y="19050"/>
                    </a:lnTo>
                  </a:path>
                </a:pathLst>
              </a:custGeom>
              <a:noFill/>
              <a:ln w="19050">
                <a:solidFill>
                  <a:srgbClr val="60A5FA"/>
                </a:solidFill>
              </a:ln>
              <a:effectLst>
                <a:outerShdw blurRad="95250" dist="28575" dir="5400000" algn="ctr" rotWithShape="0">
                  <a:srgbClr val="000000">
                    <a:alpha val="26250"/>
                  </a:srgbClr>
                </a:outerShdw>
              </a:effectLst>
            </p:spPr>
          </p:sp>
        </p:grpSp>
        <p:sp>
          <p:nvSpPr>
            <p:cNvPr id="61" name="TextBox 61"/>
            <p:cNvSpPr txBox="1"/>
            <p:nvPr/>
          </p:nvSpPr>
          <p:spPr>
            <a:xfrm>
              <a:off x="1055370" y="4970145"/>
              <a:ext cx="179338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b="1" dirty="0">
                  <a:solidFill>
                    <a:srgbClr val="93C5FD"/>
                  </a:solidFill>
                  <a:latin typeface="Segoe UI"/>
                  <a:ea typeface="Microsoft YaHei"/>
                  <a:cs typeface="Segoe UI"/>
                </a:rPr>
                <a:t>LUỒNG EVENT KAFKA STREAMING</a:t>
              </a:r>
            </a:p>
          </p:txBody>
        </p:sp>
        <p:sp>
          <p:nvSpPr>
            <p:cNvPr id="62" name="Rectangle 62"/>
            <p:cNvSpPr/>
            <p:nvPr/>
          </p:nvSpPr>
          <p:spPr>
            <a:xfrm>
              <a:off x="762000" y="5238750"/>
              <a:ext cx="3286125" cy="933450"/>
            </a:xfrm>
            <a:prstGeom prst="roundRect">
              <a:avLst>
                <a:gd name="adj" fmla="val 8163"/>
              </a:avLst>
            </a:prstGeom>
            <a:solidFill>
              <a:srgbClr val="1E293B"/>
            </a:solidFill>
            <a:ln w="9525">
              <a:solidFill>
                <a:srgbClr val="06B6D4"/>
              </a:solidFill>
            </a:ln>
            <a:effectLst>
              <a:outerShdw blurRad="95250" dist="28575" dir="5400000" algn="ctr" rotWithShape="0">
                <a:srgbClr val="000000">
                  <a:alpha val="26250"/>
                </a:srgbClr>
              </a:outerShdw>
            </a:effectLst>
          </p:spPr>
        </p:sp>
        <p:sp>
          <p:nvSpPr>
            <p:cNvPr id="63" name="TextBox 63"/>
            <p:cNvSpPr txBox="1"/>
            <p:nvPr/>
          </p:nvSpPr>
          <p:spPr>
            <a:xfrm>
              <a:off x="892492" y="5343049"/>
              <a:ext cx="1635666"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22D3EE"/>
                  </a:solidFill>
                  <a:latin typeface="Consolas"/>
                  <a:ea typeface="Microsoft YaHei"/>
                  <a:cs typeface="Consolas"/>
                </a:rPr>
                <a:t>TOPIC: transfer-events</a:t>
              </a:r>
            </a:p>
          </p:txBody>
        </p:sp>
        <p:sp>
          <p:nvSpPr>
            <p:cNvPr id="64" name="TextBox 64"/>
            <p:cNvSpPr txBox="1"/>
            <p:nvPr/>
          </p:nvSpPr>
          <p:spPr>
            <a:xfrm>
              <a:off x="893445" y="5560695"/>
              <a:ext cx="157105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Segoe UI"/>
                  <a:ea typeface="Microsoft YaHei"/>
                  <a:cs typeface="Segoe UI"/>
                </a:rPr>
                <a:t>Event: MoneyDebitedEvent</a:t>
              </a:r>
            </a:p>
          </p:txBody>
        </p:sp>
        <p:sp>
          <p:nvSpPr>
            <p:cNvPr id="65" name="TextBox 65"/>
            <p:cNvSpPr txBox="1"/>
            <p:nvPr/>
          </p:nvSpPr>
          <p:spPr>
            <a:xfrm>
              <a:off x="893921" y="5755243"/>
              <a:ext cx="200015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Payload: { txnId, srcAcc, destAcc,</a:t>
              </a:r>
            </a:p>
          </p:txBody>
        </p:sp>
        <p:sp>
          <p:nvSpPr>
            <p:cNvPr id="66" name="TextBox 66"/>
            <p:cNvSpPr txBox="1"/>
            <p:nvPr/>
          </p:nvSpPr>
          <p:spPr>
            <a:xfrm>
              <a:off x="893921" y="5907643"/>
              <a:ext cx="219567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amount, timestamp, status: DEBITED }</a:t>
              </a:r>
            </a:p>
          </p:txBody>
        </p:sp>
        <p:sp>
          <p:nvSpPr>
            <p:cNvPr id="67" name="Line 67"/>
            <p:cNvSpPr/>
            <p:nvPr/>
          </p:nvSpPr>
          <p:spPr>
            <a:xfrm>
              <a:off x="4143375" y="5705475"/>
              <a:ext cx="285750" cy="1"/>
            </a:xfrm>
            <a:prstGeom prst="line">
              <a:avLst/>
            </a:prstGeom>
            <a:noFill/>
            <a:ln w="19050">
              <a:solidFill>
                <a:srgbClr val="06B6D4"/>
              </a:solidFill>
              <a:tailEnd type="triangle" w="lg" len="lg"/>
            </a:ln>
          </p:spPr>
        </p:sp>
        <p:sp>
          <p:nvSpPr>
            <p:cNvPr id="68" name="Rectangle 68"/>
            <p:cNvSpPr/>
            <p:nvPr/>
          </p:nvSpPr>
          <p:spPr>
            <a:xfrm>
              <a:off x="4524375" y="5238750"/>
              <a:ext cx="3286125" cy="933450"/>
            </a:xfrm>
            <a:prstGeom prst="roundRect">
              <a:avLst>
                <a:gd name="adj" fmla="val 8163"/>
              </a:avLst>
            </a:prstGeom>
            <a:solidFill>
              <a:srgbClr val="1E293B"/>
            </a:solidFill>
            <a:ln w="9525">
              <a:solidFill>
                <a:srgbClr val="10B981"/>
              </a:solidFill>
            </a:ln>
            <a:effectLst>
              <a:outerShdw blurRad="95250" dist="28575" dir="5400000" algn="ctr" rotWithShape="0">
                <a:srgbClr val="000000">
                  <a:alpha val="26250"/>
                </a:srgbClr>
              </a:outerShdw>
            </a:effectLst>
          </p:spPr>
        </p:sp>
        <p:sp>
          <p:nvSpPr>
            <p:cNvPr id="69" name="TextBox 69"/>
            <p:cNvSpPr txBox="1"/>
            <p:nvPr/>
          </p:nvSpPr>
          <p:spPr>
            <a:xfrm>
              <a:off x="4654868" y="5343049"/>
              <a:ext cx="1676621"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34D399"/>
                  </a:solidFill>
                  <a:latin typeface="Consolas"/>
                  <a:ea typeface="Microsoft YaHei"/>
                  <a:cs typeface="Consolas"/>
                </a:rPr>
                <a:t>TOPIC: account-credited</a:t>
              </a:r>
            </a:p>
          </p:txBody>
        </p:sp>
        <p:sp>
          <p:nvSpPr>
            <p:cNvPr id="70" name="TextBox 70"/>
            <p:cNvSpPr txBox="1"/>
            <p:nvPr/>
          </p:nvSpPr>
          <p:spPr>
            <a:xfrm>
              <a:off x="4655820" y="5560695"/>
              <a:ext cx="163706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Segoe UI"/>
                  <a:ea typeface="Microsoft YaHei"/>
                  <a:cs typeface="Segoe UI"/>
                </a:rPr>
                <a:t>Event: MoneyCreditedEvent</a:t>
              </a:r>
            </a:p>
          </p:txBody>
        </p:sp>
        <p:sp>
          <p:nvSpPr>
            <p:cNvPr id="71" name="TextBox 71"/>
            <p:cNvSpPr txBox="1"/>
            <p:nvPr/>
          </p:nvSpPr>
          <p:spPr>
            <a:xfrm>
              <a:off x="4656296" y="5755243"/>
              <a:ext cx="202315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Payload: { txnId, destAcc, amount,</a:t>
              </a:r>
            </a:p>
          </p:txBody>
        </p:sp>
        <p:sp>
          <p:nvSpPr>
            <p:cNvPr id="72" name="TextBox 72"/>
            <p:cNvSpPr txBox="1"/>
            <p:nvPr/>
          </p:nvSpPr>
          <p:spPr>
            <a:xfrm>
              <a:off x="4656296" y="5907643"/>
              <a:ext cx="186788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balanceAfter, status: SUCCESS }</a:t>
              </a:r>
            </a:p>
          </p:txBody>
        </p:sp>
        <p:sp>
          <p:nvSpPr>
            <p:cNvPr id="73" name="Line 73"/>
            <p:cNvSpPr/>
            <p:nvPr/>
          </p:nvSpPr>
          <p:spPr>
            <a:xfrm>
              <a:off x="7905750" y="5705475"/>
              <a:ext cx="285750" cy="1"/>
            </a:xfrm>
            <a:prstGeom prst="line">
              <a:avLst/>
            </a:prstGeom>
            <a:noFill/>
            <a:ln w="19050">
              <a:solidFill>
                <a:srgbClr val="10B981"/>
              </a:solidFill>
              <a:tailEnd type="triangle" w="lg" len="lg"/>
            </a:ln>
          </p:spPr>
        </p:sp>
        <p:sp>
          <p:nvSpPr>
            <p:cNvPr id="74" name="Rectangle 74"/>
            <p:cNvSpPr/>
            <p:nvPr/>
          </p:nvSpPr>
          <p:spPr>
            <a:xfrm>
              <a:off x="8286750" y="5238750"/>
              <a:ext cx="3143250" cy="933450"/>
            </a:xfrm>
            <a:prstGeom prst="roundRect">
              <a:avLst>
                <a:gd name="adj" fmla="val 8163"/>
              </a:avLst>
            </a:prstGeom>
            <a:solidFill>
              <a:srgbClr val="1E293B"/>
            </a:solidFill>
            <a:ln w="9525">
              <a:solidFill>
                <a:srgbClr val="FBBF24"/>
              </a:solidFill>
            </a:ln>
            <a:effectLst>
              <a:outerShdw blurRad="95250" dist="28575" dir="5400000" algn="ctr" rotWithShape="0">
                <a:srgbClr val="000000">
                  <a:alpha val="26250"/>
                </a:srgbClr>
              </a:outerShdw>
            </a:effectLst>
          </p:spPr>
        </p:sp>
        <p:sp>
          <p:nvSpPr>
            <p:cNvPr id="75" name="TextBox 75"/>
            <p:cNvSpPr txBox="1"/>
            <p:nvPr/>
          </p:nvSpPr>
          <p:spPr>
            <a:xfrm>
              <a:off x="8417242" y="5343049"/>
              <a:ext cx="2161257"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FDE68A"/>
                  </a:solidFill>
                  <a:latin typeface="Consolas"/>
                  <a:ea typeface="Microsoft YaHei"/>
                  <a:cs typeface="Consolas"/>
                </a:rPr>
                <a:t>CONSUMER: notification-service</a:t>
              </a:r>
            </a:p>
          </p:txBody>
        </p:sp>
        <p:sp>
          <p:nvSpPr>
            <p:cNvPr id="76" name="TextBox 76"/>
            <p:cNvSpPr txBox="1"/>
            <p:nvPr/>
          </p:nvSpPr>
          <p:spPr>
            <a:xfrm>
              <a:off x="8418195" y="5560695"/>
              <a:ext cx="173307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Segoe UI"/>
                  <a:ea typeface="Microsoft YaHei"/>
                  <a:cs typeface="Segoe UI"/>
                </a:rPr>
                <a:t>Xử Lý Phi Đồng Bộ &amp; Push Alert</a:t>
              </a:r>
            </a:p>
          </p:txBody>
        </p:sp>
        <p:sp>
          <p:nvSpPr>
            <p:cNvPr id="77" name="TextBox 77"/>
            <p:cNvSpPr txBox="1"/>
            <p:nvPr/>
          </p:nvSpPr>
          <p:spPr>
            <a:xfrm>
              <a:off x="8418671" y="5755243"/>
              <a:ext cx="1718370"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Tiêu thụ event từ Kafka topic;</a:t>
              </a:r>
            </a:p>
          </p:txBody>
        </p:sp>
        <p:sp>
          <p:nvSpPr>
            <p:cNvPr id="78" name="TextBox 78"/>
            <p:cNvSpPr txBox="1"/>
            <p:nvPr/>
          </p:nvSpPr>
          <p:spPr>
            <a:xfrm>
              <a:off x="8418671" y="5907643"/>
              <a:ext cx="2253186"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push biến động số dư qua SSE / Webhook.</a:t>
              </a:r>
            </a:p>
          </p:txBody>
        </p:sp>
      </p:grpSp>
      <p:grpSp>
        <p:nvGrpSpPr>
          <p:cNvPr id="82" name="Group 82"/>
          <p:cNvGrpSpPr/>
          <p:nvPr/>
        </p:nvGrpSpPr>
        <p:grpSpPr>
          <a:xfrm>
            <a:off x="560070" y="6522720"/>
            <a:ext cx="11071860" cy="182880"/>
            <a:chOff x="560070" y="6522720"/>
            <a:chExt cx="11071860" cy="182880"/>
          </a:xfrm>
        </p:grpSpPr>
        <p:sp>
          <p:nvSpPr>
            <p:cNvPr id="80" name="TextBox 80"/>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81" name="TextBox 81"/>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image">
                                      <p:cBhvr>
                                        <p:cTn id="7" dur="400"/>
                                        <p:tgtEl>
                                          <p:spTgt spid="4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400"/>
                                        <p:tgtEl>
                                          <p:spTgt spid="4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wipe(left)">
                                      <p:cBhvr>
                                        <p:cTn id="15"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9" grpId="0"/>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EF4444">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7946908" cy="797719"/>
            <a:chOff x="548640" y="342900"/>
            <a:chExt cx="7946908" cy="797719"/>
          </a:xfrm>
        </p:grpSpPr>
        <p:sp>
          <p:nvSpPr>
            <p:cNvPr id="7" name="Rectangle 7"/>
            <p:cNvSpPr/>
            <p:nvPr/>
          </p:nvSpPr>
          <p:spPr>
            <a:xfrm>
              <a:off x="571500" y="342900"/>
              <a:ext cx="1666875" cy="247650"/>
            </a:xfrm>
            <a:prstGeom prst="roundRect">
              <a:avLst>
                <a:gd name="adj" fmla="val 50000"/>
              </a:avLst>
            </a:prstGeom>
            <a:solidFill>
              <a:srgbClr val="1E293B"/>
            </a:solidFill>
            <a:ln w="9525">
              <a:solidFill>
                <a:srgbClr val="EF4444"/>
              </a:solidFill>
            </a:ln>
          </p:spPr>
        </p:sp>
        <p:sp>
          <p:nvSpPr>
            <p:cNvPr id="8" name="TextBox 8"/>
            <p:cNvSpPr txBox="1"/>
            <p:nvPr/>
          </p:nvSpPr>
          <p:spPr>
            <a:xfrm>
              <a:off x="682172" y="415766"/>
              <a:ext cx="1436007" cy="167640"/>
            </a:xfrm>
            <a:prstGeom prst="rect">
              <a:avLst/>
            </a:prstGeom>
            <a:noFill/>
            <a:ln>
              <a:noFill/>
            </a:ln>
          </p:spPr>
          <p:txBody>
            <a:bodyPr wrap="none" lIns="0" tIns="0" rIns="0" bIns="0" anchor="t" anchorCtr="0">
              <a:spAutoFit/>
            </a:bodyPr>
            <a:lstStyle/>
            <a:p>
              <a:pPr algn="ctr"/>
              <a:r>
                <a:rPr lang="zh-CN" sz="825" b="1" dirty="0">
                  <a:solidFill>
                    <a:srgbClr val="F87171"/>
                  </a:solidFill>
                  <a:latin typeface="Segoe UI"/>
                  <a:ea typeface="Microsoft YaHei"/>
                  <a:cs typeface="Segoe UI"/>
                </a:rPr>
                <a:t>KỊCH BẢN XỬ LÝ LỖI (SAGA)</a:t>
              </a:r>
            </a:p>
          </p:txBody>
        </p:sp>
        <p:sp>
          <p:nvSpPr>
            <p:cNvPr id="9" name="TextBox 9"/>
            <p:cNvSpPr txBox="1"/>
            <p:nvPr/>
          </p:nvSpPr>
          <p:spPr>
            <a:xfrm>
              <a:off x="548640" y="624840"/>
              <a:ext cx="7946908"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Kịch Bản Rollback &amp; Giao Dịch Bù Trừ (Compensating Transaction)</a:t>
              </a:r>
            </a:p>
          </p:txBody>
        </p:sp>
        <p:sp>
          <p:nvSpPr>
            <p:cNvPr id="10" name="TextBox 10"/>
            <p:cNvSpPr txBox="1"/>
            <p:nvPr/>
          </p:nvSpPr>
          <p:spPr>
            <a:xfrm>
              <a:off x="559118" y="942499"/>
              <a:ext cx="6086123"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Cơ chế tự phục hồi bảo toàn 100% số dư khách hàng khi phát sinh sự cố tại tài khoản thụ hưởng</a:t>
              </a:r>
            </a:p>
          </p:txBody>
        </p:sp>
      </p:grpSp>
      <p:grpSp>
        <p:nvGrpSpPr>
          <p:cNvPr id="67" name="Group 67"/>
          <p:cNvGrpSpPr/>
          <p:nvPr/>
        </p:nvGrpSpPr>
        <p:grpSpPr>
          <a:xfrm>
            <a:off x="571500" y="1285875"/>
            <a:ext cx="11049000" cy="2143125"/>
            <a:chOff x="571500" y="1285875"/>
            <a:chExt cx="11049000" cy="2143125"/>
          </a:xfrm>
        </p:grpSpPr>
        <p:grpSp>
          <p:nvGrpSpPr>
            <p:cNvPr id="24" name="Group 24"/>
            <p:cNvGrpSpPr/>
            <p:nvPr/>
          </p:nvGrpSpPr>
          <p:grpSpPr>
            <a:xfrm>
              <a:off x="571500" y="1285875"/>
              <a:ext cx="2524125" cy="2143125"/>
              <a:chOff x="571500" y="1285875"/>
              <a:chExt cx="2524125" cy="2143125"/>
            </a:xfrm>
            <a:effectLst>
              <a:outerShdw blurRad="95250" dist="28575" dir="5400000" algn="ctr" rotWithShape="0">
                <a:srgbClr val="000000">
                  <a:alpha val="26250"/>
                </a:srgbClr>
              </a:outerShdw>
            </a:effectLst>
          </p:grpSpPr>
          <p:sp>
            <p:nvSpPr>
              <p:cNvPr id="12" name="Rectangle 12"/>
              <p:cNvSpPr/>
              <p:nvPr/>
            </p:nvSpPr>
            <p:spPr>
              <a:xfrm>
                <a:off x="571500" y="1285875"/>
                <a:ext cx="2524125" cy="2143125"/>
              </a:xfrm>
              <a:prstGeom prst="roundRect">
                <a:avLst>
                  <a:gd name="adj" fmla="val 5333"/>
                </a:avLst>
              </a:prstGeom>
              <a:solidFill>
                <a:srgbClr val="1E293B"/>
              </a:solidFill>
              <a:ln w="14288">
                <a:solidFill>
                  <a:srgbClr val="06B6D4">
                    <a:alpha val="50000"/>
                  </a:srgbClr>
                </a:solidFill>
              </a:ln>
              <a:effectLst>
                <a:outerShdw blurRad="95250" dist="28575" dir="5400000" algn="ctr" rotWithShape="0">
                  <a:srgbClr val="000000">
                    <a:alpha val="26250"/>
                  </a:srgbClr>
                </a:outerShdw>
              </a:effectLst>
            </p:spPr>
          </p:sp>
          <p:sp>
            <p:nvSpPr>
              <p:cNvPr id="13" name="Rectangle 13"/>
              <p:cNvSpPr/>
              <p:nvPr/>
            </p:nvSpPr>
            <p:spPr>
              <a:xfrm>
                <a:off x="704850" y="1419225"/>
                <a:ext cx="342900" cy="342900"/>
              </a:xfrm>
              <a:prstGeom prst="roundRect">
                <a:avLst>
                  <a:gd name="adj" fmla="val 22222"/>
                </a:avLst>
              </a:prstGeom>
              <a:solidFill>
                <a:srgbClr val="164E63"/>
              </a:solidFill>
              <a:ln>
                <a:noFill/>
              </a:ln>
              <a:effectLst>
                <a:outerShdw blurRad="95250" dist="28575" dir="5400000" algn="ctr" rotWithShape="0">
                  <a:srgbClr val="000000">
                    <a:alpha val="26250"/>
                  </a:srgbClr>
                </a:outerShdw>
              </a:effectLst>
            </p:spPr>
          </p:sp>
          <p:sp>
            <p:nvSpPr>
              <p:cNvPr id="14" name="TextBox 14"/>
              <p:cNvSpPr txBox="1"/>
              <p:nvPr/>
            </p:nvSpPr>
            <p:spPr>
              <a:xfrm>
                <a:off x="795067" y="1526381"/>
                <a:ext cx="16246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22D3EE"/>
                    </a:solidFill>
                    <a:latin typeface="Arial"/>
                    <a:ea typeface="Microsoft YaHei"/>
                    <a:cs typeface="Arial"/>
                  </a:rPr>
                  <a:t>01</a:t>
                </a:r>
              </a:p>
            </p:txBody>
          </p:sp>
          <p:sp>
            <p:nvSpPr>
              <p:cNvPr id="15" name="TextBox 15"/>
              <p:cNvSpPr txBox="1"/>
              <p:nvPr/>
            </p:nvSpPr>
            <p:spPr>
              <a:xfrm>
                <a:off x="1111091" y="1519476"/>
                <a:ext cx="1797814"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Trừ Tiền Nguồn Thành Công</a:t>
                </a:r>
              </a:p>
            </p:txBody>
          </p:sp>
          <p:sp>
            <p:nvSpPr>
              <p:cNvPr id="16" name="Line 16"/>
              <p:cNvSpPr/>
              <p:nvPr/>
            </p:nvSpPr>
            <p:spPr>
              <a:xfrm>
                <a:off x="704850" y="1838325"/>
                <a:ext cx="2247900" cy="9525"/>
              </a:xfrm>
              <a:custGeom>
                <a:avLst/>
                <a:gdLst/>
                <a:ahLst/>
                <a:cxnLst/>
                <a:rect l="l" t="t" r="r" b="b"/>
                <a:pathLst>
                  <a:path w="2247900" h="9525">
                    <a:moveTo>
                      <a:pt x="0" y="0"/>
                    </a:moveTo>
                    <a:lnTo>
                      <a:pt x="2247900" y="0"/>
                    </a:lnTo>
                  </a:path>
                </a:pathLst>
              </a:custGeom>
              <a:noFill/>
              <a:ln w="9525">
                <a:solidFill>
                  <a:srgbClr val="334155"/>
                </a:solidFill>
              </a:ln>
            </p:spPr>
          </p:sp>
          <p:sp>
            <p:nvSpPr>
              <p:cNvPr id="17" name="TextBox 17"/>
              <p:cNvSpPr txBox="1"/>
              <p:nvPr/>
            </p:nvSpPr>
            <p:spPr>
              <a:xfrm>
                <a:off x="693420" y="1950720"/>
                <a:ext cx="168506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Account A trừ: </a:t>
                </a:r>
                <a:r>
                  <a:rPr lang="zh-CN" sz="900" b="1" dirty="0">
                    <a:solidFill>
                      <a:srgbClr val="38BDF8"/>
                    </a:solidFill>
                    <a:latin typeface="Segoe UI"/>
                    <a:ea typeface="Microsoft YaHei"/>
                    <a:cs typeface="Segoe UI"/>
                  </a:rPr>
                  <a:t>5,000,000đ</a:t>
                </a:r>
              </a:p>
            </p:txBody>
          </p:sp>
          <p:sp>
            <p:nvSpPr>
              <p:cNvPr id="18" name="TextBox 18"/>
              <p:cNvSpPr txBox="1"/>
              <p:nvPr/>
            </p:nvSpPr>
            <p:spPr>
              <a:xfrm>
                <a:off x="693420" y="2141220"/>
                <a:ext cx="1517047"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Trạng thái tạm: </a:t>
                </a:r>
                <a:r>
                  <a:rPr lang="zh-CN" sz="900" b="1" dirty="0">
                    <a:solidFill>
                      <a:srgbClr val="FBBF24"/>
                    </a:solidFill>
                    <a:latin typeface="Segoe UI"/>
                    <a:ea typeface="Microsoft YaHei"/>
                    <a:cs typeface="Segoe UI"/>
                  </a:rPr>
                  <a:t>DEBITED</a:t>
                </a:r>
              </a:p>
            </p:txBody>
          </p:sp>
          <p:sp>
            <p:nvSpPr>
              <p:cNvPr id="19" name="TextBox 19"/>
              <p:cNvSpPr txBox="1"/>
              <p:nvPr/>
            </p:nvSpPr>
            <p:spPr>
              <a:xfrm>
                <a:off x="693420" y="2331720"/>
                <a:ext cx="106099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Txn ID: </a:t>
                </a:r>
                <a:r>
                  <a:rPr lang="zh-CN" sz="900" dirty="0">
                    <a:solidFill>
                      <a:srgbClr val="F8FAFC"/>
                    </a:solidFill>
                    <a:latin typeface="Consolas"/>
                    <a:ea typeface="Microsoft YaHei"/>
                    <a:cs typeface="Consolas"/>
                  </a:rPr>
                  <a:t>TXN_9821</a:t>
                </a:r>
              </a:p>
            </p:txBody>
          </p:sp>
          <p:sp>
            <p:nvSpPr>
              <p:cNvPr id="20" name="TextBox 20"/>
              <p:cNvSpPr txBox="1"/>
              <p:nvPr/>
            </p:nvSpPr>
            <p:spPr>
              <a:xfrm>
                <a:off x="693420" y="2522220"/>
                <a:ext cx="146304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Phát sự kiện lên Kafka:</a:t>
                </a:r>
              </a:p>
            </p:txBody>
          </p:sp>
          <p:sp>
            <p:nvSpPr>
              <p:cNvPr id="21" name="TextBox 21"/>
              <p:cNvSpPr txBox="1"/>
              <p:nvPr/>
            </p:nvSpPr>
            <p:spPr>
              <a:xfrm>
                <a:off x="694372" y="2701766"/>
                <a:ext cx="1044083"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06B6D4"/>
                    </a:solidFill>
                    <a:latin typeface="Consolas"/>
                    <a:ea typeface="Microsoft YaHei"/>
                    <a:cs typeface="Consolas"/>
                  </a:rPr>
                  <a:t>MoneyDebitedEvent</a:t>
                </a:r>
              </a:p>
            </p:txBody>
          </p:sp>
          <p:sp>
            <p:nvSpPr>
              <p:cNvPr id="22" name="Rectangle 22"/>
              <p:cNvSpPr/>
              <p:nvPr/>
            </p:nvSpPr>
            <p:spPr>
              <a:xfrm>
                <a:off x="704850" y="3048000"/>
                <a:ext cx="2238375" cy="247650"/>
              </a:xfrm>
              <a:prstGeom prst="roundRect">
                <a:avLst>
                  <a:gd name="adj" fmla="val 23077"/>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23" name="TextBox 23"/>
              <p:cNvSpPr txBox="1"/>
              <p:nvPr/>
            </p:nvSpPr>
            <p:spPr>
              <a:xfrm>
                <a:off x="1329413" y="3120866"/>
                <a:ext cx="979725"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25" b="1" dirty="0">
                    <a:solidFill>
                      <a:srgbClr val="10B981"/>
                    </a:solidFill>
                    <a:latin typeface="Segoe UI"/>
                    <a:ea typeface="Microsoft YaHei"/>
                    <a:cs typeface="Segoe UI"/>
                  </a:rPr>
                  <a:t>✓ BƯỚC 1 HOÀN TẤT</a:t>
                </a:r>
              </a:p>
            </p:txBody>
          </p:sp>
        </p:grpSp>
        <p:sp>
          <p:nvSpPr>
            <p:cNvPr id="25" name="Line 25"/>
            <p:cNvSpPr/>
            <p:nvPr/>
          </p:nvSpPr>
          <p:spPr>
            <a:xfrm>
              <a:off x="3143250" y="2238375"/>
              <a:ext cx="333375" cy="1"/>
            </a:xfrm>
            <a:prstGeom prst="line">
              <a:avLst/>
            </a:prstGeom>
            <a:noFill/>
            <a:ln w="23812">
              <a:solidFill>
                <a:srgbClr val="06B6D4"/>
              </a:solidFill>
              <a:tailEnd type="triangle" w="lg" len="lg"/>
            </a:ln>
          </p:spPr>
        </p:sp>
        <p:grpSp>
          <p:nvGrpSpPr>
            <p:cNvPr id="38" name="Group 38"/>
            <p:cNvGrpSpPr/>
            <p:nvPr/>
          </p:nvGrpSpPr>
          <p:grpSpPr>
            <a:xfrm>
              <a:off x="3524250" y="1285875"/>
              <a:ext cx="2524125" cy="2143125"/>
              <a:chOff x="3524250" y="1285875"/>
              <a:chExt cx="2524125" cy="2143125"/>
            </a:xfrm>
            <a:effectLst>
              <a:outerShdw blurRad="95250" dist="28575" dir="5400000" algn="ctr" rotWithShape="0">
                <a:srgbClr val="000000">
                  <a:alpha val="26250"/>
                </a:srgbClr>
              </a:outerShdw>
            </a:effectLst>
          </p:grpSpPr>
          <p:sp>
            <p:nvSpPr>
              <p:cNvPr id="26" name="Rectangle 26"/>
              <p:cNvSpPr/>
              <p:nvPr/>
            </p:nvSpPr>
            <p:spPr>
              <a:xfrm>
                <a:off x="3524250" y="1285875"/>
                <a:ext cx="2524125" cy="2143125"/>
              </a:xfrm>
              <a:prstGeom prst="roundRect">
                <a:avLst>
                  <a:gd name="adj" fmla="val 5333"/>
                </a:avLst>
              </a:prstGeom>
              <a:solidFill>
                <a:srgbClr val="1E293B"/>
              </a:solidFill>
              <a:ln w="19050">
                <a:solidFill>
                  <a:srgbClr val="EF4444"/>
                </a:solidFill>
              </a:ln>
              <a:effectLst>
                <a:outerShdw blurRad="95250" dist="28575" dir="5400000" algn="ctr" rotWithShape="0">
                  <a:srgbClr val="000000">
                    <a:alpha val="26250"/>
                  </a:srgbClr>
                </a:outerShdw>
              </a:effectLst>
            </p:spPr>
          </p:sp>
          <p:sp>
            <p:nvSpPr>
              <p:cNvPr id="27" name="Rectangle 27"/>
              <p:cNvSpPr/>
              <p:nvPr/>
            </p:nvSpPr>
            <p:spPr>
              <a:xfrm>
                <a:off x="3657600" y="1419225"/>
                <a:ext cx="342900" cy="342900"/>
              </a:xfrm>
              <a:prstGeom prst="roundRect">
                <a:avLst>
                  <a:gd name="adj" fmla="val 22222"/>
                </a:avLst>
              </a:prstGeom>
              <a:solidFill>
                <a:srgbClr val="7F1D1D"/>
              </a:solidFill>
              <a:ln>
                <a:noFill/>
              </a:ln>
              <a:effectLst>
                <a:outerShdw blurRad="95250" dist="28575" dir="5400000" algn="ctr" rotWithShape="0">
                  <a:srgbClr val="000000">
                    <a:alpha val="26250"/>
                  </a:srgbClr>
                </a:outerShdw>
              </a:effectLst>
            </p:spPr>
          </p:sp>
          <p:sp>
            <p:nvSpPr>
              <p:cNvPr id="28" name="TextBox 28"/>
              <p:cNvSpPr txBox="1"/>
              <p:nvPr/>
            </p:nvSpPr>
            <p:spPr>
              <a:xfrm>
                <a:off x="3728127" y="1526381"/>
                <a:ext cx="20184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FCA5A5"/>
                    </a:solidFill>
                    <a:latin typeface="Arial"/>
                    <a:ea typeface="Microsoft YaHei"/>
                    <a:cs typeface="Arial"/>
                  </a:rPr>
                  <a:t>02</a:t>
                </a:r>
              </a:p>
            </p:txBody>
          </p:sp>
          <p:sp>
            <p:nvSpPr>
              <p:cNvPr id="29" name="TextBox 29"/>
              <p:cNvSpPr txBox="1"/>
              <p:nvPr/>
            </p:nvSpPr>
            <p:spPr>
              <a:xfrm>
                <a:off x="4063841" y="1519476"/>
                <a:ext cx="1294539"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7171"/>
                    </a:solidFill>
                    <a:latin typeface="Segoe UI"/>
                    <a:ea typeface="Microsoft YaHei"/>
                    <a:cs typeface="Segoe UI"/>
                  </a:rPr>
                  <a:t>Gặp Lỗi Tại TK Đích</a:t>
                </a:r>
              </a:p>
            </p:txBody>
          </p:sp>
          <p:sp>
            <p:nvSpPr>
              <p:cNvPr id="30" name="Line 30"/>
              <p:cNvSpPr/>
              <p:nvPr/>
            </p:nvSpPr>
            <p:spPr>
              <a:xfrm>
                <a:off x="3657600" y="1838325"/>
                <a:ext cx="2247900" cy="9525"/>
              </a:xfrm>
              <a:custGeom>
                <a:avLst/>
                <a:gdLst/>
                <a:ahLst/>
                <a:cxnLst/>
                <a:rect l="l" t="t" r="r" b="b"/>
                <a:pathLst>
                  <a:path w="2247900" h="9525">
                    <a:moveTo>
                      <a:pt x="0" y="0"/>
                    </a:moveTo>
                    <a:lnTo>
                      <a:pt x="2247900" y="0"/>
                    </a:lnTo>
                  </a:path>
                </a:pathLst>
              </a:custGeom>
              <a:noFill/>
              <a:ln w="9525">
                <a:solidFill>
                  <a:srgbClr val="334155"/>
                </a:solidFill>
              </a:ln>
            </p:spPr>
          </p:sp>
          <p:sp>
            <p:nvSpPr>
              <p:cNvPr id="31" name="TextBox 31"/>
              <p:cNvSpPr txBox="1"/>
              <p:nvPr/>
            </p:nvSpPr>
            <p:spPr>
              <a:xfrm>
                <a:off x="3646170" y="1950720"/>
                <a:ext cx="146304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Account B </a:t>
                </a:r>
                <a:r>
                  <a:rPr lang="zh-CN" sz="900" b="1" dirty="0">
                    <a:solidFill>
                      <a:srgbClr val="EF4444"/>
                    </a:solidFill>
                    <a:latin typeface="Segoe UI"/>
                    <a:ea typeface="Microsoft YaHei"/>
                    <a:cs typeface="Segoe UI"/>
                  </a:rPr>
                  <a:t>bị KHÓA / LỖI</a:t>
                </a:r>
              </a:p>
            </p:txBody>
          </p:sp>
          <p:sp>
            <p:nvSpPr>
              <p:cNvPr id="32" name="TextBox 32"/>
              <p:cNvSpPr txBox="1"/>
              <p:nvPr/>
            </p:nvSpPr>
            <p:spPr>
              <a:xfrm>
                <a:off x="3646170" y="2141220"/>
                <a:ext cx="159505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Không thể Credit vào TK B</a:t>
                </a:r>
              </a:p>
            </p:txBody>
          </p:sp>
          <p:sp>
            <p:nvSpPr>
              <p:cNvPr id="33" name="TextBox 33"/>
              <p:cNvSpPr txBox="1"/>
              <p:nvPr/>
            </p:nvSpPr>
            <p:spPr>
              <a:xfrm>
                <a:off x="3646170" y="2331720"/>
                <a:ext cx="158305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Ném Exception nghiệp vụ:</a:t>
                </a:r>
              </a:p>
            </p:txBody>
          </p:sp>
          <p:sp>
            <p:nvSpPr>
              <p:cNvPr id="34" name="TextBox 34"/>
              <p:cNvSpPr txBox="1"/>
              <p:nvPr/>
            </p:nvSpPr>
            <p:spPr>
              <a:xfrm>
                <a:off x="3647122" y="2511266"/>
                <a:ext cx="1324618"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EF4444"/>
                    </a:solidFill>
                    <a:latin typeface="Consolas"/>
                    <a:ea typeface="Microsoft YaHei"/>
                    <a:cs typeface="Consolas"/>
                  </a:rPr>
                  <a:t>AccountLockedException</a:t>
                </a:r>
              </a:p>
            </p:txBody>
          </p:sp>
          <p:sp>
            <p:nvSpPr>
              <p:cNvPr id="35" name="TextBox 35"/>
              <p:cNvSpPr txBox="1"/>
              <p:nvPr/>
            </p:nvSpPr>
            <p:spPr>
              <a:xfrm>
                <a:off x="3646170" y="2693670"/>
                <a:ext cx="1763077"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Giao dịch không thể tiếp tục</a:t>
                </a:r>
              </a:p>
            </p:txBody>
          </p:sp>
          <p:sp>
            <p:nvSpPr>
              <p:cNvPr id="36" name="Rectangle 36"/>
              <p:cNvSpPr/>
              <p:nvPr/>
            </p:nvSpPr>
            <p:spPr>
              <a:xfrm>
                <a:off x="3657600" y="3048000"/>
                <a:ext cx="2238375" cy="247650"/>
              </a:xfrm>
              <a:prstGeom prst="roundRect">
                <a:avLst>
                  <a:gd name="adj" fmla="val 23077"/>
                </a:avLst>
              </a:prstGeom>
              <a:solidFill>
                <a:srgbClr val="7F1D1D"/>
              </a:solidFill>
              <a:ln w="9525">
                <a:solidFill>
                  <a:srgbClr val="EF4444"/>
                </a:solidFill>
              </a:ln>
              <a:effectLst>
                <a:outerShdw blurRad="95250" dist="28575" dir="5400000" algn="ctr" rotWithShape="0">
                  <a:srgbClr val="000000">
                    <a:alpha val="26250"/>
                  </a:srgbClr>
                </a:outerShdw>
              </a:effectLst>
            </p:spPr>
          </p:sp>
          <p:sp>
            <p:nvSpPr>
              <p:cNvPr id="37" name="TextBox 37"/>
              <p:cNvSpPr txBox="1"/>
              <p:nvPr/>
            </p:nvSpPr>
            <p:spPr>
              <a:xfrm>
                <a:off x="4293714" y="3120866"/>
                <a:ext cx="956622"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25" b="1" dirty="0">
                    <a:solidFill>
                      <a:srgbClr val="FCA5A5"/>
                    </a:solidFill>
                    <a:latin typeface="Segoe UI"/>
                    <a:ea typeface="Microsoft YaHei"/>
                    <a:cs typeface="Segoe UI"/>
                  </a:rPr>
                  <a:t>✗ BƯỚC 2 THẤT BẠI</a:t>
                </a:r>
              </a:p>
            </p:txBody>
          </p:sp>
        </p:grpSp>
        <p:sp>
          <p:nvSpPr>
            <p:cNvPr id="39" name="Line 39"/>
            <p:cNvSpPr/>
            <p:nvPr/>
          </p:nvSpPr>
          <p:spPr>
            <a:xfrm>
              <a:off x="6096000" y="2238375"/>
              <a:ext cx="333375" cy="1"/>
            </a:xfrm>
            <a:prstGeom prst="line">
              <a:avLst/>
            </a:prstGeom>
            <a:noFill/>
            <a:ln w="23812">
              <a:solidFill>
                <a:srgbClr val="EF4444"/>
              </a:solidFill>
              <a:tailEnd type="triangle" w="lg" len="lg"/>
            </a:ln>
          </p:spPr>
        </p:sp>
        <p:grpSp>
          <p:nvGrpSpPr>
            <p:cNvPr id="52" name="Group 52"/>
            <p:cNvGrpSpPr/>
            <p:nvPr/>
          </p:nvGrpSpPr>
          <p:grpSpPr>
            <a:xfrm>
              <a:off x="6477000" y="1285875"/>
              <a:ext cx="2524125" cy="2143125"/>
              <a:chOff x="6477000" y="1285875"/>
              <a:chExt cx="2524125" cy="2143125"/>
            </a:xfrm>
            <a:effectLst>
              <a:outerShdw blurRad="95250" dist="28575" dir="5400000" algn="ctr" rotWithShape="0">
                <a:srgbClr val="000000">
                  <a:alpha val="26250"/>
                </a:srgbClr>
              </a:outerShdw>
            </a:effectLst>
          </p:grpSpPr>
          <p:sp>
            <p:nvSpPr>
              <p:cNvPr id="40" name="Rectangle 40"/>
              <p:cNvSpPr/>
              <p:nvPr/>
            </p:nvSpPr>
            <p:spPr>
              <a:xfrm>
                <a:off x="6477000" y="1285875"/>
                <a:ext cx="2524125" cy="2143125"/>
              </a:xfrm>
              <a:prstGeom prst="roundRect">
                <a:avLst>
                  <a:gd name="adj" fmla="val 5333"/>
                </a:avLst>
              </a:prstGeom>
              <a:solidFill>
                <a:srgbClr val="1E293B"/>
              </a:solidFill>
              <a:ln w="14288">
                <a:solidFill>
                  <a:srgbClr val="F59E0B"/>
                </a:solidFill>
              </a:ln>
              <a:effectLst>
                <a:outerShdw blurRad="95250" dist="28575" dir="5400000" algn="ctr" rotWithShape="0">
                  <a:srgbClr val="000000">
                    <a:alpha val="26250"/>
                  </a:srgbClr>
                </a:outerShdw>
              </a:effectLst>
            </p:spPr>
          </p:sp>
          <p:sp>
            <p:nvSpPr>
              <p:cNvPr id="41" name="Rectangle 41"/>
              <p:cNvSpPr/>
              <p:nvPr/>
            </p:nvSpPr>
            <p:spPr>
              <a:xfrm>
                <a:off x="6610350" y="1419225"/>
                <a:ext cx="342900" cy="342900"/>
              </a:xfrm>
              <a:prstGeom prst="roundRect">
                <a:avLst>
                  <a:gd name="adj" fmla="val 22222"/>
                </a:avLst>
              </a:prstGeom>
              <a:solidFill>
                <a:srgbClr val="78350F"/>
              </a:solidFill>
              <a:ln>
                <a:noFill/>
              </a:ln>
              <a:effectLst>
                <a:outerShdw blurRad="95250" dist="28575" dir="5400000" algn="ctr" rotWithShape="0">
                  <a:srgbClr val="000000">
                    <a:alpha val="26250"/>
                  </a:srgbClr>
                </a:outerShdw>
              </a:effectLst>
            </p:spPr>
          </p:sp>
          <p:sp>
            <p:nvSpPr>
              <p:cNvPr id="42" name="TextBox 42"/>
              <p:cNvSpPr txBox="1"/>
              <p:nvPr/>
            </p:nvSpPr>
            <p:spPr>
              <a:xfrm>
                <a:off x="6680877" y="1526381"/>
                <a:ext cx="20184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FDE68A"/>
                    </a:solidFill>
                    <a:latin typeface="Arial"/>
                    <a:ea typeface="Microsoft YaHei"/>
                    <a:cs typeface="Arial"/>
                  </a:rPr>
                  <a:t>03</a:t>
                </a:r>
              </a:p>
            </p:txBody>
          </p:sp>
          <p:sp>
            <p:nvSpPr>
              <p:cNvPr id="43" name="TextBox 43"/>
              <p:cNvSpPr txBox="1"/>
              <p:nvPr/>
            </p:nvSpPr>
            <p:spPr>
              <a:xfrm>
                <a:off x="7016591" y="1519476"/>
                <a:ext cx="1244920"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BBF24"/>
                    </a:solidFill>
                    <a:latin typeface="Segoe UI"/>
                    <a:ea typeface="Microsoft YaHei"/>
                    <a:cs typeface="Segoe UI"/>
                  </a:rPr>
                  <a:t>Phát Event Bù Trừ</a:t>
                </a:r>
              </a:p>
            </p:txBody>
          </p:sp>
          <p:sp>
            <p:nvSpPr>
              <p:cNvPr id="44" name="Line 44"/>
              <p:cNvSpPr/>
              <p:nvPr/>
            </p:nvSpPr>
            <p:spPr>
              <a:xfrm>
                <a:off x="6610350" y="1838325"/>
                <a:ext cx="2247900" cy="9525"/>
              </a:xfrm>
              <a:custGeom>
                <a:avLst/>
                <a:gdLst/>
                <a:ahLst/>
                <a:cxnLst/>
                <a:rect l="l" t="t" r="r" b="b"/>
                <a:pathLst>
                  <a:path w="2247900" h="9525">
                    <a:moveTo>
                      <a:pt x="0" y="0"/>
                    </a:moveTo>
                    <a:lnTo>
                      <a:pt x="2247900" y="0"/>
                    </a:lnTo>
                  </a:path>
                </a:pathLst>
              </a:custGeom>
              <a:noFill/>
              <a:ln w="9525">
                <a:solidFill>
                  <a:srgbClr val="334155"/>
                </a:solidFill>
              </a:ln>
            </p:spPr>
          </p:sp>
          <p:sp>
            <p:nvSpPr>
              <p:cNvPr id="45" name="TextBox 45"/>
              <p:cNvSpPr txBox="1"/>
              <p:nvPr/>
            </p:nvSpPr>
            <p:spPr>
              <a:xfrm>
                <a:off x="6598920" y="1950720"/>
                <a:ext cx="164906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Saga Orchestrator bắt lỗi</a:t>
                </a:r>
              </a:p>
            </p:txBody>
          </p:sp>
          <p:sp>
            <p:nvSpPr>
              <p:cNvPr id="46" name="TextBox 46"/>
              <p:cNvSpPr txBox="1"/>
              <p:nvPr/>
            </p:nvSpPr>
            <p:spPr>
              <a:xfrm>
                <a:off x="6598920" y="2141220"/>
                <a:ext cx="156505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Phát sinh sự kiện bù trừ:</a:t>
                </a:r>
              </a:p>
            </p:txBody>
          </p:sp>
          <p:sp>
            <p:nvSpPr>
              <p:cNvPr id="47" name="TextBox 47"/>
              <p:cNvSpPr txBox="1"/>
              <p:nvPr/>
            </p:nvSpPr>
            <p:spPr>
              <a:xfrm>
                <a:off x="6599872" y="2320766"/>
                <a:ext cx="1115592"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25" dirty="0">
                    <a:solidFill>
                      <a:srgbClr val="FBBF24"/>
                    </a:solidFill>
                    <a:latin typeface="Consolas"/>
                    <a:ea typeface="Microsoft YaHei"/>
                    <a:cs typeface="Consolas"/>
                  </a:rPr>
                  <a:t>TransferFailedEvent</a:t>
                </a:r>
              </a:p>
            </p:txBody>
          </p:sp>
          <p:sp>
            <p:nvSpPr>
              <p:cNvPr id="48" name="TextBox 48"/>
              <p:cNvSpPr txBox="1"/>
              <p:nvPr/>
            </p:nvSpPr>
            <p:spPr>
              <a:xfrm>
                <a:off x="6598920" y="2503170"/>
                <a:ext cx="1859089"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Đẩy vào Topic </a:t>
                </a:r>
                <a:r>
                  <a:rPr lang="zh-CN" sz="900" dirty="0">
                    <a:solidFill>
                      <a:srgbClr val="F8FAFC"/>
                    </a:solidFill>
                    <a:latin typeface="Consolas"/>
                    <a:ea typeface="Microsoft YaHei"/>
                    <a:cs typeface="Consolas"/>
                  </a:rPr>
                  <a:t>rollback-events</a:t>
                </a:r>
              </a:p>
            </p:txBody>
          </p:sp>
          <p:sp>
            <p:nvSpPr>
              <p:cNvPr id="49" name="TextBox 49"/>
              <p:cNvSpPr txBox="1"/>
              <p:nvPr/>
            </p:nvSpPr>
            <p:spPr>
              <a:xfrm>
                <a:off x="6598920" y="2693670"/>
                <a:ext cx="1763077"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Kích hoạt cơ chế hoàn tiền A</a:t>
                </a:r>
              </a:p>
            </p:txBody>
          </p:sp>
          <p:sp>
            <p:nvSpPr>
              <p:cNvPr id="50" name="Rectangle 50"/>
              <p:cNvSpPr/>
              <p:nvPr/>
            </p:nvSpPr>
            <p:spPr>
              <a:xfrm>
                <a:off x="6610350" y="3048000"/>
                <a:ext cx="2238375" cy="247650"/>
              </a:xfrm>
              <a:prstGeom prst="roundRect">
                <a:avLst>
                  <a:gd name="adj" fmla="val 23077"/>
                </a:avLst>
              </a:prstGeom>
              <a:solidFill>
                <a:srgbClr val="0F172A"/>
              </a:solidFill>
              <a:ln w="9525">
                <a:solidFill>
                  <a:srgbClr val="F59E0B"/>
                </a:solidFill>
              </a:ln>
              <a:effectLst>
                <a:outerShdw blurRad="95250" dist="28575" dir="5400000" algn="ctr" rotWithShape="0">
                  <a:srgbClr val="000000">
                    <a:alpha val="26250"/>
                  </a:srgbClr>
                </a:outerShdw>
              </a:effectLst>
            </p:spPr>
          </p:sp>
          <p:sp>
            <p:nvSpPr>
              <p:cNvPr id="51" name="TextBox 51"/>
              <p:cNvSpPr txBox="1"/>
              <p:nvPr/>
            </p:nvSpPr>
            <p:spPr>
              <a:xfrm>
                <a:off x="7188707" y="3120866"/>
                <a:ext cx="1072136"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25" b="1" dirty="0">
                    <a:solidFill>
                      <a:srgbClr val="FBBF24"/>
                    </a:solidFill>
                    <a:latin typeface="Segoe UI"/>
                    <a:ea typeface="Microsoft YaHei"/>
                    <a:cs typeface="Segoe UI"/>
                  </a:rPr>
                  <a:t>⚡ KÍCH HOẠT BÙ TRỪ</a:t>
                </a:r>
              </a:p>
            </p:txBody>
          </p:sp>
        </p:grpSp>
        <p:sp>
          <p:nvSpPr>
            <p:cNvPr id="53" name="Line 53"/>
            <p:cNvSpPr/>
            <p:nvPr/>
          </p:nvSpPr>
          <p:spPr>
            <a:xfrm>
              <a:off x="9048750" y="2238375"/>
              <a:ext cx="333375" cy="1"/>
            </a:xfrm>
            <a:prstGeom prst="line">
              <a:avLst/>
            </a:prstGeom>
            <a:noFill/>
            <a:ln w="23812">
              <a:solidFill>
                <a:srgbClr val="F59E0B"/>
              </a:solidFill>
              <a:tailEnd type="triangle" w="lg" len="lg"/>
            </a:ln>
          </p:spPr>
        </p:sp>
        <p:grpSp>
          <p:nvGrpSpPr>
            <p:cNvPr id="66" name="Group 66"/>
            <p:cNvGrpSpPr/>
            <p:nvPr/>
          </p:nvGrpSpPr>
          <p:grpSpPr>
            <a:xfrm>
              <a:off x="9429750" y="1285875"/>
              <a:ext cx="2190750" cy="2143125"/>
              <a:chOff x="9429750" y="1285875"/>
              <a:chExt cx="2190750" cy="2143125"/>
            </a:xfrm>
            <a:effectLst>
              <a:outerShdw blurRad="95250" dist="28575" dir="5400000" algn="ctr" rotWithShape="0">
                <a:srgbClr val="000000">
                  <a:alpha val="26250"/>
                </a:srgbClr>
              </a:outerShdw>
            </a:effectLst>
          </p:grpSpPr>
          <p:sp>
            <p:nvSpPr>
              <p:cNvPr id="54" name="Rectangle 54"/>
              <p:cNvSpPr/>
              <p:nvPr/>
            </p:nvSpPr>
            <p:spPr>
              <a:xfrm>
                <a:off x="9429750" y="1285875"/>
                <a:ext cx="2190750" cy="2143125"/>
              </a:xfrm>
              <a:prstGeom prst="roundRect">
                <a:avLst>
                  <a:gd name="adj" fmla="val 5333"/>
                </a:avLst>
              </a:prstGeom>
              <a:solidFill>
                <a:srgbClr val="1E293B"/>
              </a:solidFill>
              <a:ln w="14288">
                <a:solidFill>
                  <a:srgbClr val="10B981"/>
                </a:solidFill>
              </a:ln>
              <a:effectLst>
                <a:outerShdw blurRad="95250" dist="28575" dir="5400000" algn="ctr" rotWithShape="0">
                  <a:srgbClr val="000000">
                    <a:alpha val="26250"/>
                  </a:srgbClr>
                </a:outerShdw>
              </a:effectLst>
            </p:spPr>
          </p:sp>
          <p:sp>
            <p:nvSpPr>
              <p:cNvPr id="55" name="Rectangle 55"/>
              <p:cNvSpPr/>
              <p:nvPr/>
            </p:nvSpPr>
            <p:spPr>
              <a:xfrm>
                <a:off x="9563100" y="1419225"/>
                <a:ext cx="342900" cy="342900"/>
              </a:xfrm>
              <a:prstGeom prst="roundRect">
                <a:avLst>
                  <a:gd name="adj" fmla="val 22222"/>
                </a:avLst>
              </a:prstGeom>
              <a:solidFill>
                <a:srgbClr val="064E3B"/>
              </a:solidFill>
              <a:ln>
                <a:noFill/>
              </a:ln>
              <a:effectLst>
                <a:outerShdw blurRad="95250" dist="28575" dir="5400000" algn="ctr" rotWithShape="0">
                  <a:srgbClr val="000000">
                    <a:alpha val="26250"/>
                  </a:srgbClr>
                </a:outerShdw>
              </a:effectLst>
            </p:spPr>
          </p:sp>
          <p:sp>
            <p:nvSpPr>
              <p:cNvPr id="56" name="TextBox 56"/>
              <p:cNvSpPr txBox="1"/>
              <p:nvPr/>
            </p:nvSpPr>
            <p:spPr>
              <a:xfrm>
                <a:off x="9633627" y="1526381"/>
                <a:ext cx="20184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1125" b="1" dirty="0">
                    <a:solidFill>
                      <a:srgbClr val="6EE7B7"/>
                    </a:solidFill>
                    <a:latin typeface="Arial"/>
                    <a:ea typeface="Microsoft YaHei"/>
                    <a:cs typeface="Arial"/>
                  </a:rPr>
                  <a:t>04</a:t>
                </a:r>
              </a:p>
            </p:txBody>
          </p:sp>
          <p:sp>
            <p:nvSpPr>
              <p:cNvPr id="57" name="TextBox 57"/>
              <p:cNvSpPr txBox="1"/>
              <p:nvPr/>
            </p:nvSpPr>
            <p:spPr>
              <a:xfrm>
                <a:off x="9969341" y="1519476"/>
                <a:ext cx="1252008"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34D399"/>
                    </a:solidFill>
                    <a:latin typeface="Segoe UI"/>
                    <a:ea typeface="Microsoft YaHei"/>
                    <a:cs typeface="Segoe UI"/>
                  </a:rPr>
                  <a:t>Hoàn Tiền Vào TK A</a:t>
                </a:r>
              </a:p>
            </p:txBody>
          </p:sp>
          <p:sp>
            <p:nvSpPr>
              <p:cNvPr id="58" name="Line 58"/>
              <p:cNvSpPr/>
              <p:nvPr/>
            </p:nvSpPr>
            <p:spPr>
              <a:xfrm>
                <a:off x="9563100" y="1838325"/>
                <a:ext cx="1914525" cy="9525"/>
              </a:xfrm>
              <a:custGeom>
                <a:avLst/>
                <a:gdLst/>
                <a:ahLst/>
                <a:cxnLst/>
                <a:rect l="l" t="t" r="r" b="b"/>
                <a:pathLst>
                  <a:path w="1914525" h="9525">
                    <a:moveTo>
                      <a:pt x="0" y="0"/>
                    </a:moveTo>
                    <a:lnTo>
                      <a:pt x="1914525" y="0"/>
                    </a:lnTo>
                  </a:path>
                </a:pathLst>
              </a:custGeom>
              <a:noFill/>
              <a:ln w="9525">
                <a:solidFill>
                  <a:srgbClr val="334155"/>
                </a:solidFill>
              </a:ln>
            </p:spPr>
          </p:sp>
          <p:sp>
            <p:nvSpPr>
              <p:cNvPr id="59" name="TextBox 59"/>
              <p:cNvSpPr txBox="1"/>
              <p:nvPr/>
            </p:nvSpPr>
            <p:spPr>
              <a:xfrm>
                <a:off x="9551670" y="1950720"/>
                <a:ext cx="172107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Account Service nhận event</a:t>
                </a:r>
              </a:p>
            </p:txBody>
          </p:sp>
          <p:sp>
            <p:nvSpPr>
              <p:cNvPr id="60" name="TextBox 60"/>
              <p:cNvSpPr txBox="1"/>
              <p:nvPr/>
            </p:nvSpPr>
            <p:spPr>
              <a:xfrm>
                <a:off x="9551670" y="2141220"/>
                <a:ext cx="144503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Gọi </a:t>
                </a:r>
                <a:r>
                  <a:rPr lang="zh-CN" sz="900" dirty="0">
                    <a:solidFill>
                      <a:srgbClr val="34D399"/>
                    </a:solidFill>
                    <a:latin typeface="Consolas"/>
                    <a:ea typeface="Microsoft YaHei"/>
                    <a:cs typeface="Consolas"/>
                  </a:rPr>
                  <a:t>compensateDebit()</a:t>
                </a:r>
              </a:p>
            </p:txBody>
          </p:sp>
          <p:sp>
            <p:nvSpPr>
              <p:cNvPr id="61" name="TextBox 61"/>
              <p:cNvSpPr txBox="1"/>
              <p:nvPr/>
            </p:nvSpPr>
            <p:spPr>
              <a:xfrm>
                <a:off x="9551670" y="2331720"/>
                <a:ext cx="165506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Hoàn </a:t>
                </a:r>
                <a:r>
                  <a:rPr lang="zh-CN" sz="900" b="1" dirty="0">
                    <a:solidFill>
                      <a:srgbClr val="34D399"/>
                    </a:solidFill>
                    <a:latin typeface="Segoe UI"/>
                    <a:ea typeface="Microsoft YaHei"/>
                    <a:cs typeface="Segoe UI"/>
                  </a:rPr>
                  <a:t>+5,000,000đ</a:t>
                </a:r>
                <a:r>
                  <a:rPr lang="zh-CN" sz="900" dirty="0">
                    <a:solidFill>
                      <a:srgbClr val="94A3B8"/>
                    </a:solidFill>
                    <a:latin typeface="Segoe UI"/>
                    <a:ea typeface="Microsoft YaHei"/>
                    <a:cs typeface="Segoe UI"/>
                  </a:rPr>
                  <a:t xml:space="preserve"> vào TK A</a:t>
                </a:r>
              </a:p>
            </p:txBody>
          </p:sp>
          <p:sp>
            <p:nvSpPr>
              <p:cNvPr id="62" name="TextBox 62"/>
              <p:cNvSpPr txBox="1"/>
              <p:nvPr/>
            </p:nvSpPr>
            <p:spPr>
              <a:xfrm>
                <a:off x="9551670" y="2522220"/>
                <a:ext cx="163106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ml:space="preserve">• Txn đổi trạng thái: </a:t>
                </a:r>
                <a:r>
                  <a:rPr lang="zh-CN" sz="900" b="1" dirty="0">
                    <a:solidFill>
                      <a:srgbClr val="EF4444"/>
                    </a:solidFill>
                    <a:latin typeface="Segoe UI"/>
                    <a:ea typeface="Microsoft YaHei"/>
                    <a:cs typeface="Segoe UI"/>
                  </a:rPr>
                  <a:t>FAILED</a:t>
                </a:r>
              </a:p>
            </p:txBody>
          </p:sp>
          <p:sp>
            <p:nvSpPr>
              <p:cNvPr id="63" name="TextBox 63"/>
              <p:cNvSpPr txBox="1"/>
              <p:nvPr/>
            </p:nvSpPr>
            <p:spPr>
              <a:xfrm>
                <a:off x="9551670" y="2712720"/>
                <a:ext cx="172707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Số dư A bảo toàn nguyên vẹn</a:t>
                </a:r>
              </a:p>
            </p:txBody>
          </p:sp>
          <p:sp>
            <p:nvSpPr>
              <p:cNvPr id="64" name="Rectangle 64"/>
              <p:cNvSpPr/>
              <p:nvPr/>
            </p:nvSpPr>
            <p:spPr>
              <a:xfrm>
                <a:off x="9563100" y="3048000"/>
                <a:ext cx="1905000" cy="247650"/>
              </a:xfrm>
              <a:prstGeom prst="roundRect">
                <a:avLst>
                  <a:gd name="adj" fmla="val 23077"/>
                </a:avLst>
              </a:prstGeom>
              <a:solidFill>
                <a:srgbClr val="064E3B"/>
              </a:solidFill>
              <a:ln w="9525">
                <a:solidFill>
                  <a:srgbClr val="10B981"/>
                </a:solidFill>
              </a:ln>
              <a:effectLst>
                <a:outerShdw blurRad="95250" dist="28575" dir="5400000" algn="ctr" rotWithShape="0">
                  <a:srgbClr val="000000">
                    <a:alpha val="26250"/>
                  </a:srgbClr>
                </a:outerShdw>
              </a:effectLst>
            </p:spPr>
          </p:sp>
          <p:sp>
            <p:nvSpPr>
              <p:cNvPr id="65" name="TextBox 65"/>
              <p:cNvSpPr txBox="1"/>
              <p:nvPr/>
            </p:nvSpPr>
            <p:spPr>
              <a:xfrm>
                <a:off x="10031513" y="3120866"/>
                <a:ext cx="968173" cy="1676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25" b="1" dirty="0">
                    <a:solidFill>
                      <a:srgbClr val="6EE7B7"/>
                    </a:solidFill>
                    <a:latin typeface="Segoe UI"/>
                    <a:ea typeface="Microsoft YaHei"/>
                    <a:cs typeface="Segoe UI"/>
                  </a:rPr>
                  <a:t>✓ BẢO TOÀN SỐ DƯ</a:t>
                </a:r>
              </a:p>
            </p:txBody>
          </p:sp>
        </p:grpSp>
      </p:grpSp>
      <p:grpSp>
        <p:nvGrpSpPr>
          <p:cNvPr id="71" name="Group 71"/>
          <p:cNvGrpSpPr/>
          <p:nvPr/>
        </p:nvGrpSpPr>
        <p:grpSpPr>
          <a:xfrm>
            <a:off x="1809750" y="3476625"/>
            <a:ext cx="8667750" cy="342900"/>
            <a:chOff x="1809750" y="3476625"/>
            <a:chExt cx="8667750" cy="342900"/>
          </a:xfrm>
        </p:grpSpPr>
        <p:sp>
          <p:nvSpPr>
            <p:cNvPr id="68" name="Freeform 68"/>
            <p:cNvSpPr/>
            <p:nvPr/>
          </p:nvSpPr>
          <p:spPr>
            <a:xfrm>
              <a:off x="1809750" y="3476625"/>
              <a:ext cx="8667750" cy="219075"/>
            </a:xfrm>
            <a:custGeom>
              <a:avLst/>
              <a:gdLst/>
              <a:ahLst/>
              <a:cxnLst/>
              <a:rect l="l" t="t" r="r" b="b"/>
              <a:pathLst>
                <a:path w="8667750" h="219075">
                  <a:moveTo>
                    <a:pt x="8667750" y="0"/>
                  </a:moveTo>
                  <a:lnTo>
                    <a:pt x="8667750" y="219075"/>
                  </a:lnTo>
                  <a:lnTo>
                    <a:pt x="0" y="219075"/>
                  </a:lnTo>
                  <a:lnTo>
                    <a:pt x="0" y="28575"/>
                  </a:lnTo>
                </a:path>
              </a:pathLst>
            </a:custGeom>
            <a:noFill/>
            <a:ln w="19050">
              <a:solidFill>
                <a:srgbClr val="F59E0B"/>
              </a:solidFill>
              <a:custDash>
                <a:ds d="300000" sp="200000"/>
              </a:custDash>
              <a:tailEnd type="triangle" w="lg" len="lg"/>
            </a:ln>
          </p:spPr>
        </p:sp>
        <p:sp>
          <p:nvSpPr>
            <p:cNvPr id="69" name="Rectangle 69"/>
            <p:cNvSpPr/>
            <p:nvPr/>
          </p:nvSpPr>
          <p:spPr>
            <a:xfrm>
              <a:off x="5000625" y="3571875"/>
              <a:ext cx="2190750" cy="247650"/>
            </a:xfrm>
            <a:prstGeom prst="roundRect">
              <a:avLst>
                <a:gd name="adj" fmla="val 23077"/>
              </a:avLst>
            </a:prstGeom>
            <a:solidFill>
              <a:srgbClr val="0F172A"/>
            </a:solidFill>
            <a:ln w="9525">
              <a:solidFill>
                <a:srgbClr val="F59E0B"/>
              </a:solidFill>
            </a:ln>
          </p:spPr>
        </p:sp>
        <p:sp>
          <p:nvSpPr>
            <p:cNvPr id="70" name="TextBox 70"/>
            <p:cNvSpPr txBox="1"/>
            <p:nvPr/>
          </p:nvSpPr>
          <p:spPr>
            <a:xfrm>
              <a:off x="5155155" y="3640693"/>
              <a:ext cx="1881690" cy="175260"/>
            </a:xfrm>
            <a:prstGeom prst="rect">
              <a:avLst/>
            </a:prstGeom>
            <a:noFill/>
            <a:ln>
              <a:noFill/>
            </a:ln>
          </p:spPr>
          <p:txBody>
            <a:bodyPr wrap="none" lIns="0" tIns="0" rIns="0" bIns="0" anchor="t" anchorCtr="0">
              <a:spAutoFit/>
            </a:bodyPr>
            <a:lstStyle/>
            <a:p>
              <a:pPr algn="ctr"/>
              <a:r>
                <a:rPr lang="zh-CN" sz="862" b="1" dirty="0">
                  <a:solidFill>
                    <a:srgbClr val="FBBF24"/>
                  </a:solidFill>
                  <a:latin typeface="Segoe UI"/>
                  <a:ea typeface="Microsoft YaHei"/>
                  <a:cs typeface="Segoe UI"/>
                </a:rPr>
                <a:t>↺ COMPENSATING ROLLBACK LOOP</a:t>
              </a:r>
            </a:p>
          </p:txBody>
        </p:sp>
      </p:grpSp>
      <p:grpSp>
        <p:nvGrpSpPr>
          <p:cNvPr id="96" name="Group 96"/>
          <p:cNvGrpSpPr/>
          <p:nvPr/>
        </p:nvGrpSpPr>
        <p:grpSpPr>
          <a:xfrm>
            <a:off x="571500" y="3981450"/>
            <a:ext cx="11049000" cy="2333625"/>
            <a:chOff x="571500" y="3981450"/>
            <a:chExt cx="11049000" cy="2333625"/>
          </a:xfrm>
          <a:effectLst>
            <a:outerShdw blurRad="95250" dist="28575" dir="5400000" algn="ctr" rotWithShape="0">
              <a:srgbClr val="000000">
                <a:alpha val="26250"/>
              </a:srgbClr>
            </a:outerShdw>
          </a:effectLst>
        </p:grpSpPr>
        <p:sp>
          <p:nvSpPr>
            <p:cNvPr id="72" name="Rectangle 72"/>
            <p:cNvSpPr/>
            <p:nvPr/>
          </p:nvSpPr>
          <p:spPr>
            <a:xfrm>
              <a:off x="571500" y="3981450"/>
              <a:ext cx="11049000" cy="2333625"/>
            </a:xfrm>
            <a:prstGeom prst="roundRect">
              <a:avLst>
                <a:gd name="adj" fmla="val 4898"/>
              </a:avLst>
            </a:prstGeom>
            <a:solidFill>
              <a:srgbClr val="0F172A"/>
            </a:solidFill>
            <a:ln w="14288">
              <a:solidFill>
                <a:srgbClr val="334155"/>
              </a:solidFill>
            </a:ln>
            <a:effectLst>
              <a:outerShdw blurRad="95250" dist="28575" dir="5400000" algn="ctr" rotWithShape="0">
                <a:srgbClr val="000000">
                  <a:alpha val="26250"/>
                </a:srgbClr>
              </a:outerShdw>
            </a:effectLst>
          </p:spPr>
        </p:sp>
        <p:sp>
          <p:nvSpPr>
            <p:cNvPr id="73" name="Rectangle 73"/>
            <p:cNvSpPr/>
            <p:nvPr/>
          </p:nvSpPr>
          <p:spPr>
            <a:xfrm>
              <a:off x="762000" y="4143375"/>
              <a:ext cx="10668000" cy="304800"/>
            </a:xfrm>
            <a:prstGeom prst="roundRect">
              <a:avLst>
                <a:gd name="adj" fmla="val 18750"/>
              </a:avLst>
            </a:prstGeom>
            <a:solidFill>
              <a:srgbClr val="1E293B"/>
            </a:solidFill>
            <a:ln>
              <a:noFill/>
            </a:ln>
            <a:effectLst>
              <a:outerShdw blurRad="95250" dist="28575" dir="5400000" algn="ctr" rotWithShape="0">
                <a:srgbClr val="000000">
                  <a:alpha val="26250"/>
                </a:srgbClr>
              </a:outerShdw>
            </a:effectLst>
          </p:spPr>
        </p:sp>
        <p:sp>
          <p:nvSpPr>
            <p:cNvPr id="74" name="TextBox 74"/>
            <p:cNvSpPr txBox="1"/>
            <p:nvPr/>
          </p:nvSpPr>
          <p:spPr>
            <a:xfrm>
              <a:off x="941546" y="4240768"/>
              <a:ext cx="72234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GIAO DỊCH ID</a:t>
              </a:r>
            </a:p>
          </p:txBody>
        </p:sp>
        <p:sp>
          <p:nvSpPr>
            <p:cNvPr id="75" name="TextBox 75"/>
            <p:cNvSpPr txBox="1"/>
            <p:nvPr/>
          </p:nvSpPr>
          <p:spPr>
            <a:xfrm>
              <a:off x="2275046" y="4240768"/>
              <a:ext cx="95179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TÀI KHOẢN NGUỒN</a:t>
              </a:r>
            </a:p>
          </p:txBody>
        </p:sp>
        <p:sp>
          <p:nvSpPr>
            <p:cNvPr id="76" name="TextBox 76"/>
            <p:cNvSpPr txBox="1"/>
            <p:nvPr/>
          </p:nvSpPr>
          <p:spPr>
            <a:xfrm>
              <a:off x="3989546" y="4240768"/>
              <a:ext cx="88537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TÀI KHOẢN ĐÍCH</a:t>
              </a:r>
            </a:p>
          </p:txBody>
        </p:sp>
        <p:sp>
          <p:nvSpPr>
            <p:cNvPr id="77" name="TextBox 77"/>
            <p:cNvSpPr txBox="1"/>
            <p:nvPr/>
          </p:nvSpPr>
          <p:spPr>
            <a:xfrm>
              <a:off x="5704046" y="4240768"/>
              <a:ext cx="426471"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SỐ TIỀN</a:t>
              </a:r>
            </a:p>
          </p:txBody>
        </p:sp>
        <p:sp>
          <p:nvSpPr>
            <p:cNvPr id="78" name="TextBox 78"/>
            <p:cNvSpPr txBox="1"/>
            <p:nvPr/>
          </p:nvSpPr>
          <p:spPr>
            <a:xfrm>
              <a:off x="6942296" y="4240768"/>
              <a:ext cx="927646"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TRẠNG THÁI SAGA</a:t>
              </a:r>
            </a:p>
          </p:txBody>
        </p:sp>
        <p:sp>
          <p:nvSpPr>
            <p:cNvPr id="79" name="TextBox 79"/>
            <p:cNvSpPr txBox="1"/>
            <p:nvPr/>
          </p:nvSpPr>
          <p:spPr>
            <a:xfrm>
              <a:off x="8752046" y="4240768"/>
              <a:ext cx="1440897"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8BDF8"/>
                  </a:solidFill>
                  <a:latin typeface="Segoe UI"/>
                  <a:ea typeface="Microsoft YaHei"/>
                  <a:cs typeface="Segoe UI"/>
                </a:rPr>
                <a:t>KẾT QUẢ KIỂM TOÁN SỐ DƯ</a:t>
              </a:r>
            </a:p>
          </p:txBody>
        </p:sp>
        <p:sp>
          <p:nvSpPr>
            <p:cNvPr id="80" name="Line 80"/>
            <p:cNvSpPr/>
            <p:nvPr/>
          </p:nvSpPr>
          <p:spPr>
            <a:xfrm>
              <a:off x="762000" y="4495800"/>
              <a:ext cx="10668000" cy="9525"/>
            </a:xfrm>
            <a:custGeom>
              <a:avLst/>
              <a:gdLst/>
              <a:ahLst/>
              <a:cxnLst/>
              <a:rect l="l" t="t" r="r" b="b"/>
              <a:pathLst>
                <a:path w="10668000" h="9525">
                  <a:moveTo>
                    <a:pt x="0" y="0"/>
                  </a:moveTo>
                  <a:lnTo>
                    <a:pt x="10668000" y="0"/>
                  </a:lnTo>
                </a:path>
              </a:pathLst>
            </a:custGeom>
            <a:noFill/>
            <a:ln w="9525">
              <a:solidFill>
                <a:srgbClr val="334155"/>
              </a:solidFill>
            </a:ln>
          </p:spPr>
        </p:sp>
        <p:sp>
          <p:nvSpPr>
            <p:cNvPr id="81" name="TextBox 81"/>
            <p:cNvSpPr txBox="1"/>
            <p:nvPr/>
          </p:nvSpPr>
          <p:spPr>
            <a:xfrm>
              <a:off x="941546" y="4621768"/>
              <a:ext cx="660237"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F8FAFC"/>
                  </a:solidFill>
                  <a:latin typeface="Consolas"/>
                  <a:ea typeface="Microsoft YaHei"/>
                  <a:cs typeface="Consolas"/>
                </a:rPr>
                <a:t>TXN_9821_01</a:t>
              </a:r>
            </a:p>
          </p:txBody>
        </p:sp>
        <p:sp>
          <p:nvSpPr>
            <p:cNvPr id="82" name="TextBox 82"/>
            <p:cNvSpPr txBox="1"/>
            <p:nvPr/>
          </p:nvSpPr>
          <p:spPr>
            <a:xfrm>
              <a:off x="2275046" y="4621768"/>
              <a:ext cx="850011"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Consolas"/>
                  <a:ea typeface="Microsoft YaHei"/>
                  <a:cs typeface="Consolas"/>
                </a:rPr>
                <a:t>1029384756 (A)</a:t>
              </a:r>
            </a:p>
          </p:txBody>
        </p:sp>
        <p:sp>
          <p:nvSpPr>
            <p:cNvPr id="83" name="TextBox 83"/>
            <p:cNvSpPr txBox="1"/>
            <p:nvPr/>
          </p:nvSpPr>
          <p:spPr>
            <a:xfrm>
              <a:off x="3989546" y="4621768"/>
              <a:ext cx="139057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Consolas"/>
                  <a:ea typeface="Microsoft YaHei"/>
                  <a:cs typeface="Consolas"/>
                </a:rPr>
                <a:t>9988776655 (B - Locked)</a:t>
              </a:r>
            </a:p>
          </p:txBody>
        </p:sp>
        <p:sp>
          <p:nvSpPr>
            <p:cNvPr id="84" name="TextBox 84"/>
            <p:cNvSpPr txBox="1"/>
            <p:nvPr/>
          </p:nvSpPr>
          <p:spPr>
            <a:xfrm>
              <a:off x="5704046" y="4621768"/>
              <a:ext cx="815507"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F8FAFC"/>
                  </a:solidFill>
                  <a:latin typeface="Consolas"/>
                  <a:ea typeface="Microsoft YaHei"/>
                  <a:cs typeface="Consolas"/>
                </a:rPr>
                <a:t>5,000,000 VND</a:t>
              </a:r>
            </a:p>
          </p:txBody>
        </p:sp>
        <p:sp>
          <p:nvSpPr>
            <p:cNvPr id="85" name="Rectangle 85"/>
            <p:cNvSpPr/>
            <p:nvPr/>
          </p:nvSpPr>
          <p:spPr>
            <a:xfrm>
              <a:off x="6953250" y="4591050"/>
              <a:ext cx="1285875" cy="190500"/>
            </a:xfrm>
            <a:prstGeom prst="roundRect">
              <a:avLst>
                <a:gd name="adj" fmla="val 20000"/>
              </a:avLst>
            </a:prstGeom>
            <a:solidFill>
              <a:srgbClr val="7F1D1D"/>
            </a:solidFill>
            <a:ln>
              <a:noFill/>
            </a:ln>
            <a:effectLst>
              <a:outerShdw blurRad="95250" dist="28575" dir="5400000" algn="ctr" rotWithShape="0">
                <a:srgbClr val="000000">
                  <a:alpha val="26250"/>
                </a:srgbClr>
              </a:outerShdw>
            </a:effectLst>
          </p:spPr>
        </p:sp>
        <p:sp>
          <p:nvSpPr>
            <p:cNvPr id="86" name="TextBox 86"/>
            <p:cNvSpPr txBox="1"/>
            <p:nvPr/>
          </p:nvSpPr>
          <p:spPr>
            <a:xfrm>
              <a:off x="7064710" y="4643438"/>
              <a:ext cx="1053429" cy="1524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750" b="1" dirty="0">
                  <a:solidFill>
                    <a:srgbClr val="FCA5A5"/>
                  </a:solidFill>
                  <a:latin typeface="Arial"/>
                  <a:ea typeface="Microsoft YaHei"/>
                  <a:cs typeface="Arial"/>
                </a:rPr>
                <a:t>FAILED_ROLLED_BACK</a:t>
              </a:r>
            </a:p>
          </p:txBody>
        </p:sp>
        <p:sp>
          <p:nvSpPr>
            <p:cNvPr id="87" name="TextBox 87"/>
            <p:cNvSpPr txBox="1"/>
            <p:nvPr/>
          </p:nvSpPr>
          <p:spPr>
            <a:xfrm>
              <a:off x="8752046" y="4621768"/>
              <a:ext cx="2437209"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b="1" dirty="0">
                  <a:solidFill>
                    <a:srgbClr val="34D399"/>
                  </a:solidFill>
                  <a:latin typeface="Segoe UI"/>
                  <a:ea typeface="Microsoft YaHei"/>
                  <a:cs typeface="Segoe UI"/>
                </a:rPr>
                <a:t>Đã hoàn 5,000,000 VND (Số dư chuẩn 100%)</a:t>
              </a:r>
            </a:p>
          </p:txBody>
        </p:sp>
        <p:sp>
          <p:nvSpPr>
            <p:cNvPr id="88" name="Rectangle 88"/>
            <p:cNvSpPr/>
            <p:nvPr/>
          </p:nvSpPr>
          <p:spPr>
            <a:xfrm>
              <a:off x="762000" y="4953000"/>
              <a:ext cx="10668000" cy="1190625"/>
            </a:xfrm>
            <a:prstGeom prst="roundRect">
              <a:avLst>
                <a:gd name="adj" fmla="val 6400"/>
              </a:avLst>
            </a:prstGeom>
            <a:solidFill>
              <a:srgbClr val="1E293B"/>
            </a:solidFill>
            <a:ln w="9525">
              <a:solidFill>
                <a:srgbClr val="334155"/>
              </a:solidFill>
            </a:ln>
            <a:effectLst>
              <a:outerShdw blurRad="95250" dist="28575" dir="5400000" algn="ctr" rotWithShape="0">
                <a:srgbClr val="000000">
                  <a:alpha val="26250"/>
                </a:srgbClr>
              </a:outerShdw>
            </a:effectLst>
          </p:spPr>
        </p:sp>
        <p:grpSp>
          <p:nvGrpSpPr>
            <p:cNvPr id="91" name="Group 91"/>
            <p:cNvGrpSpPr/>
            <p:nvPr/>
          </p:nvGrpSpPr>
          <p:grpSpPr>
            <a:xfrm>
              <a:off x="946550" y="5110162"/>
              <a:ext cx="155005" cy="142876"/>
              <a:chOff x="946550" y="5110162"/>
              <a:chExt cx="155005" cy="142876"/>
            </a:xfrm>
          </p:grpSpPr>
          <p:sp>
            <p:nvSpPr>
              <p:cNvPr id="89" name="Freeform 89"/>
              <p:cNvSpPr/>
              <p:nvPr/>
            </p:nvSpPr>
            <p:spPr>
              <a:xfrm>
                <a:off x="946550" y="511016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9050">
                <a:solidFill>
                  <a:srgbClr val="22D3EE"/>
                </a:solidFill>
              </a:ln>
              <a:effectLst>
                <a:outerShdw blurRad="95250" dist="28575" dir="5400000" algn="ctr" rotWithShape="0">
                  <a:srgbClr val="000000">
                    <a:alpha val="26250"/>
                  </a:srgbClr>
                </a:outerShdw>
              </a:effectLst>
            </p:spPr>
          </p:sp>
          <p:sp>
            <p:nvSpPr>
              <p:cNvPr id="90" name="Freeform 90"/>
              <p:cNvSpPr/>
              <p:nvPr/>
            </p:nvSpPr>
            <p:spPr>
              <a:xfrm>
                <a:off x="1052512" y="5221288"/>
                <a:ext cx="47625" cy="31750"/>
              </a:xfrm>
              <a:custGeom>
                <a:avLst/>
                <a:gdLst/>
                <a:ahLst/>
                <a:cxnLst/>
                <a:rect l="l" t="t" r="r" b="b"/>
                <a:pathLst>
                  <a:path w="47625" h="31750">
                    <a:moveTo>
                      <a:pt x="0" y="15875"/>
                    </a:moveTo>
                    <a:lnTo>
                      <a:pt x="15875" y="31750"/>
                    </a:lnTo>
                    <a:lnTo>
                      <a:pt x="47625" y="0"/>
                    </a:lnTo>
                  </a:path>
                </a:pathLst>
              </a:custGeom>
              <a:noFill/>
              <a:ln w="19050">
                <a:solidFill>
                  <a:srgbClr val="22D3EE"/>
                </a:solidFill>
              </a:ln>
              <a:effectLst>
                <a:outerShdw blurRad="95250" dist="28575" dir="5400000" algn="ctr" rotWithShape="0">
                  <a:srgbClr val="000000">
                    <a:alpha val="26250"/>
                  </a:srgbClr>
                </a:outerShdw>
              </a:effectLst>
            </p:spPr>
          </p:sp>
        </p:grpSp>
        <p:sp>
          <p:nvSpPr>
            <p:cNvPr id="92" name="TextBox 92"/>
            <p:cNvSpPr txBox="1"/>
            <p:nvPr/>
          </p:nvSpPr>
          <p:spPr>
            <a:xfrm>
              <a:off x="1187768" y="5123974"/>
              <a:ext cx="3369433"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22D3EE"/>
                  </a:solidFill>
                  <a:latin typeface="Segoe UI"/>
                  <a:ea typeface="Microsoft YaHei"/>
                  <a:cs typeface="Segoe UI"/>
                </a:rPr>
                <a:t>Giá Trị Kỹ Thuật Đạt Được Cho Ngân Hàng RikkeiBank</a:t>
              </a:r>
            </a:p>
          </p:txBody>
        </p:sp>
        <p:sp>
          <p:nvSpPr>
            <p:cNvPr id="93" name="TextBox 93"/>
            <p:cNvSpPr txBox="1"/>
            <p:nvPr/>
          </p:nvSpPr>
          <p:spPr>
            <a:xfrm>
              <a:off x="1188720" y="5370195"/>
              <a:ext cx="6413659"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1. Không dùng Distributed Locking gây nghẽn; sử dụng mô hình Event-Driven Orchestration tối ưu thông lượng.</a:t>
              </a:r>
            </a:p>
          </p:txBody>
        </p:sp>
        <p:sp>
          <p:nvSpPr>
            <p:cNvPr id="94" name="TextBox 94"/>
            <p:cNvSpPr txBox="1"/>
            <p:nvPr/>
          </p:nvSpPr>
          <p:spPr>
            <a:xfrm>
              <a:off x="1188720" y="5560695"/>
              <a:ext cx="501548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2. Mọi sự kiện lỗi và sự kiện hoàn tiền đều được ghi nhận vĩnh viễn trên Kafka Log Topic</a:t>
              </a:r>
            </a:p>
          </p:txBody>
        </p:sp>
        <p:sp>
          <p:nvSpPr>
            <p:cNvPr id="95" name="TextBox 95"/>
            <p:cNvSpPr txBox="1"/>
            <p:nvPr/>
          </p:nvSpPr>
          <p:spPr>
            <a:xfrm>
              <a:off x="1188720" y="5732145"/>
              <a:ext cx="5033486"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phục vụ kiểm toán tự động (Audit Trail) và đối soát tài chính theo quy định ngân hàng.</a:t>
              </a:r>
            </a:p>
          </p:txBody>
        </p:sp>
      </p:grpSp>
      <p:grpSp>
        <p:nvGrpSpPr>
          <p:cNvPr id="99" name="Group 99"/>
          <p:cNvGrpSpPr/>
          <p:nvPr/>
        </p:nvGrpSpPr>
        <p:grpSpPr>
          <a:xfrm>
            <a:off x="560070" y="6522720"/>
            <a:ext cx="11071860" cy="182880"/>
            <a:chOff x="560070" y="6522720"/>
            <a:chExt cx="11071860" cy="182880"/>
          </a:xfrm>
        </p:grpSpPr>
        <p:sp>
          <p:nvSpPr>
            <p:cNvPr id="97" name="TextBox 97"/>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98" name="TextBox 98"/>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slide(fromBottom)">
                                      <p:cBhvr>
                                        <p:cTn id="7" dur="400"/>
                                        <p:tgtEl>
                                          <p:spTgt spid="6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image">
                                      <p:cBhvr>
                                        <p:cTn id="11" dur="400"/>
                                        <p:tgtEl>
                                          <p:spTgt spid="7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wipe(left)">
                                      <p:cBhvr>
                                        <p:cTn id="15" dur="4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1" grpId="0"/>
      <p:bldP spid="9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F59E0B">
                    <a:alpha val="12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233093" cy="797719"/>
            <a:chOff x="548640" y="342900"/>
            <a:chExt cx="6233093" cy="797719"/>
          </a:xfrm>
        </p:grpSpPr>
        <p:sp>
          <p:nvSpPr>
            <p:cNvPr id="7" name="Rectangle 7"/>
            <p:cNvSpPr/>
            <p:nvPr/>
          </p:nvSpPr>
          <p:spPr>
            <a:xfrm>
              <a:off x="571500" y="342900"/>
              <a:ext cx="1571625" cy="247650"/>
            </a:xfrm>
            <a:prstGeom prst="roundRect">
              <a:avLst>
                <a:gd name="adj" fmla="val 50000"/>
              </a:avLst>
            </a:prstGeom>
            <a:solidFill>
              <a:srgbClr val="1E293B"/>
            </a:solidFill>
            <a:ln w="9525">
              <a:solidFill>
                <a:srgbClr val="F59E0B"/>
              </a:solidFill>
            </a:ln>
          </p:spPr>
        </p:sp>
        <p:sp>
          <p:nvSpPr>
            <p:cNvPr id="8" name="TextBox 8"/>
            <p:cNvSpPr txBox="1"/>
            <p:nvPr/>
          </p:nvSpPr>
          <p:spPr>
            <a:xfrm>
              <a:off x="793379" y="415766"/>
              <a:ext cx="1118342" cy="167640"/>
            </a:xfrm>
            <a:prstGeom prst="rect">
              <a:avLst/>
            </a:prstGeom>
            <a:noFill/>
            <a:ln>
              <a:noFill/>
            </a:ln>
          </p:spPr>
          <p:txBody>
            <a:bodyPr wrap="none" lIns="0" tIns="0" rIns="0" bIns="0" anchor="t" anchorCtr="0">
              <a:spAutoFit/>
            </a:bodyPr>
            <a:lstStyle/>
            <a:p>
              <a:pPr algn="ctr"/>
              <a:r>
                <a:rPr lang="zh-CN" sz="825" b="1" dirty="0">
                  <a:solidFill>
                    <a:srgbClr val="FBBF24"/>
                  </a:solidFill>
                  <a:latin typeface="Segoe UI"/>
                  <a:ea typeface="Microsoft YaHei"/>
                  <a:cs typeface="Segoe UI"/>
                </a:rPr>
                <a:t>HIỆU NĂNG &amp; CHỊU LỖI</a:t>
              </a:r>
            </a:p>
          </p:txBody>
        </p:sp>
        <p:sp>
          <p:nvSpPr>
            <p:cNvPr id="9" name="TextBox 9"/>
            <p:cNvSpPr txBox="1"/>
            <p:nvPr/>
          </p:nvSpPr>
          <p:spPr>
            <a:xfrm>
              <a:off x="548640" y="624840"/>
              <a:ext cx="6233093"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Kháng Lỗi Hệ Thống (Resilience4j) &amp; Caching (Redis)</a:t>
              </a:r>
            </a:p>
          </p:txBody>
        </p:sp>
        <p:sp>
          <p:nvSpPr>
            <p:cNvPr id="10" name="TextBox 10"/>
            <p:cNvSpPr txBox="1"/>
            <p:nvPr/>
          </p:nvSpPr>
          <p:spPr>
            <a:xfrm>
              <a:off x="559118" y="942499"/>
              <a:ext cx="5731178"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Chống lỗi dây chuyền (Cascading Failure) và tăng tốc độ phản hồi API tài chính dưới 5ms</a:t>
              </a:r>
            </a:p>
          </p:txBody>
        </p:sp>
      </p:grpSp>
      <p:grpSp>
        <p:nvGrpSpPr>
          <p:cNvPr id="47" name="Group 47"/>
          <p:cNvGrpSpPr/>
          <p:nvPr/>
        </p:nvGrpSpPr>
        <p:grpSpPr>
          <a:xfrm>
            <a:off x="571500" y="1285875"/>
            <a:ext cx="5524500" cy="5000625"/>
            <a:chOff x="571500" y="1285875"/>
            <a:chExt cx="5524500" cy="5000625"/>
          </a:xfrm>
          <a:effectLst>
            <a:outerShdw blurRad="95250" dist="28575" dir="5400000" algn="ctr" rotWithShape="0">
              <a:srgbClr val="000000">
                <a:alpha val="26250"/>
              </a:srgbClr>
            </a:outerShdw>
          </a:effectLst>
        </p:grpSpPr>
        <p:sp>
          <p:nvSpPr>
            <p:cNvPr id="12" name="Rectangle 12"/>
            <p:cNvSpPr/>
            <p:nvPr/>
          </p:nvSpPr>
          <p:spPr>
            <a:xfrm>
              <a:off x="571500" y="1285875"/>
              <a:ext cx="5524500" cy="5000625"/>
            </a:xfrm>
            <a:prstGeom prst="roundRect">
              <a:avLst>
                <a:gd name="adj" fmla="val 2667"/>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Rectangle 13"/>
            <p:cNvSpPr/>
            <p:nvPr/>
          </p:nvSpPr>
          <p:spPr>
            <a:xfrm>
              <a:off x="762000" y="1447800"/>
              <a:ext cx="2952750" cy="266700"/>
            </a:xfrm>
            <a:prstGeom prst="roundRect">
              <a:avLst>
                <a:gd name="adj" fmla="val 21429"/>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17" name="Group 17"/>
            <p:cNvGrpSpPr/>
            <p:nvPr/>
          </p:nvGrpSpPr>
          <p:grpSpPr>
            <a:xfrm>
              <a:off x="851879" y="1514483"/>
              <a:ext cx="144086" cy="123788"/>
              <a:chOff x="851879" y="1514483"/>
              <a:chExt cx="144086" cy="123788"/>
            </a:xfrm>
          </p:grpSpPr>
          <p:sp>
            <p:nvSpPr>
              <p:cNvPr id="14" name="Freeform 14"/>
              <p:cNvSpPr/>
              <p:nvPr/>
            </p:nvSpPr>
            <p:spPr>
              <a:xfrm>
                <a:off x="923925" y="1559719"/>
                <a:ext cx="9525" cy="28575"/>
              </a:xfrm>
              <a:custGeom>
                <a:avLst/>
                <a:gdLst/>
                <a:ahLst/>
                <a:cxnLst/>
                <a:rect l="l" t="t" r="r" b="b"/>
                <a:pathLst>
                  <a:path w="9525" h="28575">
                    <a:moveTo>
                      <a:pt x="0" y="0"/>
                    </a:moveTo>
                    <a:lnTo>
                      <a:pt x="0" y="28575"/>
                    </a:lnTo>
                  </a:path>
                </a:pathLst>
              </a:custGeom>
              <a:noFill/>
              <a:ln w="19050">
                <a:solidFill>
                  <a:srgbClr val="FBBF24"/>
                </a:solidFill>
              </a:ln>
              <a:effectLst>
                <a:outerShdw blurRad="95250" dist="28575" dir="5400000" algn="ctr" rotWithShape="0">
                  <a:srgbClr val="000000">
                    <a:alpha val="26250"/>
                  </a:srgbClr>
                </a:outerShdw>
              </a:effectLst>
            </p:spPr>
          </p:sp>
          <p:sp>
            <p:nvSpPr>
              <p:cNvPr id="15" name="Freeform 15"/>
              <p:cNvSpPr/>
              <p:nvPr/>
            </p:nvSpPr>
            <p:spPr>
              <a:xfrm>
                <a:off x="851879" y="1514483"/>
                <a:ext cx="144086" cy="123788"/>
              </a:xfrm>
              <a:custGeom>
                <a:avLst/>
                <a:gdLst/>
                <a:ahLst/>
                <a:cxnLst/>
                <a:rect l="l" t="t" r="r" b="b"/>
                <a:pathLst>
                  <a:path w="144086" h="123788">
                    <a:moveTo>
                      <a:pt x="60351" y="6595"/>
                    </a:moveTo>
                    <a:lnTo>
                      <a:pt x="2444" y="103279"/>
                    </a:lnTo>
                    <a:cubicBezTo>
                      <a:pt x="15" y="107485"/>
                      <a:pt x="0" y="112665"/>
                      <a:pt x="2405" y="116886"/>
                    </a:cubicBezTo>
                    <a:cubicBezTo>
                      <a:pt x="4810" y="121106"/>
                      <a:pt x="9274" y="123734"/>
                      <a:pt x="14131" y="123788"/>
                    </a:cubicBezTo>
                    <a:lnTo>
                      <a:pt x="129960" y="123788"/>
                    </a:lnTo>
                    <a:cubicBezTo>
                      <a:pt x="134815" y="123732"/>
                      <a:pt x="139276" y="121106"/>
                      <a:pt x="141681" y="116888"/>
                    </a:cubicBezTo>
                    <a:cubicBezTo>
                      <a:pt x="144086" y="112669"/>
                      <a:pt x="144073" y="107492"/>
                      <a:pt x="141647" y="103286"/>
                    </a:cubicBezTo>
                    <a:lnTo>
                      <a:pt x="83740" y="6588"/>
                    </a:lnTo>
                    <a:cubicBezTo>
                      <a:pt x="81262" y="2498"/>
                      <a:pt x="76827" y="0"/>
                      <a:pt x="72046" y="0"/>
                    </a:cubicBezTo>
                    <a:cubicBezTo>
                      <a:pt x="67264" y="0"/>
                      <a:pt x="62829" y="2498"/>
                      <a:pt x="60351" y="6588"/>
                    </a:cubicBezTo>
                  </a:path>
                </a:pathLst>
              </a:custGeom>
              <a:noFill/>
              <a:ln w="19050">
                <a:solidFill>
                  <a:srgbClr val="FBBF24"/>
                </a:solidFill>
              </a:ln>
              <a:effectLst>
                <a:outerShdw blurRad="95250" dist="28575" dir="5400000" algn="ctr" rotWithShape="0">
                  <a:srgbClr val="000000">
                    <a:alpha val="26250"/>
                  </a:srgbClr>
                </a:outerShdw>
              </a:effectLst>
            </p:spPr>
          </p:sp>
          <p:sp>
            <p:nvSpPr>
              <p:cNvPr id="16" name="Freeform 16"/>
              <p:cNvSpPr/>
              <p:nvPr/>
            </p:nvSpPr>
            <p:spPr>
              <a:xfrm>
                <a:off x="923925" y="1609725"/>
                <a:ext cx="9525" cy="9525"/>
              </a:xfrm>
              <a:custGeom>
                <a:avLst/>
                <a:gdLst/>
                <a:ahLst/>
                <a:cxnLst/>
                <a:rect l="l" t="t" r="r" b="b"/>
                <a:pathLst>
                  <a:path w="9525" h="9525">
                    <a:moveTo>
                      <a:pt x="0" y="0"/>
                    </a:moveTo>
                    <a:lnTo>
                      <a:pt x="71" y="0"/>
                    </a:lnTo>
                  </a:path>
                </a:pathLst>
              </a:custGeom>
              <a:noFill/>
              <a:ln w="19050">
                <a:solidFill>
                  <a:srgbClr val="FBBF24"/>
                </a:solidFill>
              </a:ln>
              <a:effectLst>
                <a:outerShdw blurRad="95250" dist="28575" dir="5400000" algn="ctr" rotWithShape="0">
                  <a:srgbClr val="000000">
                    <a:alpha val="26250"/>
                  </a:srgbClr>
                </a:outerShdw>
              </a:effectLst>
            </p:spPr>
          </p:sp>
        </p:grpSp>
        <p:sp>
          <p:nvSpPr>
            <p:cNvPr id="18" name="TextBox 18"/>
            <p:cNvSpPr txBox="1"/>
            <p:nvPr/>
          </p:nvSpPr>
          <p:spPr>
            <a:xfrm>
              <a:off x="1073944" y="1527572"/>
              <a:ext cx="280009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RESILIENCE4J CIRCUIT BREAKER (3 TRẠNG THÁI)</a:t>
              </a:r>
            </a:p>
          </p:txBody>
        </p:sp>
        <p:grpSp>
          <p:nvGrpSpPr>
            <p:cNvPr id="24" name="Group 24"/>
            <p:cNvGrpSpPr/>
            <p:nvPr/>
          </p:nvGrpSpPr>
          <p:grpSpPr>
            <a:xfrm>
              <a:off x="762000" y="1828800"/>
              <a:ext cx="5143500" cy="742950"/>
              <a:chOff x="762000" y="1828800"/>
              <a:chExt cx="5143500" cy="742950"/>
            </a:xfrm>
          </p:grpSpPr>
          <p:sp>
            <p:nvSpPr>
              <p:cNvPr id="19" name="Rectangle 19"/>
              <p:cNvSpPr/>
              <p:nvPr/>
            </p:nvSpPr>
            <p:spPr>
              <a:xfrm>
                <a:off x="762000" y="1828800"/>
                <a:ext cx="5143500" cy="742950"/>
              </a:xfrm>
              <a:prstGeom prst="roundRect">
                <a:avLst>
                  <a:gd name="adj" fmla="val 10256"/>
                </a:avLst>
              </a:prstGeom>
              <a:solidFill>
                <a:srgbClr val="0F172A"/>
              </a:solidFill>
              <a:ln w="14288">
                <a:solidFill>
                  <a:srgbClr val="10B981"/>
                </a:solidFill>
              </a:ln>
              <a:effectLst>
                <a:outerShdw blurRad="95250" dist="28575" dir="5400000" algn="ctr" rotWithShape="0">
                  <a:srgbClr val="000000">
                    <a:alpha val="26250"/>
                  </a:srgbClr>
                </a:outerShdw>
              </a:effectLst>
            </p:spPr>
          </p:sp>
          <p:sp>
            <p:nvSpPr>
              <p:cNvPr id="20" name="Rectangle 20"/>
              <p:cNvSpPr/>
              <p:nvPr/>
            </p:nvSpPr>
            <p:spPr>
              <a:xfrm>
                <a:off x="876300" y="1943100"/>
                <a:ext cx="714375" cy="228600"/>
              </a:xfrm>
              <a:prstGeom prst="roundRect">
                <a:avLst>
                  <a:gd name="adj" fmla="val 16667"/>
                </a:avLst>
              </a:prstGeom>
              <a:solidFill>
                <a:srgbClr val="064E3B"/>
              </a:solidFill>
              <a:ln>
                <a:noFill/>
              </a:ln>
              <a:effectLst>
                <a:outerShdw blurRad="95250" dist="28575" dir="5400000" algn="ctr" rotWithShape="0">
                  <a:srgbClr val="000000">
                    <a:alpha val="26250"/>
                  </a:srgbClr>
                </a:outerShdw>
              </a:effectLst>
            </p:spPr>
          </p:sp>
          <p:sp>
            <p:nvSpPr>
              <p:cNvPr id="21" name="TextBox 21"/>
              <p:cNvSpPr txBox="1"/>
              <p:nvPr/>
            </p:nvSpPr>
            <p:spPr>
              <a:xfrm>
                <a:off x="1006432" y="2002393"/>
                <a:ext cx="44458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62" b="1" dirty="0">
                    <a:solidFill>
                      <a:srgbClr val="6EE7B7"/>
                    </a:solidFill>
                    <a:latin typeface="Arial"/>
                    <a:ea typeface="Microsoft YaHei"/>
                    <a:cs typeface="Arial"/>
                  </a:rPr>
                  <a:t>CLOSED</a:t>
                </a:r>
              </a:p>
            </p:txBody>
          </p:sp>
          <p:sp>
            <p:nvSpPr>
              <p:cNvPr id="22" name="TextBox 22"/>
              <p:cNvSpPr txBox="1"/>
              <p:nvPr/>
            </p:nvSpPr>
            <p:spPr>
              <a:xfrm>
                <a:off x="1663541" y="1995726"/>
                <a:ext cx="1741107"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Bình Thường (Mạch Đóng)</a:t>
                </a:r>
              </a:p>
            </p:txBody>
          </p:sp>
          <p:sp>
            <p:nvSpPr>
              <p:cNvPr id="23" name="TextBox 23"/>
              <p:cNvSpPr txBox="1"/>
              <p:nvPr/>
            </p:nvSpPr>
            <p:spPr>
              <a:xfrm>
                <a:off x="883920" y="2245995"/>
                <a:ext cx="476345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Mọi request chuyển tiếp bình thường đến service đích. Giám sát tỷ lệ lỗi liên tục.</a:t>
                </a:r>
              </a:p>
            </p:txBody>
          </p:sp>
        </p:grpSp>
        <p:grpSp>
          <p:nvGrpSpPr>
            <p:cNvPr id="31" name="Group 31"/>
            <p:cNvGrpSpPr/>
            <p:nvPr/>
          </p:nvGrpSpPr>
          <p:grpSpPr>
            <a:xfrm>
              <a:off x="762000" y="2667000"/>
              <a:ext cx="5143500" cy="838200"/>
              <a:chOff x="762000" y="2667000"/>
              <a:chExt cx="5143500" cy="838200"/>
            </a:xfrm>
          </p:grpSpPr>
          <p:sp>
            <p:nvSpPr>
              <p:cNvPr id="25" name="Rectangle 25"/>
              <p:cNvSpPr/>
              <p:nvPr/>
            </p:nvSpPr>
            <p:spPr>
              <a:xfrm>
                <a:off x="762000" y="2667000"/>
                <a:ext cx="5143500" cy="838200"/>
              </a:xfrm>
              <a:prstGeom prst="roundRect">
                <a:avLst>
                  <a:gd name="adj" fmla="val 9091"/>
                </a:avLst>
              </a:prstGeom>
              <a:solidFill>
                <a:srgbClr val="0F172A"/>
              </a:solidFill>
              <a:ln w="14288">
                <a:solidFill>
                  <a:srgbClr val="EF4444"/>
                </a:solidFill>
              </a:ln>
              <a:effectLst>
                <a:outerShdw blurRad="95250" dist="28575" dir="5400000" algn="ctr" rotWithShape="0">
                  <a:srgbClr val="000000">
                    <a:alpha val="26250"/>
                  </a:srgbClr>
                </a:outerShdw>
              </a:effectLst>
            </p:spPr>
          </p:sp>
          <p:sp>
            <p:nvSpPr>
              <p:cNvPr id="26" name="Rectangle 26"/>
              <p:cNvSpPr/>
              <p:nvPr/>
            </p:nvSpPr>
            <p:spPr>
              <a:xfrm>
                <a:off x="876300" y="2781300"/>
                <a:ext cx="714375" cy="228600"/>
              </a:xfrm>
              <a:prstGeom prst="roundRect">
                <a:avLst>
                  <a:gd name="adj" fmla="val 16667"/>
                </a:avLst>
              </a:prstGeom>
              <a:solidFill>
                <a:srgbClr val="7F1D1D"/>
              </a:solidFill>
              <a:ln>
                <a:noFill/>
              </a:ln>
              <a:effectLst>
                <a:outerShdw blurRad="95250" dist="28575" dir="5400000" algn="ctr" rotWithShape="0">
                  <a:srgbClr val="000000">
                    <a:alpha val="26250"/>
                  </a:srgbClr>
                </a:outerShdw>
              </a:effectLst>
            </p:spPr>
          </p:sp>
          <p:sp>
            <p:nvSpPr>
              <p:cNvPr id="27" name="TextBox 27"/>
              <p:cNvSpPr txBox="1"/>
              <p:nvPr/>
            </p:nvSpPr>
            <p:spPr>
              <a:xfrm>
                <a:off x="1072853" y="2840593"/>
                <a:ext cx="311744"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62" b="1" dirty="0">
                    <a:solidFill>
                      <a:srgbClr val="FCA5A5"/>
                    </a:solidFill>
                    <a:latin typeface="Arial"/>
                    <a:ea typeface="Microsoft YaHei"/>
                    <a:cs typeface="Arial"/>
                  </a:rPr>
                  <a:t>OPEN</a:t>
                </a:r>
              </a:p>
            </p:txBody>
          </p:sp>
          <p:sp>
            <p:nvSpPr>
              <p:cNvPr id="28" name="TextBox 28"/>
              <p:cNvSpPr txBox="1"/>
              <p:nvPr/>
            </p:nvSpPr>
            <p:spPr>
              <a:xfrm>
                <a:off x="1663541" y="2833926"/>
                <a:ext cx="1960847"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Ngắt Mạch Bảo Vệ (Mạch Mở)</a:t>
                </a:r>
              </a:p>
            </p:txBody>
          </p:sp>
          <p:sp>
            <p:nvSpPr>
              <p:cNvPr id="29" name="TextBox 29"/>
              <p:cNvSpPr txBox="1"/>
              <p:nvPr/>
            </p:nvSpPr>
            <p:spPr>
              <a:xfrm>
                <a:off x="883920" y="3065145"/>
                <a:ext cx="350329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Tỷ lệ lỗi &gt; 50% → Lập tức ngắt mạch, chặn gọi service đích để</a:t>
                </a:r>
              </a:p>
            </p:txBody>
          </p:sp>
          <p:sp>
            <p:nvSpPr>
              <p:cNvPr id="30" name="TextBox 30"/>
              <p:cNvSpPr txBox="1"/>
              <p:nvPr/>
            </p:nvSpPr>
            <p:spPr>
              <a:xfrm>
                <a:off x="883920" y="3236595"/>
                <a:ext cx="373732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giải phóng thread pool. Kích hoạt Fallback trả phản hồi an toàn.</a:t>
                </a:r>
              </a:p>
            </p:txBody>
          </p:sp>
        </p:grpSp>
        <p:grpSp>
          <p:nvGrpSpPr>
            <p:cNvPr id="38" name="Group 38"/>
            <p:cNvGrpSpPr/>
            <p:nvPr/>
          </p:nvGrpSpPr>
          <p:grpSpPr>
            <a:xfrm>
              <a:off x="762000" y="3600450"/>
              <a:ext cx="5143500" cy="809625"/>
              <a:chOff x="762000" y="3600450"/>
              <a:chExt cx="5143500" cy="809625"/>
            </a:xfrm>
          </p:grpSpPr>
          <p:sp>
            <p:nvSpPr>
              <p:cNvPr id="32" name="Rectangle 32"/>
              <p:cNvSpPr/>
              <p:nvPr/>
            </p:nvSpPr>
            <p:spPr>
              <a:xfrm>
                <a:off x="762000" y="3600450"/>
                <a:ext cx="5143500" cy="809625"/>
              </a:xfrm>
              <a:prstGeom prst="roundRect">
                <a:avLst>
                  <a:gd name="adj" fmla="val 9412"/>
                </a:avLst>
              </a:prstGeom>
              <a:solidFill>
                <a:srgbClr val="0F172A"/>
              </a:solidFill>
              <a:ln w="14288">
                <a:solidFill>
                  <a:srgbClr val="F59E0B"/>
                </a:solidFill>
              </a:ln>
              <a:effectLst>
                <a:outerShdw blurRad="95250" dist="28575" dir="5400000" algn="ctr" rotWithShape="0">
                  <a:srgbClr val="000000">
                    <a:alpha val="26250"/>
                  </a:srgbClr>
                </a:outerShdw>
              </a:effectLst>
            </p:spPr>
          </p:sp>
          <p:sp>
            <p:nvSpPr>
              <p:cNvPr id="33" name="Rectangle 33"/>
              <p:cNvSpPr/>
              <p:nvPr/>
            </p:nvSpPr>
            <p:spPr>
              <a:xfrm>
                <a:off x="876300" y="3714750"/>
                <a:ext cx="904875" cy="228600"/>
              </a:xfrm>
              <a:prstGeom prst="roundRect">
                <a:avLst>
                  <a:gd name="adj" fmla="val 16667"/>
                </a:avLst>
              </a:prstGeom>
              <a:solidFill>
                <a:srgbClr val="78350F"/>
              </a:solidFill>
              <a:ln>
                <a:noFill/>
              </a:ln>
              <a:effectLst>
                <a:outerShdw blurRad="95250" dist="28575" dir="5400000" algn="ctr" rotWithShape="0">
                  <a:srgbClr val="000000">
                    <a:alpha val="26250"/>
                  </a:srgbClr>
                </a:outerShdw>
              </a:effectLst>
            </p:spPr>
          </p:sp>
          <p:sp>
            <p:nvSpPr>
              <p:cNvPr id="34" name="TextBox 34"/>
              <p:cNvSpPr txBox="1"/>
              <p:nvPr/>
            </p:nvSpPr>
            <p:spPr>
              <a:xfrm>
                <a:off x="1002051" y="3774043"/>
                <a:ext cx="64384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ctr"/>
                <a:r>
                  <a:rPr lang="zh-CN" sz="862" b="1" dirty="0">
                    <a:solidFill>
                      <a:srgbClr val="FDE68A"/>
                    </a:solidFill>
                    <a:latin typeface="Arial"/>
                    <a:ea typeface="Microsoft YaHei"/>
                    <a:cs typeface="Arial"/>
                  </a:rPr>
                  <a:t>HALF_OPEN</a:t>
                </a:r>
              </a:p>
            </p:txBody>
          </p:sp>
          <p:sp>
            <p:nvSpPr>
              <p:cNvPr id="35" name="TextBox 35"/>
              <p:cNvSpPr txBox="1"/>
              <p:nvPr/>
            </p:nvSpPr>
            <p:spPr>
              <a:xfrm>
                <a:off x="1844516" y="3767376"/>
                <a:ext cx="2017554" cy="20574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012" b="1" dirty="0">
                    <a:solidFill>
                      <a:srgbClr val="F8FAFC"/>
                    </a:solidFill>
                    <a:latin typeface="Segoe UI"/>
                    <a:ea typeface="Microsoft YaHei"/>
                    <a:cs typeface="Segoe UI"/>
                  </a:rPr>
                  <a:t>Thử Nghiệm Phục Hồi (Nửa Mở)</a:t>
                </a:r>
              </a:p>
            </p:txBody>
          </p:sp>
          <p:sp>
            <p:nvSpPr>
              <p:cNvPr id="36" name="TextBox 36"/>
              <p:cNvSpPr txBox="1"/>
              <p:nvPr/>
            </p:nvSpPr>
            <p:spPr>
              <a:xfrm>
                <a:off x="883920" y="3998595"/>
                <a:ext cx="4079367"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Sau 10s, cho phép thử nghiệm 10 request. Nếu thành công → về CLOSED;</a:t>
                </a:r>
              </a:p>
            </p:txBody>
          </p:sp>
          <p:sp>
            <p:nvSpPr>
              <p:cNvPr id="37" name="TextBox 37"/>
              <p:cNvSpPr txBox="1"/>
              <p:nvPr/>
            </p:nvSpPr>
            <p:spPr>
              <a:xfrm>
                <a:off x="883920" y="4170045"/>
                <a:ext cx="339528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nếu vẫn xảy ra lỗi → tiếp tục giữ mạch OPEN để tự phục hồi.</a:t>
                </a:r>
              </a:p>
            </p:txBody>
          </p:sp>
        </p:grpSp>
        <p:sp>
          <p:nvSpPr>
            <p:cNvPr id="39" name="Rectangle 39"/>
            <p:cNvSpPr/>
            <p:nvPr/>
          </p:nvSpPr>
          <p:spPr>
            <a:xfrm>
              <a:off x="762000" y="4524375"/>
              <a:ext cx="5143500" cy="1571625"/>
            </a:xfrm>
            <a:prstGeom prst="roundRect">
              <a:avLst>
                <a:gd name="adj" fmla="val 4848"/>
              </a:avLst>
            </a:prstGeom>
            <a:solidFill>
              <a:srgbClr val="0B1120"/>
            </a:solidFill>
            <a:ln w="9525">
              <a:solidFill>
                <a:srgbClr val="334155"/>
              </a:solidFill>
            </a:ln>
            <a:effectLst>
              <a:outerShdw blurRad="95250" dist="28575" dir="5400000" algn="ctr" rotWithShape="0">
                <a:srgbClr val="000000">
                  <a:alpha val="26250"/>
                </a:srgbClr>
              </a:outerShdw>
            </a:effectLst>
          </p:spPr>
        </p:sp>
        <p:sp>
          <p:nvSpPr>
            <p:cNvPr id="40" name="TextBox 40"/>
            <p:cNvSpPr txBox="1"/>
            <p:nvPr/>
          </p:nvSpPr>
          <p:spPr>
            <a:xfrm>
              <a:off x="893445" y="4646295"/>
              <a:ext cx="2615184"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 Khai báo Circuit Breaker kèm hàm Fallback</a:t>
              </a:r>
            </a:p>
          </p:txBody>
        </p:sp>
        <p:sp>
          <p:nvSpPr>
            <p:cNvPr id="41" name="TextBox 41"/>
            <p:cNvSpPr txBox="1"/>
            <p:nvPr/>
          </p:nvSpPr>
          <p:spPr>
            <a:xfrm>
              <a:off x="893445" y="4855845"/>
              <a:ext cx="472744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Consolas"/>
                  <a:ea typeface="Microsoft YaHei"/>
                  <a:cs typeface="Consolas"/>
                </a:rPr>
                <a:t>@CircuitBreaker(name = "accountService", fallbackMethod = "accountFallback")</a:t>
              </a:r>
            </a:p>
          </p:txBody>
        </p:sp>
        <p:sp>
          <p:nvSpPr>
            <p:cNvPr id="42" name="TextBox 42"/>
            <p:cNvSpPr txBox="1"/>
            <p:nvPr/>
          </p:nvSpPr>
          <p:spPr>
            <a:xfrm>
              <a:off x="893445" y="5065395"/>
              <a:ext cx="307724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Consolas"/>
                  <a:ea typeface="Microsoft YaHei"/>
                  <a:cs typeface="Consolas"/>
                </a:rPr>
                <a:t>public AccountDTO getAccount(String accNo) { ... }</a:t>
              </a:r>
            </a:p>
          </p:txBody>
        </p:sp>
        <p:sp>
          <p:nvSpPr>
            <p:cNvPr id="43" name="TextBox 43"/>
            <p:cNvSpPr txBox="1"/>
            <p:nvPr/>
          </p:nvSpPr>
          <p:spPr>
            <a:xfrm>
              <a:off x="893445" y="5313045"/>
              <a:ext cx="380333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59E0B"/>
                  </a:solidFill>
                  <a:latin typeface="Consolas"/>
                  <a:ea typeface="Microsoft YaHei"/>
                  <a:cs typeface="Consolas"/>
                </a:rPr>
                <a:t>public AccountDTO accountFallback(String accNo, Throwable t) {</a:t>
              </a:r>
            </a:p>
          </p:txBody>
        </p:sp>
        <p:sp>
          <p:nvSpPr>
            <p:cNvPr id="44" name="TextBox 44"/>
            <p:cNvSpPr txBox="1"/>
            <p:nvPr/>
          </p:nvSpPr>
          <p:spPr>
            <a:xfrm>
              <a:off x="893921" y="5526643"/>
              <a:ext cx="3966901"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Consolas"/>
                  <a:ea typeface="Microsoft YaHei"/>
                  <a:cs typeface="Consolas"/>
                </a:rPr>
                <a:t>log.warn("Account service unavailable, returning cached snapshot");</a:t>
              </a:r>
            </a:p>
          </p:txBody>
        </p:sp>
        <p:sp>
          <p:nvSpPr>
            <p:cNvPr id="45" name="TextBox 45"/>
            <p:cNvSpPr txBox="1"/>
            <p:nvPr/>
          </p:nvSpPr>
          <p:spPr>
            <a:xfrm>
              <a:off x="893921" y="5698093"/>
              <a:ext cx="3938147"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Consolas"/>
                  <a:ea typeface="Microsoft YaHei"/>
                  <a:cs typeface="Consolas"/>
                </a:rPr>
                <a:t>return new AccountDTO(accNo, "Dịch vụ đang bận, vui lòng thử lại!");</a:t>
              </a:r>
            </a:p>
          </p:txBody>
        </p:sp>
        <p:sp>
          <p:nvSpPr>
            <p:cNvPr id="46" name="TextBox 46"/>
            <p:cNvSpPr txBox="1"/>
            <p:nvPr/>
          </p:nvSpPr>
          <p:spPr>
            <a:xfrm>
              <a:off x="893921" y="5869543"/>
              <a:ext cx="8516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Consolas"/>
                  <a:ea typeface="Microsoft YaHei"/>
                  <a:cs typeface="Consolas"/>
                </a:rPr>
                <a:t>}</a:t>
              </a:r>
            </a:p>
          </p:txBody>
        </p:sp>
      </p:grpSp>
      <p:grpSp>
        <p:nvGrpSpPr>
          <p:cNvPr id="78" name="Group 78"/>
          <p:cNvGrpSpPr/>
          <p:nvPr/>
        </p:nvGrpSpPr>
        <p:grpSpPr>
          <a:xfrm>
            <a:off x="6286500" y="1285875"/>
            <a:ext cx="5334000" cy="5000625"/>
            <a:chOff x="6286500" y="1285875"/>
            <a:chExt cx="5334000" cy="5000625"/>
          </a:xfrm>
          <a:effectLst>
            <a:outerShdw blurRad="95250" dist="28575" dir="5400000" algn="ctr" rotWithShape="0">
              <a:srgbClr val="000000">
                <a:alpha val="26250"/>
              </a:srgbClr>
            </a:outerShdw>
          </a:effectLst>
        </p:grpSpPr>
        <p:sp>
          <p:nvSpPr>
            <p:cNvPr id="48" name="Rectangle 48"/>
            <p:cNvSpPr/>
            <p:nvPr/>
          </p:nvSpPr>
          <p:spPr>
            <a:xfrm>
              <a:off x="6286500" y="1285875"/>
              <a:ext cx="5334000" cy="5000625"/>
            </a:xfrm>
            <a:prstGeom prst="roundRect">
              <a:avLst>
                <a:gd name="adj" fmla="val 2667"/>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49" name="Rectangle 49"/>
            <p:cNvSpPr/>
            <p:nvPr/>
          </p:nvSpPr>
          <p:spPr>
            <a:xfrm>
              <a:off x="6477000" y="1447800"/>
              <a:ext cx="2381250" cy="266700"/>
            </a:xfrm>
            <a:prstGeom prst="roundRect">
              <a:avLst>
                <a:gd name="adj" fmla="val 21429"/>
              </a:avLst>
            </a:prstGeom>
            <a:solidFill>
              <a:srgbClr val="0F172A"/>
            </a:solidFill>
            <a:ln w="9525">
              <a:solidFill>
                <a:srgbClr val="334155"/>
              </a:solidFill>
            </a:ln>
            <a:effectLst>
              <a:outerShdw blurRad="95250" dist="28575" dir="5400000" algn="ctr" rotWithShape="0">
                <a:srgbClr val="000000">
                  <a:alpha val="26250"/>
                </a:srgbClr>
              </a:outerShdw>
            </a:effectLst>
          </p:spPr>
        </p:sp>
        <p:grpSp>
          <p:nvGrpSpPr>
            <p:cNvPr id="53" name="Group 53"/>
            <p:cNvGrpSpPr/>
            <p:nvPr/>
          </p:nvGrpSpPr>
          <p:grpSpPr>
            <a:xfrm>
              <a:off x="6600825" y="1516856"/>
              <a:ext cx="114300" cy="128588"/>
              <a:chOff x="6600825" y="1516856"/>
              <a:chExt cx="114300" cy="128588"/>
            </a:xfrm>
          </p:grpSpPr>
          <p:sp>
            <p:nvSpPr>
              <p:cNvPr id="50" name="Freeform 50"/>
              <p:cNvSpPr/>
              <p:nvPr/>
            </p:nvSpPr>
            <p:spPr>
              <a:xfrm>
                <a:off x="6600825" y="1516856"/>
                <a:ext cx="114300" cy="42862"/>
              </a:xfrm>
              <a:custGeom>
                <a:avLst/>
                <a:gdLst/>
                <a:ahLst/>
                <a:cxnLst/>
                <a:rect l="l" t="t" r="r" b="b"/>
                <a:pathLst>
                  <a:path w="114300" h="42862">
                    <a:moveTo>
                      <a:pt x="0" y="21431"/>
                    </a:moveTo>
                    <a:cubicBezTo>
                      <a:pt x="0" y="33267"/>
                      <a:pt x="25587" y="42862"/>
                      <a:pt x="57150" y="42862"/>
                    </a:cubicBezTo>
                    <a:cubicBezTo>
                      <a:pt x="88713" y="42862"/>
                      <a:pt x="114300" y="33267"/>
                      <a:pt x="114300" y="21431"/>
                    </a:cubicBezTo>
                    <a:cubicBezTo>
                      <a:pt x="114300" y="9595"/>
                      <a:pt x="88713" y="0"/>
                      <a:pt x="57150" y="0"/>
                    </a:cubicBezTo>
                    <a:cubicBezTo>
                      <a:pt x="25587" y="0"/>
                      <a:pt x="0" y="9595"/>
                      <a:pt x="0" y="21431"/>
                    </a:cubicBezTo>
                  </a:path>
                </a:pathLst>
              </a:custGeom>
              <a:noFill/>
              <a:ln w="19050">
                <a:solidFill>
                  <a:srgbClr val="38BDF8"/>
                </a:solidFill>
              </a:ln>
              <a:effectLst>
                <a:outerShdw blurRad="95250" dist="28575" dir="5400000" algn="ctr" rotWithShape="0">
                  <a:srgbClr val="000000">
                    <a:alpha val="26250"/>
                  </a:srgbClr>
                </a:outerShdw>
              </a:effectLst>
            </p:spPr>
          </p:sp>
          <p:sp>
            <p:nvSpPr>
              <p:cNvPr id="51" name="Freeform 51"/>
              <p:cNvSpPr/>
              <p:nvPr/>
            </p:nvSpPr>
            <p:spPr>
              <a:xfrm>
                <a:off x="6600825" y="1538288"/>
                <a:ext cx="114300" cy="64294"/>
              </a:xfrm>
              <a:custGeom>
                <a:avLst/>
                <a:gdLst/>
                <a:ahLst/>
                <a:cxnLst/>
                <a:rect l="l" t="t" r="r" b="b"/>
                <a:pathLst>
                  <a:path w="114300" h="64294">
                    <a:moveTo>
                      <a:pt x="0" y="0"/>
                    </a:moveTo>
                    <a:lnTo>
                      <a:pt x="0" y="42862"/>
                    </a:lnTo>
                    <a:cubicBezTo>
                      <a:pt x="0" y="54699"/>
                      <a:pt x="25587" y="64294"/>
                      <a:pt x="57150" y="64294"/>
                    </a:cubicBezTo>
                    <a:cubicBezTo>
                      <a:pt x="88713" y="64294"/>
                      <a:pt x="114300" y="54699"/>
                      <a:pt x="114300" y="42862"/>
                    </a:cubicBezTo>
                    <a:lnTo>
                      <a:pt x="114300" y="0"/>
                    </a:lnTo>
                  </a:path>
                </a:pathLst>
              </a:custGeom>
              <a:noFill/>
              <a:ln w="19050">
                <a:solidFill>
                  <a:srgbClr val="38BDF8"/>
                </a:solidFill>
              </a:ln>
              <a:effectLst>
                <a:outerShdw blurRad="95250" dist="28575" dir="5400000" algn="ctr" rotWithShape="0">
                  <a:srgbClr val="000000">
                    <a:alpha val="26250"/>
                  </a:srgbClr>
                </a:outerShdw>
              </a:effectLst>
            </p:spPr>
          </p:sp>
          <p:sp>
            <p:nvSpPr>
              <p:cNvPr id="52" name="Freeform 52"/>
              <p:cNvSpPr/>
              <p:nvPr/>
            </p:nvSpPr>
            <p:spPr>
              <a:xfrm>
                <a:off x="6600825" y="1581150"/>
                <a:ext cx="114300" cy="64294"/>
              </a:xfrm>
              <a:custGeom>
                <a:avLst/>
                <a:gdLst/>
                <a:ahLst/>
                <a:cxnLst/>
                <a:rect l="l" t="t" r="r" b="b"/>
                <a:pathLst>
                  <a:path w="114300" h="64294">
                    <a:moveTo>
                      <a:pt x="0" y="0"/>
                    </a:moveTo>
                    <a:lnTo>
                      <a:pt x="0" y="42862"/>
                    </a:lnTo>
                    <a:cubicBezTo>
                      <a:pt x="0" y="54699"/>
                      <a:pt x="25587" y="64294"/>
                      <a:pt x="57150" y="64294"/>
                    </a:cubicBezTo>
                    <a:cubicBezTo>
                      <a:pt x="88713" y="64294"/>
                      <a:pt x="114300" y="54699"/>
                      <a:pt x="114300" y="42862"/>
                    </a:cubicBezTo>
                    <a:lnTo>
                      <a:pt x="114300" y="0"/>
                    </a:lnTo>
                  </a:path>
                </a:pathLst>
              </a:custGeom>
              <a:noFill/>
              <a:ln w="19050">
                <a:solidFill>
                  <a:srgbClr val="38BDF8"/>
                </a:solidFill>
              </a:ln>
              <a:effectLst>
                <a:outerShdw blurRad="95250" dist="28575" dir="5400000" algn="ctr" rotWithShape="0">
                  <a:srgbClr val="000000">
                    <a:alpha val="26250"/>
                  </a:srgbClr>
                </a:outerShdw>
              </a:effectLst>
            </p:spPr>
          </p:sp>
        </p:grpSp>
        <p:sp>
          <p:nvSpPr>
            <p:cNvPr id="54" name="TextBox 54"/>
            <p:cNvSpPr txBox="1"/>
            <p:nvPr/>
          </p:nvSpPr>
          <p:spPr>
            <a:xfrm>
              <a:off x="6807994" y="1527572"/>
              <a:ext cx="169745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REDIS CACHE-ASIDE PATTERN</a:t>
              </a:r>
            </a:p>
          </p:txBody>
        </p:sp>
        <p:sp>
          <p:nvSpPr>
            <p:cNvPr id="55" name="Rectangle 55"/>
            <p:cNvSpPr/>
            <p:nvPr/>
          </p:nvSpPr>
          <p:spPr>
            <a:xfrm>
              <a:off x="8905875" y="1285875"/>
              <a:ext cx="2714625" cy="2238375"/>
            </a:xfrm>
            <a:prstGeom prst="roundRect">
              <a:avLst>
                <a:gd name="adj" fmla="val 5957"/>
              </a:avLst>
            </a:prstGeom>
            <a:solidFill>
              <a:srgbClr val="0F172A"/>
            </a:solidFill>
            <a:ln w="14288">
              <a:solidFill>
                <a:srgbClr val="F59E0B">
                  <a:alpha val="40000"/>
                </a:srgbClr>
              </a:solidFill>
            </a:ln>
            <a:effectLst>
              <a:outerShdw blurRad="95250" dist="28575" dir="5400000" algn="ctr" rotWithShape="0">
                <a:srgbClr val="000000">
                  <a:alpha val="26250"/>
                </a:srgbClr>
              </a:outerShdw>
            </a:effectLst>
          </p:spPr>
        </p:sp>
        <p:pic>
          <p:nvPicPr>
            <p:cNvPr id="56" name="Image 56"/>
            <p:cNvPicPr>
              <a:picLocks noChangeAspect="1"/>
            </p:cNvPicPr>
            <p:nvPr/>
          </p:nvPicPr>
          <p:blipFill>
            <a:blip r:embed="rId2"/>
            <a:srcRect l="0" t="9091" r="0" b="9091"/>
            <a:stretch>
              <a:fillRect/>
            </a:stretch>
          </p:blipFill>
          <p:spPr>
            <a:xfrm>
              <a:off x="8953500" y="1333500"/>
              <a:ext cx="2619375" cy="2143125"/>
            </a:xfrm>
            <a:prstGeom prst="roundRect">
              <a:avLst>
                <a:gd name="adj" fmla="val 6222"/>
              </a:avLst>
            </a:prstGeom>
          </p:spPr>
        </p:pic>
        <p:sp>
          <p:nvSpPr>
            <p:cNvPr id="57" name="TextBox 57"/>
            <p:cNvSpPr txBox="1"/>
            <p:nvPr/>
          </p:nvSpPr>
          <p:spPr>
            <a:xfrm>
              <a:off x="6465094" y="1879997"/>
              <a:ext cx="1520250"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38BDF8"/>
                  </a:solidFill>
                  <a:latin typeface="Segoe UI"/>
                  <a:ea typeface="Microsoft YaHei"/>
                  <a:cs typeface="Segoe UI"/>
                </a:rPr>
                <a:t>Chiến lược Cache-Aside:</a:t>
              </a:r>
            </a:p>
          </p:txBody>
        </p:sp>
        <p:sp>
          <p:nvSpPr>
            <p:cNvPr id="58" name="TextBox 58"/>
            <p:cNvSpPr txBox="1"/>
            <p:nvPr/>
          </p:nvSpPr>
          <p:spPr>
            <a:xfrm>
              <a:off x="6465094" y="2070497"/>
              <a:ext cx="86766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1. Đọc dữ liệu:</a:t>
              </a:r>
            </a:p>
          </p:txBody>
        </p:sp>
        <p:sp>
          <p:nvSpPr>
            <p:cNvPr id="59" name="TextBox 59"/>
            <p:cNvSpPr txBox="1"/>
            <p:nvPr/>
          </p:nvSpPr>
          <p:spPr>
            <a:xfrm>
              <a:off x="6465094" y="2241947"/>
              <a:ext cx="1786533"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Check Redis Cache Hit (&lt;5ms)</a:t>
              </a:r>
            </a:p>
          </p:txBody>
        </p:sp>
        <p:sp>
          <p:nvSpPr>
            <p:cNvPr id="60" name="TextBox 60"/>
            <p:cNvSpPr txBox="1"/>
            <p:nvPr/>
          </p:nvSpPr>
          <p:spPr>
            <a:xfrm>
              <a:off x="6465094" y="2413397"/>
              <a:ext cx="206156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Cache Miss → Query DB &amp; Put Redis</a:t>
              </a:r>
            </a:p>
          </p:txBody>
        </p:sp>
        <p:sp>
          <p:nvSpPr>
            <p:cNvPr id="61" name="TextBox 61"/>
            <p:cNvSpPr txBox="1"/>
            <p:nvPr/>
          </p:nvSpPr>
          <p:spPr>
            <a:xfrm>
              <a:off x="6465094" y="2603897"/>
              <a:ext cx="923925"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2. Giảm tải DB:</a:t>
              </a:r>
            </a:p>
          </p:txBody>
        </p:sp>
        <p:sp>
          <p:nvSpPr>
            <p:cNvPr id="62" name="TextBox 62"/>
            <p:cNvSpPr txBox="1"/>
            <p:nvPr/>
          </p:nvSpPr>
          <p:spPr>
            <a:xfrm>
              <a:off x="6465094" y="2775347"/>
              <a:ext cx="1686520"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Giảm 80% truy vấn trùng lặp</a:t>
              </a:r>
            </a:p>
          </p:txBody>
        </p:sp>
        <p:sp>
          <p:nvSpPr>
            <p:cNvPr id="63" name="TextBox 63"/>
            <p:cNvSpPr txBox="1"/>
            <p:nvPr/>
          </p:nvSpPr>
          <p:spPr>
            <a:xfrm>
              <a:off x="6465094" y="2946797"/>
              <a:ext cx="190529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Bảo vệ DB khi truy cập tăng vọt</a:t>
              </a:r>
            </a:p>
          </p:txBody>
        </p:sp>
        <p:sp>
          <p:nvSpPr>
            <p:cNvPr id="64" name="Rectangle 64"/>
            <p:cNvSpPr/>
            <p:nvPr/>
          </p:nvSpPr>
          <p:spPr>
            <a:xfrm>
              <a:off x="6477000" y="3619500"/>
              <a:ext cx="4953000" cy="2476500"/>
            </a:xfrm>
            <a:prstGeom prst="roundRect">
              <a:avLst>
                <a:gd name="adj" fmla="val 3846"/>
              </a:avLst>
            </a:prstGeom>
            <a:solidFill>
              <a:srgbClr val="0F172A"/>
            </a:solidFill>
            <a:ln w="9525">
              <a:solidFill>
                <a:srgbClr val="334155"/>
              </a:solidFill>
            </a:ln>
            <a:effectLst>
              <a:outerShdw blurRad="95250" dist="28575" dir="5400000" algn="ctr" rotWithShape="0">
                <a:srgbClr val="000000">
                  <a:alpha val="26250"/>
                </a:srgbClr>
              </a:outerShdw>
            </a:effectLst>
          </p:spPr>
        </p:sp>
        <p:sp>
          <p:nvSpPr>
            <p:cNvPr id="65" name="TextBox 65"/>
            <p:cNvSpPr txBox="1"/>
            <p:nvPr/>
          </p:nvSpPr>
          <p:spPr>
            <a:xfrm>
              <a:off x="6655118" y="3752374"/>
              <a:ext cx="2550331" cy="19812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75" b="1" dirty="0">
                  <a:solidFill>
                    <a:srgbClr val="22D3EE"/>
                  </a:solidFill>
                  <a:latin typeface="Segoe UI"/>
                  <a:ea typeface="Microsoft YaHei"/>
                  <a:cs typeface="Segoe UI"/>
                </a:rPr>
                <a:t>BỘ 3 ANNOTATION SPRING CACHE + REDIS:</a:t>
              </a:r>
            </a:p>
          </p:txBody>
        </p:sp>
        <p:sp>
          <p:nvSpPr>
            <p:cNvPr id="66" name="Rectangle 66"/>
            <p:cNvSpPr/>
            <p:nvPr/>
          </p:nvSpPr>
          <p:spPr>
            <a:xfrm>
              <a:off x="6667500" y="4000500"/>
              <a:ext cx="4572000" cy="609600"/>
            </a:xfrm>
            <a:prstGeom prst="roundRect">
              <a:avLst>
                <a:gd name="adj" fmla="val 9375"/>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67" name="TextBox 67"/>
            <p:cNvSpPr txBox="1"/>
            <p:nvPr/>
          </p:nvSpPr>
          <p:spPr>
            <a:xfrm>
              <a:off x="6798469" y="4089797"/>
              <a:ext cx="3115136"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34D399"/>
                  </a:solidFill>
                  <a:latin typeface="Consolas"/>
                  <a:ea typeface="Microsoft YaHei"/>
                  <a:cs typeface="Consolas"/>
                </a:rPr>
                <a:t>@Cacheable(value = "accounts", key = "#accNo")</a:t>
              </a:r>
            </a:p>
          </p:txBody>
        </p:sp>
        <p:sp>
          <p:nvSpPr>
            <p:cNvPr id="68" name="TextBox 68"/>
            <p:cNvSpPr txBox="1"/>
            <p:nvPr/>
          </p:nvSpPr>
          <p:spPr>
            <a:xfrm>
              <a:off x="6799421" y="4307443"/>
              <a:ext cx="3259562"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Tra cứu thông tin tài khoản và số dư nhanh từ Redis cache;</a:t>
              </a:r>
            </a:p>
          </p:txBody>
        </p:sp>
        <p:sp>
          <p:nvSpPr>
            <p:cNvPr id="69" name="TextBox 69"/>
            <p:cNvSpPr txBox="1"/>
            <p:nvPr/>
          </p:nvSpPr>
          <p:spPr>
            <a:xfrm>
              <a:off x="6799421" y="4459843"/>
              <a:ext cx="3098542"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thời gian sống TTL = 10 phút, phản hồi tức thì dưới 5ms.</a:t>
              </a:r>
            </a:p>
          </p:txBody>
        </p:sp>
        <p:sp>
          <p:nvSpPr>
            <p:cNvPr id="70" name="Rectangle 70"/>
            <p:cNvSpPr/>
            <p:nvPr/>
          </p:nvSpPr>
          <p:spPr>
            <a:xfrm>
              <a:off x="6667500" y="4705350"/>
              <a:ext cx="4572000" cy="609600"/>
            </a:xfrm>
            <a:prstGeom prst="roundRect">
              <a:avLst>
                <a:gd name="adj" fmla="val 9375"/>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71" name="TextBox 71"/>
            <p:cNvSpPr txBox="1"/>
            <p:nvPr/>
          </p:nvSpPr>
          <p:spPr>
            <a:xfrm>
              <a:off x="6798469" y="4794647"/>
              <a:ext cx="4257154"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60A5FA"/>
                  </a:solidFill>
                  <a:latin typeface="Consolas"/>
                  <a:ea typeface="Microsoft YaHei"/>
                  <a:cs typeface="Consolas"/>
                </a:rPr>
                <a:t>@CachePut(value = "accounts", key = "#account.accountNumber")</a:t>
              </a:r>
            </a:p>
          </p:txBody>
        </p:sp>
        <p:sp>
          <p:nvSpPr>
            <p:cNvPr id="72" name="TextBox 72"/>
            <p:cNvSpPr txBox="1"/>
            <p:nvPr/>
          </p:nvSpPr>
          <p:spPr>
            <a:xfrm>
              <a:off x="6799421" y="5012293"/>
              <a:ext cx="3161800"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Đồng bộ dữ liệu cập nhật mới vào cache sau khi sửa hồ sơ;</a:t>
              </a:r>
            </a:p>
          </p:txBody>
        </p:sp>
        <p:sp>
          <p:nvSpPr>
            <p:cNvPr id="73" name="TextBox 73"/>
            <p:cNvSpPr txBox="1"/>
            <p:nvPr/>
          </p:nvSpPr>
          <p:spPr>
            <a:xfrm>
              <a:off x="6799421" y="5164693"/>
              <a:ext cx="3363075"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đảm bảo dữ liệu trong cache luôn mới nhất mà không cần xóa.</a:t>
              </a:r>
            </a:p>
          </p:txBody>
        </p:sp>
        <p:sp>
          <p:nvSpPr>
            <p:cNvPr id="74" name="Rectangle 74"/>
            <p:cNvSpPr/>
            <p:nvPr/>
          </p:nvSpPr>
          <p:spPr>
            <a:xfrm>
              <a:off x="6667500" y="5410200"/>
              <a:ext cx="4572000" cy="609600"/>
            </a:xfrm>
            <a:prstGeom prst="roundRect">
              <a:avLst>
                <a:gd name="adj" fmla="val 9375"/>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75" name="TextBox 75"/>
            <p:cNvSpPr txBox="1"/>
            <p:nvPr/>
          </p:nvSpPr>
          <p:spPr>
            <a:xfrm>
              <a:off x="6798469" y="5499497"/>
              <a:ext cx="3187333"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b="1" dirty="0">
                  <a:solidFill>
                    <a:srgbClr val="F87171"/>
                  </a:solidFill>
                  <a:latin typeface="Consolas"/>
                  <a:ea typeface="Microsoft YaHei"/>
                  <a:cs typeface="Consolas"/>
                </a:rPr>
                <a:t>@CacheEvict(value = "accounts", key = "#accNo")</a:t>
              </a:r>
            </a:p>
          </p:txBody>
        </p:sp>
        <p:sp>
          <p:nvSpPr>
            <p:cNvPr id="76" name="TextBox 76"/>
            <p:cNvSpPr txBox="1"/>
            <p:nvPr/>
          </p:nvSpPr>
          <p:spPr>
            <a:xfrm>
              <a:off x="6799421" y="5717143"/>
              <a:ext cx="3386078"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Xóa cache ngay lập tức khi số dư biến động sau chuyển khoản;</a:t>
              </a:r>
            </a:p>
          </p:txBody>
        </p:sp>
        <p:sp>
          <p:nvSpPr>
            <p:cNvPr id="77" name="TextBox 77"/>
            <p:cNvSpPr txBox="1"/>
            <p:nvPr/>
          </p:nvSpPr>
          <p:spPr>
            <a:xfrm>
              <a:off x="6799421" y="5869543"/>
              <a:ext cx="3167551" cy="17526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ngăn chặn triệt để rủi ro đọc phải số dư cũ (Stale Data).</a:t>
              </a:r>
            </a:p>
          </p:txBody>
        </p:sp>
      </p:grpSp>
      <p:grpSp>
        <p:nvGrpSpPr>
          <p:cNvPr id="81" name="Group 81"/>
          <p:cNvGrpSpPr/>
          <p:nvPr/>
        </p:nvGrpSpPr>
        <p:grpSpPr>
          <a:xfrm>
            <a:off x="560070" y="6522720"/>
            <a:ext cx="11071860" cy="182880"/>
            <a:chOff x="560070" y="6522720"/>
            <a:chExt cx="11071860" cy="182880"/>
          </a:xfrm>
        </p:grpSpPr>
        <p:sp>
          <p:nvSpPr>
            <p:cNvPr id="79" name="TextBox 79"/>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80" name="TextBox 80"/>
            <p:cNvSpPr txBox="1"/>
            <p:nvPr/>
          </p:nvSpPr>
          <p:spPr>
            <a:xfrm>
              <a:off x="10865577" y="6522720"/>
              <a:ext cx="766353"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09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400"/>
                                        <p:tgtEl>
                                          <p:spTgt spid="4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slide(fromBottom)">
                                      <p:cBhvr>
                                        <p:cTn id="11" dur="4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7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8B5CF6">
                    <a:alpha val="12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5855046" cy="797719"/>
            <a:chOff x="548640" y="342900"/>
            <a:chExt cx="5855046" cy="797719"/>
          </a:xfrm>
        </p:grpSpPr>
        <p:sp>
          <p:nvSpPr>
            <p:cNvPr id="7" name="Rectangle 7"/>
            <p:cNvSpPr/>
            <p:nvPr/>
          </p:nvSpPr>
          <p:spPr>
            <a:xfrm>
              <a:off x="571500" y="342900"/>
              <a:ext cx="1571625" cy="247650"/>
            </a:xfrm>
            <a:prstGeom prst="roundRect">
              <a:avLst>
                <a:gd name="adj" fmla="val 50000"/>
              </a:avLst>
            </a:prstGeom>
            <a:solidFill>
              <a:srgbClr val="1E293B"/>
            </a:solidFill>
            <a:ln w="9525">
              <a:solidFill>
                <a:srgbClr val="8B5CF6"/>
              </a:solidFill>
            </a:ln>
          </p:spPr>
        </p:sp>
        <p:sp>
          <p:nvSpPr>
            <p:cNvPr id="8" name="TextBox 8"/>
            <p:cNvSpPr txBox="1"/>
            <p:nvPr/>
          </p:nvSpPr>
          <p:spPr>
            <a:xfrm>
              <a:off x="770276" y="415766"/>
              <a:ext cx="1164548" cy="167640"/>
            </a:xfrm>
            <a:prstGeom prst="rect">
              <a:avLst/>
            </a:prstGeom>
            <a:noFill/>
            <a:ln>
              <a:noFill/>
            </a:ln>
          </p:spPr>
          <p:txBody>
            <a:bodyPr wrap="none" lIns="0" tIns="0" rIns="0" bIns="0" anchor="t" anchorCtr="0">
              <a:spAutoFit/>
            </a:bodyPr>
            <a:lstStyle/>
            <a:p>
              <a:pPr algn="ctr"/>
              <a:r>
                <a:rPr lang="zh-CN" sz="825" b="1" dirty="0">
                  <a:solidFill>
                    <a:srgbClr val="C4B5FD"/>
                  </a:solidFill>
                  <a:latin typeface="Segoe UI"/>
                  <a:ea typeface="Microsoft YaHei"/>
                  <a:cs typeface="Segoe UI"/>
                </a:rPr>
                <a:t>CHẤT LƯỢNG MÃ NGUỒN</a:t>
              </a:r>
            </a:p>
          </p:txBody>
        </p:sp>
        <p:sp>
          <p:nvSpPr>
            <p:cNvPr id="9" name="TextBox 9"/>
            <p:cNvSpPr txBox="1"/>
            <p:nvPr/>
          </p:nvSpPr>
          <p:spPr>
            <a:xfrm>
              <a:off x="548640" y="624840"/>
              <a:ext cx="5855046"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Kiểm Soát Luồng Lỗi Tập Trung &amp; Tiêu Chuẩn Code</a:t>
              </a:r>
            </a:p>
          </p:txBody>
        </p:sp>
        <p:sp>
          <p:nvSpPr>
            <p:cNvPr id="10" name="TextBox 10"/>
            <p:cNvSpPr txBox="1"/>
            <p:nvPr/>
          </p:nvSpPr>
          <p:spPr>
            <a:xfrm>
              <a:off x="559118" y="942499"/>
              <a:ext cx="5505925"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AOP Exception Handling, Chuẩn hóa REST và Kiểm thử tự động đảm bảo độ ổn định cao</a:t>
              </a:r>
            </a:p>
          </p:txBody>
        </p:sp>
      </p:grpSp>
      <p:grpSp>
        <p:nvGrpSpPr>
          <p:cNvPr id="25" name="Group 25"/>
          <p:cNvGrpSpPr/>
          <p:nvPr/>
        </p:nvGrpSpPr>
        <p:grpSpPr>
          <a:xfrm>
            <a:off x="571500" y="1285875"/>
            <a:ext cx="5381625" cy="2428875"/>
            <a:chOff x="571500" y="1285875"/>
            <a:chExt cx="5381625" cy="2428875"/>
          </a:xfrm>
          <a:effectLst>
            <a:outerShdw blurRad="95250" dist="28575" dir="5400000" algn="ctr" rotWithShape="0">
              <a:srgbClr val="000000">
                <a:alpha val="26250"/>
              </a:srgbClr>
            </a:outerShdw>
          </a:effectLst>
        </p:grpSpPr>
        <p:sp>
          <p:nvSpPr>
            <p:cNvPr id="12" name="Rectangle 12"/>
            <p:cNvSpPr/>
            <p:nvPr/>
          </p:nvSpPr>
          <p:spPr>
            <a:xfrm>
              <a:off x="571500" y="1285875"/>
              <a:ext cx="5381625" cy="2428875"/>
            </a:xfrm>
            <a:prstGeom prst="roundRect">
              <a:avLst>
                <a:gd name="adj" fmla="val 470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13" name="Rectangle 13"/>
            <p:cNvSpPr/>
            <p:nvPr/>
          </p:nvSpPr>
          <p:spPr>
            <a:xfrm>
              <a:off x="714375" y="1428750"/>
              <a:ext cx="342900" cy="342900"/>
            </a:xfrm>
            <a:prstGeom prst="roundRect">
              <a:avLst>
                <a:gd name="adj" fmla="val 22222"/>
              </a:avLst>
            </a:prstGeom>
            <a:solidFill>
              <a:srgbClr val="172554"/>
            </a:solidFill>
            <a:ln>
              <a:noFill/>
            </a:ln>
            <a:effectLst>
              <a:outerShdw blurRad="95250" dist="28575" dir="5400000" algn="ctr" rotWithShape="0">
                <a:srgbClr val="000000">
                  <a:alpha val="26250"/>
                </a:srgbClr>
              </a:outerShdw>
            </a:effectLst>
          </p:spPr>
        </p:sp>
        <p:grpSp>
          <p:nvGrpSpPr>
            <p:cNvPr id="16" name="Group 16"/>
            <p:cNvGrpSpPr/>
            <p:nvPr/>
          </p:nvGrpSpPr>
          <p:grpSpPr>
            <a:xfrm>
              <a:off x="803675" y="1528762"/>
              <a:ext cx="155005" cy="142876"/>
              <a:chOff x="803675" y="1528762"/>
              <a:chExt cx="155005" cy="142876"/>
            </a:xfrm>
          </p:grpSpPr>
          <p:sp>
            <p:nvSpPr>
              <p:cNvPr id="14" name="Freeform 14"/>
              <p:cNvSpPr/>
              <p:nvPr/>
            </p:nvSpPr>
            <p:spPr>
              <a:xfrm>
                <a:off x="803675" y="152876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9050">
                <a:solidFill>
                  <a:srgbClr val="38BDF8"/>
                </a:solidFill>
              </a:ln>
              <a:effectLst>
                <a:outerShdw blurRad="95250" dist="28575" dir="5400000" algn="ctr" rotWithShape="0">
                  <a:srgbClr val="000000">
                    <a:alpha val="26250"/>
                  </a:srgbClr>
                </a:outerShdw>
              </a:effectLst>
            </p:spPr>
          </p:sp>
          <p:sp>
            <p:nvSpPr>
              <p:cNvPr id="15" name="Freeform 15"/>
              <p:cNvSpPr/>
              <p:nvPr/>
            </p:nvSpPr>
            <p:spPr>
              <a:xfrm>
                <a:off x="909638" y="1639888"/>
                <a:ext cx="47625" cy="31750"/>
              </a:xfrm>
              <a:custGeom>
                <a:avLst/>
                <a:gdLst/>
                <a:ahLst/>
                <a:cxnLst/>
                <a:rect l="l" t="t" r="r" b="b"/>
                <a:pathLst>
                  <a:path w="47625" h="31750">
                    <a:moveTo>
                      <a:pt x="0" y="15875"/>
                    </a:moveTo>
                    <a:lnTo>
                      <a:pt x="15875" y="31750"/>
                    </a:lnTo>
                    <a:lnTo>
                      <a:pt x="47625" y="0"/>
                    </a:lnTo>
                  </a:path>
                </a:pathLst>
              </a:custGeom>
              <a:noFill/>
              <a:ln w="19050">
                <a:solidFill>
                  <a:srgbClr val="38BDF8"/>
                </a:solidFill>
              </a:ln>
              <a:effectLst>
                <a:outerShdw blurRad="95250" dist="28575" dir="5400000" algn="ctr" rotWithShape="0">
                  <a:srgbClr val="000000">
                    <a:alpha val="26250"/>
                  </a:srgbClr>
                </a:outerShdw>
              </a:effectLst>
            </p:spPr>
          </p:sp>
        </p:grpSp>
        <p:sp>
          <p:nvSpPr>
            <p:cNvPr id="17" name="TextBox 17"/>
            <p:cNvSpPr txBox="1"/>
            <p:nvPr/>
          </p:nvSpPr>
          <p:spPr>
            <a:xfrm>
              <a:off x="1176338" y="1469231"/>
              <a:ext cx="2257479"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AOP Global Exception Handling</a:t>
              </a:r>
            </a:p>
          </p:txBody>
        </p:sp>
        <p:sp>
          <p:nvSpPr>
            <p:cNvPr id="18" name="TextBox 18"/>
            <p:cNvSpPr txBox="1"/>
            <p:nvPr/>
          </p:nvSpPr>
          <p:spPr>
            <a:xfrm>
              <a:off x="1179195" y="1655445"/>
              <a:ext cx="3299270"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93C5FD"/>
                  </a:solidFill>
                  <a:latin typeface="Segoe UI"/>
                  <a:ea typeface="Microsoft YaHei"/>
                  <a:cs typeface="Segoe UI"/>
                </a:rPr>
                <a:t>Bắt và chuẩn hóa ngoại lệ tập trung qua ControllerAdvice</a:t>
              </a:r>
            </a:p>
          </p:txBody>
        </p:sp>
        <p:sp>
          <p:nvSpPr>
            <p:cNvPr id="19" name="Line 19"/>
            <p:cNvSpPr/>
            <p:nvPr/>
          </p:nvSpPr>
          <p:spPr>
            <a:xfrm>
              <a:off x="714375" y="1905000"/>
              <a:ext cx="5095875" cy="9525"/>
            </a:xfrm>
            <a:custGeom>
              <a:avLst/>
              <a:gdLst/>
              <a:ahLst/>
              <a:cxnLst/>
              <a:rect l="l" t="t" r="r" b="b"/>
              <a:pathLst>
                <a:path w="5095875" h="9525">
                  <a:moveTo>
                    <a:pt x="0" y="0"/>
                  </a:moveTo>
                  <a:lnTo>
                    <a:pt x="5095875" y="0"/>
                  </a:lnTo>
                </a:path>
              </a:pathLst>
            </a:custGeom>
            <a:noFill/>
            <a:ln w="9525">
              <a:solidFill>
                <a:srgbClr val="334155"/>
              </a:solidFill>
            </a:ln>
          </p:spPr>
        </p:sp>
        <p:sp>
          <p:nvSpPr>
            <p:cNvPr id="20" name="TextBox 20"/>
            <p:cNvSpPr txBox="1"/>
            <p:nvPr/>
          </p:nvSpPr>
          <p:spPr>
            <a:xfrm>
              <a:off x="702469" y="2041922"/>
              <a:ext cx="3974306"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Sử dụng </a:t>
              </a:r>
              <a:r>
                <a:rPr lang="zh-CN" sz="938" dirty="0">
                  <a:solidFill>
                    <a:srgbClr val="38BDF8"/>
                  </a:solidFill>
                  <a:latin typeface="Consolas"/>
                  <a:ea typeface="Microsoft YaHei"/>
                  <a:cs typeface="Consolas"/>
                </a:rPr>
                <a:t>@RestControllerAdvice</a:t>
              </a:r>
              <a:r>
                <a:rPr lang="zh-CN" sz="938" dirty="0">
                  <a:solidFill>
                    <a:srgbClr val="94A3B8"/>
                  </a:solidFill>
                  <a:latin typeface="Segoe UI"/>
                  <a:ea typeface="Microsoft YaHei"/>
                  <a:cs typeface="Segoe UI"/>
                </a:rPr>
                <a:t xml:space="preserve"> kết hợp cơ chế Interceptor AOP.</a:t>
              </a:r>
            </a:p>
          </p:txBody>
        </p:sp>
        <p:sp>
          <p:nvSpPr>
            <p:cNvPr id="21" name="TextBox 21"/>
            <p:cNvSpPr txBox="1"/>
            <p:nvPr/>
          </p:nvSpPr>
          <p:spPr>
            <a:xfrm>
              <a:off x="702469" y="2232422"/>
              <a:ext cx="4286845"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Tách biệt hoàn toàn xử lý lỗi khỏi Business Logic trong Service layer.</a:t>
              </a:r>
            </a:p>
          </p:txBody>
        </p:sp>
        <p:sp>
          <p:nvSpPr>
            <p:cNvPr id="22" name="TextBox 22"/>
            <p:cNvSpPr txBox="1"/>
            <p:nvPr/>
          </p:nvSpPr>
          <p:spPr>
            <a:xfrm>
              <a:off x="702469" y="2422922"/>
              <a:ext cx="4236839"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Bắt trọn vẹn: </a:t>
              </a:r>
              <a:r>
                <a:rPr lang="zh-CN" sz="938" dirty="0">
                  <a:solidFill>
                    <a:srgbClr val="F87171"/>
                  </a:solidFill>
                  <a:latin typeface="Consolas"/>
                  <a:ea typeface="Microsoft YaHei"/>
                  <a:cs typeface="Consolas"/>
                </a:rPr>
                <a:t>MethodArgumentNotValidException</a:t>
              </a:r>
              <a:r>
                <a:rPr lang="zh-CN" sz="938" dirty="0">
                  <a:solidFill>
                    <a:srgbClr val="94A3B8"/>
                  </a:solidFill>
                  <a:latin typeface="Segoe UI"/>
                  <a:ea typeface="Microsoft YaHei"/>
                  <a:cs typeface="Segoe UI"/>
                </a:rPr>
                <a:t xml:space="preserve"> (Validation Bean),</a:t>
              </a:r>
            </a:p>
          </p:txBody>
        </p:sp>
        <p:sp>
          <p:nvSpPr>
            <p:cNvPr id="23" name="TextBox 23"/>
            <p:cNvSpPr txBox="1"/>
            <p:nvPr/>
          </p:nvSpPr>
          <p:spPr>
            <a:xfrm>
              <a:off x="702469" y="2594372"/>
              <a:ext cx="383053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FBBF24"/>
                  </a:solidFill>
                  <a:latin typeface="Consolas"/>
                  <a:ea typeface="Microsoft YaHei"/>
                  <a:cs typeface="Consolas"/>
                </a:rPr>
                <a:t>ResourceNotFoundException</a:t>
              </a:r>
              <a:r>
                <a:rPr lang="zh-CN" sz="938" dirty="0">
                  <a:solidFill>
                    <a:srgbClr val="94A3B8"/>
                  </a:solidFill>
                  <a:latin typeface="Segoe UI"/>
                  <a:ea typeface="Microsoft YaHei"/>
                  <a:cs typeface="Segoe UI"/>
                </a:rPr>
                <a:t xml:space="preserve">, và </a:t>
              </a:r>
              <a:r>
                <a:rPr lang="zh-CN" sz="938" dirty="0">
                  <a:solidFill>
                    <a:srgbClr val="F87171"/>
                  </a:solidFill>
                  <a:latin typeface="Consolas"/>
                  <a:ea typeface="Microsoft YaHei"/>
                  <a:cs typeface="Consolas"/>
                </a:rPr>
                <a:t>InsufficientBalanceException</a:t>
              </a:r>
              <a:r>
                <a:rPr lang="zh-CN" sz="938" dirty="0">
                  <a:solidFill>
                    <a:srgbClr val="94A3B8"/>
                  </a:solidFill>
                  <a:latin typeface="Segoe UI"/>
                  <a:ea typeface="Microsoft YaHei"/>
                  <a:cs typeface="Segoe UI"/>
                </a:rPr>
                <a:t>.</a:t>
              </a:r>
            </a:p>
          </p:txBody>
        </p:sp>
        <p:sp>
          <p:nvSpPr>
            <p:cNvPr id="24" name="TextBox 24"/>
            <p:cNvSpPr txBox="1"/>
            <p:nvPr/>
          </p:nvSpPr>
          <p:spPr>
            <a:xfrm>
              <a:off x="702469" y="2784872"/>
              <a:ext cx="4580632"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Tuyệt đối không để lộ StackTrace thô ra ngoài Client (Bảo mật thông tin).</a:t>
              </a:r>
            </a:p>
          </p:txBody>
        </p:sp>
      </p:grpSp>
      <p:grpSp>
        <p:nvGrpSpPr>
          <p:cNvPr id="44" name="Group 44"/>
          <p:cNvGrpSpPr/>
          <p:nvPr/>
        </p:nvGrpSpPr>
        <p:grpSpPr>
          <a:xfrm>
            <a:off x="6238875" y="1285875"/>
            <a:ext cx="5381625" cy="2428875"/>
            <a:chOff x="6238875" y="1285875"/>
            <a:chExt cx="5381625" cy="2428875"/>
          </a:xfrm>
          <a:effectLst>
            <a:outerShdw blurRad="95250" dist="28575" dir="5400000" algn="ctr" rotWithShape="0">
              <a:srgbClr val="000000">
                <a:alpha val="26250"/>
              </a:srgbClr>
            </a:outerShdw>
          </a:effectLst>
        </p:grpSpPr>
        <p:sp>
          <p:nvSpPr>
            <p:cNvPr id="26" name="Rectangle 26"/>
            <p:cNvSpPr/>
            <p:nvPr/>
          </p:nvSpPr>
          <p:spPr>
            <a:xfrm>
              <a:off x="6238875" y="1285875"/>
              <a:ext cx="5381625" cy="2428875"/>
            </a:xfrm>
            <a:prstGeom prst="roundRect">
              <a:avLst>
                <a:gd name="adj" fmla="val 470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27" name="Rectangle 27"/>
            <p:cNvSpPr/>
            <p:nvPr/>
          </p:nvSpPr>
          <p:spPr>
            <a:xfrm>
              <a:off x="6381750" y="1428750"/>
              <a:ext cx="342900" cy="342900"/>
            </a:xfrm>
            <a:prstGeom prst="roundRect">
              <a:avLst>
                <a:gd name="adj" fmla="val 22222"/>
              </a:avLst>
            </a:prstGeom>
            <a:solidFill>
              <a:srgbClr val="1E1B4B"/>
            </a:solidFill>
            <a:ln>
              <a:noFill/>
            </a:ln>
            <a:effectLst>
              <a:outerShdw blurRad="95250" dist="28575" dir="5400000" algn="ctr" rotWithShape="0">
                <a:srgbClr val="000000">
                  <a:alpha val="26250"/>
                </a:srgbClr>
              </a:outerShdw>
            </a:effectLst>
          </p:spPr>
        </p:sp>
        <p:grpSp>
          <p:nvGrpSpPr>
            <p:cNvPr id="32" name="Group 32"/>
            <p:cNvGrpSpPr/>
            <p:nvPr/>
          </p:nvGrpSpPr>
          <p:grpSpPr>
            <a:xfrm>
              <a:off x="6497638" y="1528762"/>
              <a:ext cx="111125" cy="142875"/>
              <a:chOff x="6497638" y="1528762"/>
              <a:chExt cx="111125" cy="142875"/>
            </a:xfrm>
          </p:grpSpPr>
          <p:sp>
            <p:nvSpPr>
              <p:cNvPr id="28" name="Freeform 28"/>
              <p:cNvSpPr/>
              <p:nvPr/>
            </p:nvSpPr>
            <p:spPr>
              <a:xfrm>
                <a:off x="6569075" y="1528762"/>
                <a:ext cx="39688" cy="39687"/>
              </a:xfrm>
              <a:custGeom>
                <a:avLst/>
                <a:gdLst/>
                <a:ahLst/>
                <a:cxnLst/>
                <a:rect l="l" t="t" r="r" b="b"/>
                <a:pathLst>
                  <a:path w="39688" h="39687">
                    <a:moveTo>
                      <a:pt x="0" y="0"/>
                    </a:moveTo>
                    <a:lnTo>
                      <a:pt x="0" y="31750"/>
                    </a:lnTo>
                    <a:cubicBezTo>
                      <a:pt x="0" y="36134"/>
                      <a:pt x="3554" y="39687"/>
                      <a:pt x="7938" y="39687"/>
                    </a:cubicBezTo>
                    <a:lnTo>
                      <a:pt x="39688" y="39687"/>
                    </a:lnTo>
                  </a:path>
                </a:pathLst>
              </a:custGeom>
              <a:noFill/>
              <a:ln w="19050">
                <a:solidFill>
                  <a:srgbClr val="C4B5FD"/>
                </a:solidFill>
              </a:ln>
              <a:effectLst>
                <a:outerShdw blurRad="95250" dist="28575" dir="5400000" algn="ctr" rotWithShape="0">
                  <a:srgbClr val="000000">
                    <a:alpha val="26250"/>
                  </a:srgbClr>
                </a:outerShdw>
              </a:effectLst>
            </p:spPr>
          </p:sp>
          <p:sp>
            <p:nvSpPr>
              <p:cNvPr id="29" name="Freeform 29"/>
              <p:cNvSpPr/>
              <p:nvPr/>
            </p:nvSpPr>
            <p:spPr>
              <a:xfrm>
                <a:off x="6497638" y="1528762"/>
                <a:ext cx="111125" cy="142875"/>
              </a:xfrm>
              <a:custGeom>
                <a:avLst/>
                <a:gdLst/>
                <a:ahLst/>
                <a:cxnLst/>
                <a:rect l="l" t="t" r="r" b="b"/>
                <a:pathLst>
                  <a:path w="111125" h="142875">
                    <a:moveTo>
                      <a:pt x="95250" y="142875"/>
                    </a:moveTo>
                    <a:lnTo>
                      <a:pt x="15875" y="142875"/>
                    </a:lnTo>
                    <a:cubicBezTo>
                      <a:pt x="7107" y="142875"/>
                      <a:pt x="0" y="135768"/>
                      <a:pt x="0" y="127000"/>
                    </a:cubicBezTo>
                    <a:lnTo>
                      <a:pt x="0" y="15875"/>
                    </a:lnTo>
                    <a:cubicBezTo>
                      <a:pt x="0" y="7107"/>
                      <a:pt x="7107" y="0"/>
                      <a:pt x="15875" y="0"/>
                    </a:cubicBezTo>
                    <a:lnTo>
                      <a:pt x="71438" y="0"/>
                    </a:lnTo>
                    <a:lnTo>
                      <a:pt x="111125" y="39687"/>
                    </a:lnTo>
                    <a:lnTo>
                      <a:pt x="111125" y="127000"/>
                    </a:lnTo>
                    <a:cubicBezTo>
                      <a:pt x="111125" y="135768"/>
                      <a:pt x="104018" y="142875"/>
                      <a:pt x="95250" y="142875"/>
                    </a:cubicBezTo>
                  </a:path>
                </a:pathLst>
              </a:custGeom>
              <a:noFill/>
              <a:ln w="19050">
                <a:solidFill>
                  <a:srgbClr val="C4B5FD"/>
                </a:solidFill>
              </a:ln>
              <a:effectLst>
                <a:outerShdw blurRad="95250" dist="28575" dir="5400000" algn="ctr" rotWithShape="0">
                  <a:srgbClr val="000000">
                    <a:alpha val="26250"/>
                  </a:srgbClr>
                </a:outerShdw>
              </a:effectLst>
            </p:spPr>
          </p:sp>
          <p:sp>
            <p:nvSpPr>
              <p:cNvPr id="30" name="Freeform 30"/>
              <p:cNvSpPr/>
              <p:nvPr/>
            </p:nvSpPr>
            <p:spPr>
              <a:xfrm>
                <a:off x="6529388" y="1608138"/>
                <a:ext cx="9525" cy="31750"/>
              </a:xfrm>
              <a:custGeom>
                <a:avLst/>
                <a:gdLst/>
                <a:ahLst/>
                <a:cxnLst/>
                <a:rect l="l" t="t" r="r" b="b"/>
                <a:pathLst>
                  <a:path w="9525" h="31750">
                    <a:moveTo>
                      <a:pt x="7938" y="0"/>
                    </a:moveTo>
                    <a:lnTo>
                      <a:pt x="0" y="15875"/>
                    </a:lnTo>
                    <a:lnTo>
                      <a:pt x="7938" y="31750"/>
                    </a:lnTo>
                  </a:path>
                </a:pathLst>
              </a:custGeom>
              <a:noFill/>
              <a:ln w="19050">
                <a:solidFill>
                  <a:srgbClr val="C4B5FD"/>
                </a:solidFill>
              </a:ln>
              <a:effectLst>
                <a:outerShdw blurRad="95250" dist="28575" dir="5400000" algn="ctr" rotWithShape="0">
                  <a:srgbClr val="000000">
                    <a:alpha val="26250"/>
                  </a:srgbClr>
                </a:outerShdw>
              </a:effectLst>
            </p:spPr>
          </p:sp>
          <p:sp>
            <p:nvSpPr>
              <p:cNvPr id="31" name="Freeform 31"/>
              <p:cNvSpPr/>
              <p:nvPr/>
            </p:nvSpPr>
            <p:spPr>
              <a:xfrm>
                <a:off x="6569075" y="1608138"/>
                <a:ext cx="9525" cy="31750"/>
              </a:xfrm>
              <a:custGeom>
                <a:avLst/>
                <a:gdLst/>
                <a:ahLst/>
                <a:cxnLst/>
                <a:rect l="l" t="t" r="r" b="b"/>
                <a:pathLst>
                  <a:path w="9525" h="31750">
                    <a:moveTo>
                      <a:pt x="0" y="0"/>
                    </a:moveTo>
                    <a:lnTo>
                      <a:pt x="7938" y="15875"/>
                    </a:lnTo>
                    <a:lnTo>
                      <a:pt x="0" y="31750"/>
                    </a:lnTo>
                  </a:path>
                </a:pathLst>
              </a:custGeom>
              <a:noFill/>
              <a:ln w="19050">
                <a:solidFill>
                  <a:srgbClr val="C4B5FD"/>
                </a:solidFill>
              </a:ln>
              <a:effectLst>
                <a:outerShdw blurRad="95250" dist="28575" dir="5400000" algn="ctr" rotWithShape="0">
                  <a:srgbClr val="000000">
                    <a:alpha val="26250"/>
                  </a:srgbClr>
                </a:outerShdw>
              </a:effectLst>
            </p:spPr>
          </p:sp>
        </p:grpSp>
        <p:sp>
          <p:nvSpPr>
            <p:cNvPr id="33" name="TextBox 33"/>
            <p:cNvSpPr txBox="1"/>
            <p:nvPr/>
          </p:nvSpPr>
          <p:spPr>
            <a:xfrm>
              <a:off x="6843712" y="1469231"/>
              <a:ext cx="4037451"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Cấu Trúc Báo Lỗi Chuẩn Hóa (Standard Error Schema)</a:t>
              </a:r>
            </a:p>
          </p:txBody>
        </p:sp>
        <p:sp>
          <p:nvSpPr>
            <p:cNvPr id="34" name="TextBox 34"/>
            <p:cNvSpPr txBox="1"/>
            <p:nvPr/>
          </p:nvSpPr>
          <p:spPr>
            <a:xfrm>
              <a:off x="6846570" y="1655445"/>
              <a:ext cx="3473291"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C4B5FD"/>
                  </a:solidFill>
                  <a:latin typeface="Segoe UI"/>
                  <a:ea typeface="Microsoft YaHei"/>
                  <a:cs typeface="Segoe UI"/>
                </a:rPr>
                <a:t>Đồng nhất 100% định dạng JSON trả về cho Mobile và Web App</a:t>
              </a:r>
            </a:p>
          </p:txBody>
        </p:sp>
        <p:sp>
          <p:nvSpPr>
            <p:cNvPr id="35" name="Line 35"/>
            <p:cNvSpPr/>
            <p:nvPr/>
          </p:nvSpPr>
          <p:spPr>
            <a:xfrm>
              <a:off x="6381750" y="1905000"/>
              <a:ext cx="5095875" cy="9525"/>
            </a:xfrm>
            <a:custGeom>
              <a:avLst/>
              <a:gdLst/>
              <a:ahLst/>
              <a:cxnLst/>
              <a:rect l="l" t="t" r="r" b="b"/>
              <a:pathLst>
                <a:path w="5095875" h="9525">
                  <a:moveTo>
                    <a:pt x="0" y="0"/>
                  </a:moveTo>
                  <a:lnTo>
                    <a:pt x="5095875" y="0"/>
                  </a:lnTo>
                </a:path>
              </a:pathLst>
            </a:custGeom>
            <a:noFill/>
            <a:ln w="9525">
              <a:solidFill>
                <a:srgbClr val="334155"/>
              </a:solidFill>
            </a:ln>
          </p:spPr>
        </p:sp>
        <p:sp>
          <p:nvSpPr>
            <p:cNvPr id="36" name="Rectangle 36"/>
            <p:cNvSpPr/>
            <p:nvPr/>
          </p:nvSpPr>
          <p:spPr>
            <a:xfrm>
              <a:off x="6381750" y="2000250"/>
              <a:ext cx="5095875" cy="1543050"/>
            </a:xfrm>
            <a:prstGeom prst="roundRect">
              <a:avLst>
                <a:gd name="adj" fmla="val 4938"/>
              </a:avLst>
            </a:prstGeom>
            <a:solidFill>
              <a:srgbClr val="0B1120"/>
            </a:solidFill>
            <a:ln w="9525">
              <a:solidFill>
                <a:srgbClr val="334155"/>
              </a:solidFill>
            </a:ln>
            <a:effectLst>
              <a:outerShdw blurRad="95250" dist="28575" dir="5400000" algn="ctr" rotWithShape="0">
                <a:srgbClr val="000000">
                  <a:alpha val="26250"/>
                </a:srgbClr>
              </a:outerShdw>
            </a:effectLst>
          </p:spPr>
        </p:sp>
        <p:sp>
          <p:nvSpPr>
            <p:cNvPr id="37" name="TextBox 37"/>
            <p:cNvSpPr txBox="1"/>
            <p:nvPr/>
          </p:nvSpPr>
          <p:spPr>
            <a:xfrm>
              <a:off x="6513195" y="2122170"/>
              <a:ext cx="8886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Consolas"/>
                  <a:ea typeface="Microsoft YaHei"/>
                  <a:cs typeface="Consolas"/>
                </a:rPr>
                <a:t>{</a:t>
              </a:r>
            </a:p>
          </p:txBody>
        </p:sp>
        <p:sp>
          <p:nvSpPr>
            <p:cNvPr id="38" name="TextBox 38"/>
            <p:cNvSpPr txBox="1"/>
            <p:nvPr/>
          </p:nvSpPr>
          <p:spPr>
            <a:xfrm>
              <a:off x="6656070" y="2312670"/>
              <a:ext cx="2357152"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"timestamp"</a:t>
              </a:r>
              <a:r>
                <a:rPr lang="zh-CN" sz="900" dirty="0">
                  <a:solidFill>
                    <a:srgbClr val="94A3B8"/>
                  </a:solidFill>
                  <a:latin typeface="Consolas"/>
                  <a:ea typeface="Microsoft YaHei"/>
                  <a:cs typeface="Consolas"/>
                </a:rPr>
                <a:t>: "2026-09-25T14:30:00Z",</a:t>
              </a:r>
            </a:p>
          </p:txBody>
        </p:sp>
        <p:sp>
          <p:nvSpPr>
            <p:cNvPr id="39" name="TextBox 39"/>
            <p:cNvSpPr txBox="1"/>
            <p:nvPr/>
          </p:nvSpPr>
          <p:spPr>
            <a:xfrm>
              <a:off x="6656070" y="2484120"/>
              <a:ext cx="246516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"status"</a:t>
              </a:r>
              <a:r>
                <a:rPr lang="zh-CN" sz="900" dirty="0">
                  <a:solidFill>
                    <a:srgbClr val="94A3B8"/>
                  </a:solidFill>
                  <a:latin typeface="Consolas"/>
                  <a:ea typeface="Microsoft YaHei"/>
                  <a:cs typeface="Consolas"/>
                </a:rPr>
                <a:t xml:space="preserve">: </a:t>
              </a:r>
              <a:r>
                <a:rPr lang="zh-CN" sz="900" dirty="0">
                  <a:solidFill>
                    <a:srgbClr val="F87171"/>
                  </a:solidFill>
                  <a:latin typeface="Consolas"/>
                  <a:ea typeface="Microsoft YaHei"/>
                  <a:cs typeface="Consolas"/>
                </a:rPr>
                <a:t>400</a:t>
              </a:r>
              <a:r>
                <a:rPr lang="zh-CN" sz="900" dirty="0">
                  <a:solidFill>
                    <a:srgbClr val="94A3B8"/>
                  </a:solidFill>
                  <a:latin typeface="Consolas"/>
                  <a:ea typeface="Microsoft YaHei"/>
                  <a:cs typeface="Consolas"/>
                </a:rPr>
                <a:t xml:space="preserve">, </a:t>
              </a:r>
              <a:r>
                <a:rPr lang="zh-CN" sz="900" dirty="0">
                  <a:solidFill>
                    <a:srgbClr val="38BDF8"/>
                  </a:solidFill>
                  <a:latin typeface="Consolas"/>
                  <a:ea typeface="Microsoft YaHei"/>
                  <a:cs typeface="Consolas"/>
                </a:rPr>
                <a:t>"error"</a:t>
              </a:r>
              <a:r>
                <a:rPr lang="zh-CN" sz="900" dirty="0">
                  <a:solidFill>
                    <a:srgbClr val="94A3B8"/>
                  </a:solidFill>
                  <a:latin typeface="Consolas"/>
                  <a:ea typeface="Microsoft YaHei"/>
                  <a:cs typeface="Consolas"/>
                </a:rPr>
                <a:t>: "BAD_REQUEST",</a:t>
              </a:r>
            </a:p>
          </p:txBody>
        </p:sp>
        <p:sp>
          <p:nvSpPr>
            <p:cNvPr id="40" name="TextBox 40"/>
            <p:cNvSpPr txBox="1"/>
            <p:nvPr/>
          </p:nvSpPr>
          <p:spPr>
            <a:xfrm>
              <a:off x="6656070" y="2655570"/>
              <a:ext cx="241115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"errorCode"</a:t>
              </a:r>
              <a:r>
                <a:rPr lang="zh-CN" sz="900" dirty="0">
                  <a:solidFill>
                    <a:srgbClr val="94A3B8"/>
                  </a:solidFill>
                  <a:latin typeface="Consolas"/>
                  <a:ea typeface="Microsoft YaHei"/>
                  <a:cs typeface="Consolas"/>
                </a:rPr>
                <a:t xml:space="preserve">: </a:t>
              </a:r>
              <a:r>
                <a:rPr lang="zh-CN" sz="900" dirty="0">
                  <a:solidFill>
                    <a:srgbClr val="FBBF24"/>
                  </a:solidFill>
                  <a:latin typeface="Consolas"/>
                  <a:ea typeface="Microsoft YaHei"/>
                  <a:cs typeface="Consolas"/>
                </a:rPr>
                <a:t>"ERR_INSUFFICIENT_FUNDS"</a:t>
              </a:r>
              <a:r>
                <a:rPr lang="zh-CN" sz="900" dirty="0">
                  <a:solidFill>
                    <a:srgbClr val="94A3B8"/>
                  </a:solidFill>
                  <a:latin typeface="Consolas"/>
                  <a:ea typeface="Microsoft YaHei"/>
                  <a:cs typeface="Consolas"/>
                </a:rPr>
                <a:t>,</a:t>
              </a:r>
            </a:p>
          </p:txBody>
        </p:sp>
        <p:sp>
          <p:nvSpPr>
            <p:cNvPr id="41" name="TextBox 41"/>
            <p:cNvSpPr txBox="1"/>
            <p:nvPr/>
          </p:nvSpPr>
          <p:spPr>
            <a:xfrm>
              <a:off x="6656070" y="2827020"/>
              <a:ext cx="3617309"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"message"</a:t>
              </a:r>
              <a:r>
                <a:rPr lang="zh-CN" sz="900" dirty="0">
                  <a:solidFill>
                    <a:srgbClr val="94A3B8"/>
                  </a:solidFill>
                  <a:latin typeface="Consolas"/>
                  <a:ea typeface="Microsoft YaHei"/>
                  <a:cs typeface="Consolas"/>
                </a:rPr>
                <a:t>: "Số dư khả dụng không đủ để thực hiện giao dịch",</a:t>
              </a:r>
            </a:p>
          </p:txBody>
        </p:sp>
        <p:sp>
          <p:nvSpPr>
            <p:cNvPr id="42" name="TextBox 42"/>
            <p:cNvSpPr txBox="1"/>
            <p:nvPr/>
          </p:nvSpPr>
          <p:spPr>
            <a:xfrm>
              <a:off x="6656070" y="2998470"/>
              <a:ext cx="3245263"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38BDF8"/>
                  </a:solidFill>
                  <a:latin typeface="Consolas"/>
                  <a:ea typeface="Microsoft YaHei"/>
                  <a:cs typeface="Consolas"/>
                </a:rPr>
                <a:t>"path"</a:t>
              </a:r>
              <a:r>
                <a:rPr lang="zh-CN" sz="900" dirty="0">
                  <a:solidFill>
                    <a:srgbClr val="94A3B8"/>
                  </a:solidFill>
                  <a:latin typeface="Consolas"/>
                  <a:ea typeface="Microsoft YaHei"/>
                  <a:cs typeface="Consolas"/>
                </a:rPr>
                <a:t xml:space="preserve">: "/api/v1/transfers", </a:t>
              </a:r>
              <a:r>
                <a:rPr lang="zh-CN" sz="900" dirty="0">
                  <a:solidFill>
                    <a:srgbClr val="38BDF8"/>
                  </a:solidFill>
                  <a:latin typeface="Consolas"/>
                  <a:ea typeface="Microsoft YaHei"/>
                  <a:cs typeface="Consolas"/>
                </a:rPr>
                <a:t>"traceId"</a:t>
              </a:r>
              <a:r>
                <a:rPr lang="zh-CN" sz="900" dirty="0">
                  <a:solidFill>
                    <a:srgbClr val="94A3B8"/>
                  </a:solidFill>
                  <a:latin typeface="Consolas"/>
                  <a:ea typeface="Microsoft YaHei"/>
                  <a:cs typeface="Consolas"/>
                </a:rPr>
                <a:t>: "d8a1f2b4c5"</a:t>
              </a:r>
            </a:p>
          </p:txBody>
        </p:sp>
        <p:sp>
          <p:nvSpPr>
            <p:cNvPr id="43" name="TextBox 43"/>
            <p:cNvSpPr txBox="1"/>
            <p:nvPr/>
          </p:nvSpPr>
          <p:spPr>
            <a:xfrm>
              <a:off x="6513195" y="3227070"/>
              <a:ext cx="88868"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8FAFC"/>
                  </a:solidFill>
                  <a:latin typeface="Consolas"/>
                  <a:ea typeface="Microsoft YaHei"/>
                  <a:cs typeface="Consolas"/>
                </a:rPr>
                <a:t>}</a:t>
              </a:r>
            </a:p>
          </p:txBody>
        </p:sp>
      </p:grpSp>
      <p:grpSp>
        <p:nvGrpSpPr>
          <p:cNvPr id="56" name="Group 56"/>
          <p:cNvGrpSpPr/>
          <p:nvPr/>
        </p:nvGrpSpPr>
        <p:grpSpPr>
          <a:xfrm>
            <a:off x="571500" y="3857625"/>
            <a:ext cx="5381625" cy="2428875"/>
            <a:chOff x="571500" y="3857625"/>
            <a:chExt cx="5381625" cy="2428875"/>
          </a:xfrm>
          <a:effectLst>
            <a:outerShdw blurRad="95250" dist="28575" dir="5400000" algn="ctr" rotWithShape="0">
              <a:srgbClr val="000000">
                <a:alpha val="26250"/>
              </a:srgbClr>
            </a:outerShdw>
          </a:effectLst>
        </p:grpSpPr>
        <p:sp>
          <p:nvSpPr>
            <p:cNvPr id="45" name="Rectangle 45"/>
            <p:cNvSpPr/>
            <p:nvPr/>
          </p:nvSpPr>
          <p:spPr>
            <a:xfrm>
              <a:off x="571500" y="3857625"/>
              <a:ext cx="5381625" cy="2428875"/>
            </a:xfrm>
            <a:prstGeom prst="roundRect">
              <a:avLst>
                <a:gd name="adj" fmla="val 470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46" name="Rectangle 46"/>
            <p:cNvSpPr/>
            <p:nvPr/>
          </p:nvSpPr>
          <p:spPr>
            <a:xfrm>
              <a:off x="714375" y="4000500"/>
              <a:ext cx="342900" cy="342900"/>
            </a:xfrm>
            <a:prstGeom prst="roundRect">
              <a:avLst>
                <a:gd name="adj" fmla="val 22222"/>
              </a:avLst>
            </a:prstGeom>
            <a:solidFill>
              <a:srgbClr val="064E3B"/>
            </a:solidFill>
            <a:ln>
              <a:noFill/>
            </a:ln>
            <a:effectLst>
              <a:outerShdw blurRad="95250" dist="28575" dir="5400000" algn="ctr" rotWithShape="0">
                <a:srgbClr val="000000">
                  <a:alpha val="26250"/>
                </a:srgbClr>
              </a:outerShdw>
            </a:effectLst>
          </p:spPr>
        </p:sp>
        <p:sp>
          <p:nvSpPr>
            <p:cNvPr id="47" name="Freeform 47"/>
            <p:cNvSpPr/>
            <p:nvPr/>
          </p:nvSpPr>
          <p:spPr>
            <a:xfrm>
              <a:off x="830262" y="4132262"/>
              <a:ext cx="119062" cy="79375"/>
            </a:xfrm>
            <a:custGeom>
              <a:avLst/>
              <a:gdLst/>
              <a:ahLst/>
              <a:cxnLst/>
              <a:rect l="l" t="t" r="r" b="b"/>
              <a:pathLst>
                <a:path w="119062" h="79375">
                  <a:moveTo>
                    <a:pt x="0" y="39688"/>
                  </a:moveTo>
                  <a:lnTo>
                    <a:pt x="39687" y="79375"/>
                  </a:lnTo>
                  <a:lnTo>
                    <a:pt x="119062" y="0"/>
                  </a:lnTo>
                </a:path>
              </a:pathLst>
            </a:custGeom>
            <a:noFill/>
            <a:ln w="19050">
              <a:solidFill>
                <a:srgbClr val="4ADE80"/>
              </a:solidFill>
            </a:ln>
            <a:effectLst>
              <a:outerShdw blurRad="95250" dist="28575" dir="5400000" algn="ctr" rotWithShape="0">
                <a:srgbClr val="000000">
                  <a:alpha val="26250"/>
                </a:srgbClr>
              </a:outerShdw>
            </a:effectLst>
          </p:spPr>
        </p:sp>
        <p:sp>
          <p:nvSpPr>
            <p:cNvPr id="48" name="TextBox 48"/>
            <p:cNvSpPr txBox="1"/>
            <p:nvPr/>
          </p:nvSpPr>
          <p:spPr>
            <a:xfrm>
              <a:off x="1176338" y="4040981"/>
              <a:ext cx="3486132"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Chiến Lược Kiểm Thử (Unit &amp; Integration Test)</a:t>
              </a:r>
            </a:p>
          </p:txBody>
        </p:sp>
        <p:sp>
          <p:nvSpPr>
            <p:cNvPr id="49" name="TextBox 49"/>
            <p:cNvSpPr txBox="1"/>
            <p:nvPr/>
          </p:nvSpPr>
          <p:spPr>
            <a:xfrm>
              <a:off x="1179195" y="4227195"/>
              <a:ext cx="3665315"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86EFAC"/>
                  </a:solidFill>
                  <a:latin typeface="Segoe UI"/>
                  <a:ea typeface="Microsoft YaHei"/>
                  <a:cs typeface="Segoe UI"/>
                </a:rPr>
                <a:t>Kiểm thử toàn diện từ Service Business Logic đến API Controller</a:t>
              </a:r>
            </a:p>
          </p:txBody>
        </p:sp>
        <p:sp>
          <p:nvSpPr>
            <p:cNvPr id="50" name="Line 50"/>
            <p:cNvSpPr/>
            <p:nvPr/>
          </p:nvSpPr>
          <p:spPr>
            <a:xfrm>
              <a:off x="714375" y="4476750"/>
              <a:ext cx="5095875" cy="9525"/>
            </a:xfrm>
            <a:custGeom>
              <a:avLst/>
              <a:gdLst/>
              <a:ahLst/>
              <a:cxnLst/>
              <a:rect l="l" t="t" r="r" b="b"/>
              <a:pathLst>
                <a:path w="5095875" h="9525">
                  <a:moveTo>
                    <a:pt x="0" y="0"/>
                  </a:moveTo>
                  <a:lnTo>
                    <a:pt x="5095875" y="0"/>
                  </a:lnTo>
                </a:path>
              </a:pathLst>
            </a:custGeom>
            <a:noFill/>
            <a:ln w="9525">
              <a:solidFill>
                <a:srgbClr val="334155"/>
              </a:solidFill>
            </a:ln>
          </p:spPr>
        </p:sp>
        <p:sp>
          <p:nvSpPr>
            <p:cNvPr id="51" name="TextBox 51"/>
            <p:cNvSpPr txBox="1"/>
            <p:nvPr/>
          </p:nvSpPr>
          <p:spPr>
            <a:xfrm>
              <a:off x="702469" y="4613672"/>
              <a:ext cx="4343102"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4ADE80"/>
                  </a:solidFill>
                  <a:latin typeface="Segoe UI"/>
                  <a:ea typeface="Microsoft YaHei"/>
                  <a:cs typeface="Segoe UI"/>
                </a:rPr>
                <a:t>Tầng Service:</a:t>
              </a:r>
              <a:r>
                <a:rPr lang="zh-CN" sz="938" dirty="0">
                  <a:solidFill>
                    <a:srgbClr val="94A3B8"/>
                  </a:solidFill>
                  <a:latin typeface="Segoe UI"/>
                  <a:ea typeface="Microsoft YaHei"/>
                  <a:cs typeface="Segoe UI"/>
                </a:rPr>
                <a:t xml:space="preserve"> Dùng JUnit 5 + Mockito giả lập Repository &amp; FeignClient.</a:t>
              </a:r>
            </a:p>
          </p:txBody>
        </p:sp>
        <p:sp>
          <p:nvSpPr>
            <p:cNvPr id="52" name="TextBox 52"/>
            <p:cNvSpPr txBox="1"/>
            <p:nvPr/>
          </p:nvSpPr>
          <p:spPr>
            <a:xfrm>
              <a:off x="702469" y="4804172"/>
              <a:ext cx="454312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Kiểm thử các kịch bản biên: Số dư = 0, nạp âm tiền, tài khoản không hợp lệ.</a:t>
              </a:r>
            </a:p>
          </p:txBody>
        </p:sp>
        <p:sp>
          <p:nvSpPr>
            <p:cNvPr id="53" name="TextBox 53"/>
            <p:cNvSpPr txBox="1"/>
            <p:nvPr/>
          </p:nvSpPr>
          <p:spPr>
            <a:xfrm>
              <a:off x="702469" y="5013722"/>
              <a:ext cx="343048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4ADE80"/>
                  </a:solidFill>
                  <a:latin typeface="Segoe UI"/>
                  <a:ea typeface="Microsoft YaHei"/>
                  <a:cs typeface="Segoe UI"/>
                </a:rPr>
                <a:t>Tầng Controller:</a:t>
              </a:r>
              <a:r>
                <a:rPr lang="zh-CN" sz="938" dirty="0">
                  <a:solidFill>
                    <a:srgbClr val="94A3B8"/>
                  </a:solidFill>
                  <a:latin typeface="Segoe UI"/>
                  <a:ea typeface="Microsoft YaHei"/>
                  <a:cs typeface="Segoe UI"/>
                </a:rPr>
                <a:t xml:space="preserve"> Dùng </a:t>
              </a:r>
              <a:r>
                <a:rPr lang="zh-CN" sz="938" dirty="0">
                  <a:solidFill>
                    <a:srgbClr val="F8FAFC"/>
                  </a:solidFill>
                  <a:latin typeface="Consolas"/>
                  <a:ea typeface="Microsoft YaHei"/>
                  <a:cs typeface="Consolas"/>
                </a:rPr>
                <a:t>@WebMvcTest</a:t>
              </a:r>
              <a:r>
                <a:rPr lang="zh-CN" sz="938" dirty="0">
                  <a:solidFill>
                    <a:srgbClr val="94A3B8"/>
                  </a:solidFill>
                  <a:latin typeface="Segoe UI"/>
                  <a:ea typeface="Microsoft YaHei"/>
                  <a:cs typeface="Segoe UI"/>
                </a:rPr>
                <a:t xml:space="preserve"> và </a:t>
              </a:r>
              <a:r>
                <a:rPr lang="zh-CN" sz="938" dirty="0">
                  <a:solidFill>
                    <a:srgbClr val="F8FAFC"/>
                  </a:solidFill>
                  <a:latin typeface="Consolas"/>
                  <a:ea typeface="Microsoft YaHei"/>
                  <a:cs typeface="Consolas"/>
                </a:rPr>
                <a:t>WebTestClient</a:t>
              </a:r>
              <a:r>
                <a:rPr lang="zh-CN" sz="938" dirty="0">
                  <a:solidFill>
                    <a:srgbClr val="94A3B8"/>
                  </a:solidFill>
                  <a:latin typeface="Segoe UI"/>
                  <a:ea typeface="Microsoft YaHei"/>
                  <a:cs typeface="Segoe UI"/>
                </a:rPr>
                <a:t>.</a:t>
              </a:r>
            </a:p>
          </p:txBody>
        </p:sp>
        <p:sp>
          <p:nvSpPr>
            <p:cNvPr id="54" name="TextBox 54"/>
            <p:cNvSpPr txBox="1"/>
            <p:nvPr/>
          </p:nvSpPr>
          <p:spPr>
            <a:xfrm>
              <a:off x="702469" y="5204222"/>
              <a:ext cx="3830538"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Kiểm tra validation payload DTO và mã phản hồi HTTP chính xác.</a:t>
              </a:r>
            </a:p>
          </p:txBody>
        </p:sp>
        <p:sp>
          <p:nvSpPr>
            <p:cNvPr id="55" name="TextBox 55"/>
            <p:cNvSpPr txBox="1"/>
            <p:nvPr/>
          </p:nvSpPr>
          <p:spPr>
            <a:xfrm>
              <a:off x="702469" y="5413772"/>
              <a:ext cx="3705523"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4ADE80"/>
                  </a:solidFill>
                  <a:latin typeface="Segoe UI"/>
                  <a:ea typeface="Microsoft YaHei"/>
                  <a:cs typeface="Segoe UI"/>
                </a:rPr>
                <a:t>Độ bao phủ Jacoco:</a:t>
              </a:r>
              <a:r>
                <a:rPr lang="zh-CN" sz="938" dirty="0">
                  <a:solidFill>
                    <a:srgbClr val="94A3B8"/>
                  </a:solidFill>
                  <a:latin typeface="Segoe UI"/>
                  <a:ea typeface="Microsoft YaHei"/>
                  <a:cs typeface="Segoe UI"/>
                </a:rPr>
                <a:t xml:space="preserve"> Đạt trên 85% Code Coverage toàn dự án.</a:t>
              </a:r>
            </a:p>
          </p:txBody>
        </p:sp>
      </p:grpSp>
      <p:grpSp>
        <p:nvGrpSpPr>
          <p:cNvPr id="68" name="Group 68"/>
          <p:cNvGrpSpPr/>
          <p:nvPr/>
        </p:nvGrpSpPr>
        <p:grpSpPr>
          <a:xfrm>
            <a:off x="6238875" y="3857625"/>
            <a:ext cx="5381625" cy="2428875"/>
            <a:chOff x="6238875" y="3857625"/>
            <a:chExt cx="5381625" cy="2428875"/>
          </a:xfrm>
          <a:effectLst>
            <a:outerShdw blurRad="95250" dist="28575" dir="5400000" algn="ctr" rotWithShape="0">
              <a:srgbClr val="000000">
                <a:alpha val="26250"/>
              </a:srgbClr>
            </a:outerShdw>
          </a:effectLst>
        </p:grpSpPr>
        <p:sp>
          <p:nvSpPr>
            <p:cNvPr id="57" name="Rectangle 57"/>
            <p:cNvSpPr/>
            <p:nvPr/>
          </p:nvSpPr>
          <p:spPr>
            <a:xfrm>
              <a:off x="6238875" y="3857625"/>
              <a:ext cx="5381625" cy="2428875"/>
            </a:xfrm>
            <a:prstGeom prst="roundRect">
              <a:avLst>
                <a:gd name="adj" fmla="val 4706"/>
              </a:avLst>
            </a:prstGeom>
            <a:solidFill>
              <a:srgbClr val="1E293B"/>
            </a:solidFill>
            <a:ln w="9525">
              <a:solidFill>
                <a:srgbClr val="334155"/>
              </a:solidFill>
            </a:ln>
            <a:effectLst>
              <a:outerShdw blurRad="95250" dist="28575" dir="5400000" algn="ctr" rotWithShape="0">
                <a:srgbClr val="000000">
                  <a:alpha val="26250"/>
                </a:srgbClr>
              </a:outerShdw>
            </a:effectLst>
          </p:spPr>
        </p:sp>
        <p:sp>
          <p:nvSpPr>
            <p:cNvPr id="58" name="Rectangle 58"/>
            <p:cNvSpPr/>
            <p:nvPr/>
          </p:nvSpPr>
          <p:spPr>
            <a:xfrm>
              <a:off x="6381750" y="4000500"/>
              <a:ext cx="342900" cy="342900"/>
            </a:xfrm>
            <a:prstGeom prst="roundRect">
              <a:avLst>
                <a:gd name="adj" fmla="val 22222"/>
              </a:avLst>
            </a:prstGeom>
            <a:solidFill>
              <a:srgbClr val="451A03"/>
            </a:solidFill>
            <a:ln>
              <a:noFill/>
            </a:ln>
            <a:effectLst>
              <a:outerShdw blurRad="95250" dist="28575" dir="5400000" algn="ctr" rotWithShape="0">
                <a:srgbClr val="000000">
                  <a:alpha val="26250"/>
                </a:srgbClr>
              </a:outerShdw>
            </a:effectLst>
          </p:spPr>
        </p:sp>
        <p:sp>
          <p:nvSpPr>
            <p:cNvPr id="59" name="Freeform 59"/>
            <p:cNvSpPr/>
            <p:nvPr/>
          </p:nvSpPr>
          <p:spPr>
            <a:xfrm>
              <a:off x="6481762" y="4108450"/>
              <a:ext cx="134937" cy="127000"/>
            </a:xfrm>
            <a:custGeom>
              <a:avLst/>
              <a:gdLst/>
              <a:ahLst/>
              <a:cxnLst/>
              <a:rect l="l" t="t" r="r" b="b"/>
              <a:pathLst>
                <a:path w="134937" h="127000">
                  <a:moveTo>
                    <a:pt x="103188" y="111125"/>
                  </a:moveTo>
                  <a:cubicBezTo>
                    <a:pt x="111955" y="111125"/>
                    <a:pt x="119062" y="118232"/>
                    <a:pt x="119062" y="127000"/>
                  </a:cubicBezTo>
                  <a:cubicBezTo>
                    <a:pt x="119062" y="118232"/>
                    <a:pt x="126170" y="111125"/>
                    <a:pt x="134937" y="111125"/>
                  </a:cubicBezTo>
                  <a:cubicBezTo>
                    <a:pt x="126170" y="111125"/>
                    <a:pt x="119062" y="104018"/>
                    <a:pt x="119062" y="95250"/>
                  </a:cubicBezTo>
                  <a:cubicBezTo>
                    <a:pt x="119062" y="104018"/>
                    <a:pt x="111955" y="111125"/>
                    <a:pt x="103188" y="111125"/>
                  </a:cubicBezTo>
                  <a:moveTo>
                    <a:pt x="103188" y="15875"/>
                  </a:moveTo>
                  <a:cubicBezTo>
                    <a:pt x="111955" y="15875"/>
                    <a:pt x="119062" y="22982"/>
                    <a:pt x="119062" y="31750"/>
                  </a:cubicBezTo>
                  <a:cubicBezTo>
                    <a:pt x="119062" y="22982"/>
                    <a:pt x="126170" y="15875"/>
                    <a:pt x="134937" y="15875"/>
                  </a:cubicBezTo>
                  <a:cubicBezTo>
                    <a:pt x="126170" y="15875"/>
                    <a:pt x="119062" y="8768"/>
                    <a:pt x="119062" y="0"/>
                  </a:cubicBezTo>
                  <a:cubicBezTo>
                    <a:pt x="119062" y="8768"/>
                    <a:pt x="111955" y="15875"/>
                    <a:pt x="103188" y="15875"/>
                  </a:cubicBezTo>
                  <a:moveTo>
                    <a:pt x="47625" y="111125"/>
                  </a:moveTo>
                  <a:cubicBezTo>
                    <a:pt x="47625" y="84822"/>
                    <a:pt x="68947" y="63500"/>
                    <a:pt x="95250" y="63500"/>
                  </a:cubicBezTo>
                  <a:cubicBezTo>
                    <a:pt x="68947" y="63500"/>
                    <a:pt x="47625" y="42178"/>
                    <a:pt x="47625" y="15875"/>
                  </a:cubicBezTo>
                  <a:cubicBezTo>
                    <a:pt x="47625" y="42178"/>
                    <a:pt x="26303" y="63500"/>
                    <a:pt x="0" y="63500"/>
                  </a:cubicBezTo>
                  <a:cubicBezTo>
                    <a:pt x="26303" y="63500"/>
                    <a:pt x="47625" y="84822"/>
                    <a:pt x="47625" y="111125"/>
                  </a:cubicBezTo>
                </a:path>
              </a:pathLst>
            </a:custGeom>
            <a:noFill/>
            <a:ln w="19050">
              <a:solidFill>
                <a:srgbClr val="FBBF24"/>
              </a:solidFill>
            </a:ln>
            <a:effectLst>
              <a:outerShdw blurRad="95250" dist="28575" dir="5400000" algn="ctr" rotWithShape="0">
                <a:srgbClr val="000000">
                  <a:alpha val="26250"/>
                </a:srgbClr>
              </a:outerShdw>
            </a:effectLst>
          </p:spPr>
        </p:sp>
        <p:sp>
          <p:nvSpPr>
            <p:cNvPr id="60" name="TextBox 60"/>
            <p:cNvSpPr txBox="1"/>
            <p:nvPr/>
          </p:nvSpPr>
          <p:spPr>
            <a:xfrm>
              <a:off x="6843712" y="4040981"/>
              <a:ext cx="2808797" cy="2286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1125" b="1" dirty="0">
                  <a:solidFill>
                    <a:srgbClr val="F8FAFC"/>
                  </a:solidFill>
                  <a:latin typeface="Segoe UI"/>
                  <a:ea typeface="Microsoft YaHei"/>
                  <a:cs typeface="Segoe UI"/>
                </a:rPr>
                <a:t>Kiến Trúc Sạch &amp; Quy Chuẩn Mã Nguồn</a:t>
              </a:r>
            </a:p>
          </p:txBody>
        </p:sp>
        <p:sp>
          <p:nvSpPr>
            <p:cNvPr id="61" name="TextBox 61"/>
            <p:cNvSpPr txBox="1"/>
            <p:nvPr/>
          </p:nvSpPr>
          <p:spPr>
            <a:xfrm>
              <a:off x="6846570" y="4227195"/>
              <a:ext cx="3617309" cy="18288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00" dirty="0">
                  <a:solidFill>
                    <a:srgbClr val="FDE68A"/>
                  </a:solidFill>
                  <a:latin typeface="Segoe UI"/>
                  <a:ea typeface="Microsoft YaHei"/>
                  <a:cs typeface="Segoe UI"/>
                </a:rPr>
                <a:t>Tuân thủ nguyên lý SOLID, Clean Code và kiểm soát nợ kỹ thuật</a:t>
              </a:r>
            </a:p>
          </p:txBody>
        </p:sp>
        <p:sp>
          <p:nvSpPr>
            <p:cNvPr id="62" name="Line 62"/>
            <p:cNvSpPr/>
            <p:nvPr/>
          </p:nvSpPr>
          <p:spPr>
            <a:xfrm>
              <a:off x="6381750" y="4476750"/>
              <a:ext cx="5095875" cy="9525"/>
            </a:xfrm>
            <a:custGeom>
              <a:avLst/>
              <a:gdLst/>
              <a:ahLst/>
              <a:cxnLst/>
              <a:rect l="l" t="t" r="r" b="b"/>
              <a:pathLst>
                <a:path w="5095875" h="9525">
                  <a:moveTo>
                    <a:pt x="0" y="0"/>
                  </a:moveTo>
                  <a:lnTo>
                    <a:pt x="5095875" y="0"/>
                  </a:lnTo>
                </a:path>
              </a:pathLst>
            </a:custGeom>
            <a:noFill/>
            <a:ln w="9525">
              <a:solidFill>
                <a:srgbClr val="334155"/>
              </a:solidFill>
            </a:ln>
          </p:spPr>
        </p:sp>
        <p:sp>
          <p:nvSpPr>
            <p:cNvPr id="63" name="TextBox 63"/>
            <p:cNvSpPr txBox="1"/>
            <p:nvPr/>
          </p:nvSpPr>
          <p:spPr>
            <a:xfrm>
              <a:off x="6369844" y="4613672"/>
              <a:ext cx="429934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FBBF24"/>
                  </a:solidFill>
                  <a:latin typeface="Segoe UI"/>
                  <a:ea typeface="Microsoft YaHei"/>
                  <a:cs typeface="Segoe UI"/>
                </a:rPr>
                <a:t>Layered Architecture:</a:t>
              </a:r>
              <a:r>
                <a:rPr lang="zh-CN" sz="938" dirty="0">
                  <a:solidFill>
                    <a:srgbClr val="94A3B8"/>
                  </a:solidFill>
                  <a:latin typeface="Segoe UI"/>
                  <a:ea typeface="Microsoft YaHei"/>
                  <a:cs typeface="Segoe UI"/>
                </a:rPr>
                <a:t xml:space="preserve"> Phân tầng rõ rệt Controller → Service → Repo.</a:t>
              </a:r>
            </a:p>
          </p:txBody>
        </p:sp>
        <p:sp>
          <p:nvSpPr>
            <p:cNvPr id="64" name="TextBox 64"/>
            <p:cNvSpPr txBox="1"/>
            <p:nvPr/>
          </p:nvSpPr>
          <p:spPr>
            <a:xfrm>
              <a:off x="6369844" y="4804172"/>
              <a:ext cx="3699272"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Dùng DTO/Mapper ngăn rò rỉ Entity nội bộ ra giao diện ngoài.</a:t>
              </a:r>
            </a:p>
          </p:txBody>
        </p:sp>
        <p:sp>
          <p:nvSpPr>
            <p:cNvPr id="65" name="TextBox 65"/>
            <p:cNvSpPr txBox="1"/>
            <p:nvPr/>
          </p:nvSpPr>
          <p:spPr>
            <a:xfrm>
              <a:off x="6369844" y="5013722"/>
              <a:ext cx="3899297"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FBBF24"/>
                  </a:solidFill>
                  <a:latin typeface="Segoe UI"/>
                  <a:ea typeface="Microsoft YaHei"/>
                  <a:cs typeface="Segoe UI"/>
                </a:rPr>
                <a:t>Distributed Tracing:</a:t>
              </a:r>
              <a:r>
                <a:rPr lang="zh-CN" sz="938" dirty="0">
                  <a:solidFill>
                    <a:srgbClr val="94A3B8"/>
                  </a:solidFill>
                  <a:latin typeface="Segoe UI"/>
                  <a:ea typeface="Microsoft YaHei"/>
                  <a:cs typeface="Segoe UI"/>
                </a:rPr>
                <a:t xml:space="preserve"> Tích hợp Micrometer Tracing gắn </a:t>
              </a:r>
              <a:r>
                <a:rPr lang="zh-CN" sz="938" dirty="0">
                  <a:solidFill>
                    <a:srgbClr val="F8FAFC"/>
                  </a:solidFill>
                  <a:latin typeface="Consolas"/>
                  <a:ea typeface="Microsoft YaHei"/>
                  <a:cs typeface="Consolas"/>
                </a:rPr>
                <a:t>traceId</a:t>
              </a:r>
            </a:p>
          </p:txBody>
        </p:sp>
        <p:sp>
          <p:nvSpPr>
            <p:cNvPr id="66" name="TextBox 66"/>
            <p:cNvSpPr txBox="1"/>
            <p:nvPr/>
          </p:nvSpPr>
          <p:spPr>
            <a:xfrm>
              <a:off x="6369844" y="5204222"/>
              <a:ext cx="4255591"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vào mọi log logback, dễ dàng truy vết sự cố xuyên qua 6 microservice.</a:t>
              </a:r>
            </a:p>
          </p:txBody>
        </p:sp>
        <p:sp>
          <p:nvSpPr>
            <p:cNvPr id="67" name="TextBox 67"/>
            <p:cNvSpPr txBox="1"/>
            <p:nvPr/>
          </p:nvSpPr>
          <p:spPr>
            <a:xfrm>
              <a:off x="6369844" y="5413772"/>
              <a:ext cx="4118074" cy="190500"/>
            </a:xfrm>
            <a:prstGeom prst="rect">
              <a:avLst/>
            </a:prstGeom>
            <a:noFill/>
            <a:ln>
              <a:noFill/>
            </a:ln>
            <a:effectLst>
              <a:outerShdw blurRad="95250" dist="28575" dir="5400000" algn="ctr" rotWithShape="0">
                <a:srgbClr val="000000">
                  <a:alpha val="26250"/>
                </a:srgbClr>
              </a:outerShdw>
            </a:effectLst>
          </p:spPr>
          <p:txBody>
            <a:bodyPr wrap="none" lIns="0" tIns="0" rIns="0" bIns="0" anchor="t" anchorCtr="0">
              <a:spAutoFit/>
            </a:bodyPr>
            <a:lstStyle/>
            <a:p>
              <a:pPr algn="l"/>
              <a:r>
                <a:rPr lang="zh-CN" sz="938" dirty="0">
                  <a:solidFill>
                    <a:srgbClr val="94A3B8"/>
                  </a:solidFill>
                  <a:latin typeface="Segoe UI"/>
                  <a:ea typeface="Microsoft YaHei"/>
                  <a:cs typeface="Segoe UI"/>
                </a:rPr>
                <a:t xml:space="preserve">• </a:t>
              </a:r>
              <a:r>
                <a:rPr lang="zh-CN" sz="938" b="1" dirty="0">
                  <a:solidFill>
                    <a:srgbClr val="FBBF24"/>
                  </a:solidFill>
                  <a:latin typeface="Segoe UI"/>
                  <a:ea typeface="Microsoft YaHei"/>
                  <a:cs typeface="Segoe UI"/>
                </a:rPr>
                <a:t>SonarQube Standard:</a:t>
              </a:r>
              <a:r>
                <a:rPr lang="zh-CN" sz="938" dirty="0">
                  <a:solidFill>
                    <a:srgbClr val="94A3B8"/>
                  </a:solidFill>
                  <a:latin typeface="Segoe UI"/>
                  <a:ea typeface="Microsoft YaHei"/>
                  <a:cs typeface="Segoe UI"/>
                </a:rPr>
                <a:t xml:space="preserve"> 0 Bugs, 0 Vulnerabilities, Maintainability A.</a:t>
              </a:r>
            </a:p>
          </p:txBody>
        </p:sp>
      </p:grpSp>
      <p:grpSp>
        <p:nvGrpSpPr>
          <p:cNvPr id="71" name="Group 71"/>
          <p:cNvGrpSpPr/>
          <p:nvPr/>
        </p:nvGrpSpPr>
        <p:grpSpPr>
          <a:xfrm>
            <a:off x="560070" y="6522720"/>
            <a:ext cx="11071860" cy="182880"/>
            <a:chOff x="560070" y="6522720"/>
            <a:chExt cx="11071860" cy="182880"/>
          </a:xfrm>
        </p:grpSpPr>
        <p:sp>
          <p:nvSpPr>
            <p:cNvPr id="69" name="TextBox 69"/>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70" name="TextBox 70"/>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10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image">
                                      <p:cBhvr>
                                        <p:cTn id="7" dur="400"/>
                                        <p:tgtEl>
                                          <p:spTgt spid="2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400"/>
                                        <p:tgtEl>
                                          <p:spTgt spid="4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ipe(left)">
                                      <p:cBhvr>
                                        <p:cTn id="15" dur="400"/>
                                        <p:tgtEl>
                                          <p:spTgt spid="5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slide(fromBottom)">
                                      <p:cBhvr>
                                        <p:cTn id="19"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4" grpId="0"/>
      <p:bldP spid="56"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06B6D4">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825367" cy="797719"/>
            <a:chOff x="548640" y="342900"/>
            <a:chExt cx="6825367" cy="797719"/>
          </a:xfrm>
        </p:grpSpPr>
        <p:sp>
          <p:nvSpPr>
            <p:cNvPr id="7" name="Rectangle 7"/>
            <p:cNvSpPr/>
            <p:nvPr/>
          </p:nvSpPr>
          <p:spPr>
            <a:xfrm>
              <a:off x="571500" y="342900"/>
              <a:ext cx="1714500" cy="247650"/>
            </a:xfrm>
            <a:prstGeom prst="roundRect">
              <a:avLst>
                <a:gd name="adj" fmla="val 50000"/>
              </a:avLst>
            </a:prstGeom>
            <a:solidFill>
              <a:srgbClr val="1E293B"/>
            </a:solidFill>
            <a:ln w="9525">
              <a:solidFill>
                <a:srgbClr val="06B6D4"/>
              </a:solidFill>
            </a:ln>
          </p:spPr>
        </p:sp>
        <p:sp>
          <p:nvSpPr>
            <p:cNvPr id="8" name="TextBox 8"/>
            <p:cNvSpPr txBox="1"/>
            <p:nvPr/>
          </p:nvSpPr>
          <p:spPr>
            <a:xfrm>
              <a:off x="907121" y="415766"/>
              <a:ext cx="1043258" cy="167640"/>
            </a:xfrm>
            <a:prstGeom prst="rect">
              <a:avLst/>
            </a:prstGeom>
            <a:noFill/>
            <a:ln>
              <a:noFill/>
            </a:ln>
          </p:spPr>
          <p:txBody>
            <a:bodyPr wrap="none" lIns="0" tIns="0" rIns="0" bIns="0" anchor="t" anchorCtr="0">
              <a:spAutoFit/>
            </a:bodyPr>
            <a:lstStyle/>
            <a:p>
              <a:pPr algn="ctr"/>
              <a:r>
                <a:rPr lang="zh-CN" sz="825" b="1" dirty="0">
                  <a:solidFill>
                    <a:srgbClr val="22D3EE"/>
                  </a:solidFill>
                  <a:latin typeface="Segoe UI"/>
                  <a:ea typeface="Microsoft YaHei"/>
                  <a:cs typeface="Segoe UI"/>
                </a:rPr>
                <a:t>BÀN GIAO &amp; HẠ TẦNG</a:t>
              </a:r>
            </a:p>
          </p:txBody>
        </p:sp>
        <p:sp>
          <p:nvSpPr>
            <p:cNvPr id="9" name="TextBox 9"/>
            <p:cNvSpPr txBox="1"/>
            <p:nvPr/>
          </p:nvSpPr>
          <p:spPr>
            <a:xfrm>
              <a:off x="548640" y="624840"/>
              <a:ext cx="6825367"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Sản Phẩm Bàn Giao &amp; Hạ Tầng Service Discovery (Eureka)</a:t>
              </a:r>
            </a:p>
          </p:txBody>
        </p:sp>
        <p:sp>
          <p:nvSpPr>
            <p:cNvPr id="10" name="TextBox 10"/>
            <p:cNvSpPr txBox="1"/>
            <p:nvPr/>
          </p:nvSpPr>
          <p:spPr>
            <a:xfrm>
              <a:off x="559118" y="942499"/>
              <a:ext cx="6284072"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Tổng hợp hiện vật dự án và minh chứng 6 microservices đã tự động đăng ký và kết nối thành công</a:t>
              </a:r>
            </a:p>
          </p:txBody>
        </p:sp>
      </p:grpSp>
      <p:grpSp>
        <p:nvGrpSpPr>
          <p:cNvPr id="75" name="Group 75"/>
          <p:cNvGrpSpPr/>
          <p:nvPr/>
        </p:nvGrpSpPr>
        <p:grpSpPr>
          <a:xfrm>
            <a:off x="571500" y="1285875"/>
            <a:ext cx="4286250" cy="5048250"/>
            <a:chOff x="571500" y="1285875"/>
            <a:chExt cx="4286250" cy="5048250"/>
          </a:xfrm>
          <a:effectLst>
            <a:outerShdw blurRad="95250" dist="28575" dir="5400000" algn="ctr" rotWithShape="0">
              <a:srgbClr val="000000">
                <a:alpha val="30000"/>
              </a:srgbClr>
            </a:outerShdw>
          </a:effectLst>
        </p:grpSpPr>
        <p:sp>
          <p:nvSpPr>
            <p:cNvPr id="12" name="Rectangle 12"/>
            <p:cNvSpPr/>
            <p:nvPr/>
          </p:nvSpPr>
          <p:spPr>
            <a:xfrm>
              <a:off x="571500" y="1285875"/>
              <a:ext cx="4286250" cy="5048250"/>
            </a:xfrm>
            <a:prstGeom prst="roundRect">
              <a:avLst>
                <a:gd name="adj" fmla="val 3111"/>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13" name="Rectangle 13"/>
            <p:cNvSpPr/>
            <p:nvPr/>
          </p:nvSpPr>
          <p:spPr>
            <a:xfrm>
              <a:off x="742950" y="1438275"/>
              <a:ext cx="2095500" cy="247650"/>
            </a:xfrm>
            <a:prstGeom prst="roundRect">
              <a:avLst>
                <a:gd name="adj" fmla="val 23077"/>
              </a:avLst>
            </a:prstGeom>
            <a:solidFill>
              <a:srgbClr val="1E293B"/>
            </a:solidFill>
            <a:ln>
              <a:noFill/>
            </a:ln>
            <a:effectLst>
              <a:outerShdw blurRad="95250" dist="28575" dir="5400000" algn="ctr" rotWithShape="0">
                <a:srgbClr val="000000">
                  <a:alpha val="30000"/>
                </a:srgbClr>
              </a:outerShdw>
            </a:effectLst>
          </p:spPr>
        </p:sp>
        <p:grpSp>
          <p:nvGrpSpPr>
            <p:cNvPr id="19" name="Group 19"/>
            <p:cNvGrpSpPr/>
            <p:nvPr/>
          </p:nvGrpSpPr>
          <p:grpSpPr>
            <a:xfrm>
              <a:off x="844550" y="1504950"/>
              <a:ext cx="101600" cy="114300"/>
              <a:chOff x="844550" y="1504950"/>
              <a:chExt cx="101600" cy="114300"/>
            </a:xfrm>
          </p:grpSpPr>
          <p:sp>
            <p:nvSpPr>
              <p:cNvPr id="14" name="Freeform 14"/>
              <p:cNvSpPr/>
              <p:nvPr/>
            </p:nvSpPr>
            <p:spPr>
              <a:xfrm>
                <a:off x="844550" y="1504950"/>
                <a:ext cx="101600" cy="114300"/>
              </a:xfrm>
              <a:custGeom>
                <a:avLst/>
                <a:gdLst/>
                <a:ahLst/>
                <a:cxnLst/>
                <a:rect l="l" t="t" r="r" b="b"/>
                <a:pathLst>
                  <a:path w="101600" h="114300">
                    <a:moveTo>
                      <a:pt x="50800" y="0"/>
                    </a:moveTo>
                    <a:lnTo>
                      <a:pt x="101600" y="28575"/>
                    </a:lnTo>
                    <a:lnTo>
                      <a:pt x="101600" y="85725"/>
                    </a:lnTo>
                    <a:lnTo>
                      <a:pt x="50800" y="114300"/>
                    </a:lnTo>
                    <a:lnTo>
                      <a:pt x="0" y="85725"/>
                    </a:lnTo>
                    <a:lnTo>
                      <a:pt x="0" y="28575"/>
                    </a:lnTo>
                    <a:lnTo>
                      <a:pt x="50800" y="0"/>
                    </a:lnTo>
                  </a:path>
                </a:pathLst>
              </a:custGeom>
              <a:noFill/>
              <a:ln w="19050">
                <a:solidFill>
                  <a:srgbClr val="06B6D4"/>
                </a:solidFill>
              </a:ln>
              <a:effectLst>
                <a:outerShdw blurRad="95250" dist="28575" dir="5400000" algn="ctr" rotWithShape="0">
                  <a:srgbClr val="000000">
                    <a:alpha val="30000"/>
                  </a:srgbClr>
                </a:outerShdw>
              </a:effectLst>
            </p:spPr>
          </p:sp>
          <p:sp>
            <p:nvSpPr>
              <p:cNvPr id="15" name="Freeform 15"/>
              <p:cNvSpPr/>
              <p:nvPr/>
            </p:nvSpPr>
            <p:spPr>
              <a:xfrm>
                <a:off x="895350" y="1533525"/>
                <a:ext cx="50800" cy="28575"/>
              </a:xfrm>
              <a:custGeom>
                <a:avLst/>
                <a:gdLst/>
                <a:ahLst/>
                <a:cxnLst/>
                <a:rect l="l" t="t" r="r" b="b"/>
                <a:pathLst>
                  <a:path w="50800" h="28575">
                    <a:moveTo>
                      <a:pt x="0" y="28575"/>
                    </a:moveTo>
                    <a:lnTo>
                      <a:pt x="50800" y="0"/>
                    </a:lnTo>
                  </a:path>
                </a:pathLst>
              </a:custGeom>
              <a:noFill/>
              <a:ln w="19050">
                <a:solidFill>
                  <a:srgbClr val="06B6D4"/>
                </a:solidFill>
              </a:ln>
              <a:effectLst>
                <a:outerShdw blurRad="95250" dist="28575" dir="5400000" algn="ctr" rotWithShape="0">
                  <a:srgbClr val="000000">
                    <a:alpha val="30000"/>
                  </a:srgbClr>
                </a:outerShdw>
              </a:effectLst>
            </p:spPr>
          </p:sp>
          <p:sp>
            <p:nvSpPr>
              <p:cNvPr id="16" name="Freeform 16"/>
              <p:cNvSpPr/>
              <p:nvPr/>
            </p:nvSpPr>
            <p:spPr>
              <a:xfrm>
                <a:off x="895350" y="1562100"/>
                <a:ext cx="9525" cy="57150"/>
              </a:xfrm>
              <a:custGeom>
                <a:avLst/>
                <a:gdLst/>
                <a:ahLst/>
                <a:cxnLst/>
                <a:rect l="l" t="t" r="r" b="b"/>
                <a:pathLst>
                  <a:path w="9525" h="57150">
                    <a:moveTo>
                      <a:pt x="0" y="0"/>
                    </a:moveTo>
                    <a:lnTo>
                      <a:pt x="0" y="57150"/>
                    </a:lnTo>
                  </a:path>
                </a:pathLst>
              </a:custGeom>
              <a:noFill/>
              <a:ln w="19050">
                <a:solidFill>
                  <a:srgbClr val="06B6D4"/>
                </a:solidFill>
              </a:ln>
              <a:effectLst>
                <a:outerShdw blurRad="95250" dist="28575" dir="5400000" algn="ctr" rotWithShape="0">
                  <a:srgbClr val="000000">
                    <a:alpha val="30000"/>
                  </a:srgbClr>
                </a:outerShdw>
              </a:effectLst>
            </p:spPr>
          </p:sp>
          <p:sp>
            <p:nvSpPr>
              <p:cNvPr id="17" name="Freeform 17"/>
              <p:cNvSpPr/>
              <p:nvPr/>
            </p:nvSpPr>
            <p:spPr>
              <a:xfrm>
                <a:off x="844550" y="1533525"/>
                <a:ext cx="50800" cy="28575"/>
              </a:xfrm>
              <a:custGeom>
                <a:avLst/>
                <a:gdLst/>
                <a:ahLst/>
                <a:cxnLst/>
                <a:rect l="l" t="t" r="r" b="b"/>
                <a:pathLst>
                  <a:path w="50800" h="28575">
                    <a:moveTo>
                      <a:pt x="50800" y="28575"/>
                    </a:moveTo>
                    <a:lnTo>
                      <a:pt x="0" y="0"/>
                    </a:lnTo>
                  </a:path>
                </a:pathLst>
              </a:custGeom>
              <a:noFill/>
              <a:ln w="19050">
                <a:solidFill>
                  <a:srgbClr val="06B6D4"/>
                </a:solidFill>
              </a:ln>
              <a:effectLst>
                <a:outerShdw blurRad="95250" dist="28575" dir="5400000" algn="ctr" rotWithShape="0">
                  <a:srgbClr val="000000">
                    <a:alpha val="30000"/>
                  </a:srgbClr>
                </a:outerShdw>
              </a:effectLst>
            </p:spPr>
          </p:sp>
          <p:sp>
            <p:nvSpPr>
              <p:cNvPr id="18" name="Freeform 18"/>
              <p:cNvSpPr/>
              <p:nvPr/>
            </p:nvSpPr>
            <p:spPr>
              <a:xfrm>
                <a:off x="869950" y="1519238"/>
                <a:ext cx="50800" cy="28575"/>
              </a:xfrm>
              <a:custGeom>
                <a:avLst/>
                <a:gdLst/>
                <a:ahLst/>
                <a:cxnLst/>
                <a:rect l="l" t="t" r="r" b="b"/>
                <a:pathLst>
                  <a:path w="50800" h="28575">
                    <a:moveTo>
                      <a:pt x="50800" y="0"/>
                    </a:moveTo>
                    <a:lnTo>
                      <a:pt x="0" y="28575"/>
                    </a:lnTo>
                  </a:path>
                </a:pathLst>
              </a:custGeom>
              <a:noFill/>
              <a:ln w="19050">
                <a:solidFill>
                  <a:srgbClr val="06B6D4"/>
                </a:solidFill>
              </a:ln>
              <a:effectLst>
                <a:outerShdw blurRad="95250" dist="28575" dir="5400000" algn="ctr" rotWithShape="0">
                  <a:srgbClr val="000000">
                    <a:alpha val="30000"/>
                  </a:srgbClr>
                </a:outerShdw>
              </a:effectLst>
            </p:spPr>
          </p:sp>
        </p:grpSp>
        <p:sp>
          <p:nvSpPr>
            <p:cNvPr id="20" name="TextBox 20"/>
            <p:cNvSpPr txBox="1"/>
            <p:nvPr/>
          </p:nvSpPr>
          <p:spPr>
            <a:xfrm>
              <a:off x="1036320" y="1512570"/>
              <a:ext cx="1232611"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4 HẠNG MỤC BÀN GIAO</a:t>
              </a:r>
            </a:p>
          </p:txBody>
        </p:sp>
        <p:grpSp>
          <p:nvGrpSpPr>
            <p:cNvPr id="35" name="Group 35"/>
            <p:cNvGrpSpPr/>
            <p:nvPr/>
          </p:nvGrpSpPr>
          <p:grpSpPr>
            <a:xfrm>
              <a:off x="742950" y="1809750"/>
              <a:ext cx="3943350" cy="914400"/>
              <a:chOff x="742950" y="1809750"/>
              <a:chExt cx="3943350" cy="914400"/>
            </a:xfrm>
          </p:grpSpPr>
          <p:sp>
            <p:nvSpPr>
              <p:cNvPr id="21" name="Rectangle 21"/>
              <p:cNvSpPr/>
              <p:nvPr/>
            </p:nvSpPr>
            <p:spPr>
              <a:xfrm>
                <a:off x="742950" y="1809750"/>
                <a:ext cx="3943350" cy="914400"/>
              </a:xfrm>
              <a:prstGeom prst="roundRect">
                <a:avLst>
                  <a:gd name="adj" fmla="val 10417"/>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22" name="Ellipse 22"/>
              <p:cNvSpPr/>
              <p:nvPr/>
            </p:nvSpPr>
            <p:spPr>
              <a:xfrm>
                <a:off x="857250" y="1924050"/>
                <a:ext cx="304800" cy="304800"/>
              </a:xfrm>
              <a:prstGeom prst="ellipse">
                <a:avLst/>
              </a:prstGeom>
              <a:solidFill>
                <a:srgbClr val="172554"/>
              </a:solidFill>
              <a:ln>
                <a:noFill/>
              </a:ln>
              <a:effectLst>
                <a:outerShdw blurRad="95250" dist="28575" dir="5400000" algn="ctr" rotWithShape="0">
                  <a:srgbClr val="000000">
                    <a:alpha val="30000"/>
                  </a:srgbClr>
                </a:outerShdw>
              </a:effectLst>
            </p:spPr>
          </p:sp>
          <p:grpSp>
            <p:nvGrpSpPr>
              <p:cNvPr id="30" name="Group 30"/>
              <p:cNvGrpSpPr/>
              <p:nvPr/>
            </p:nvGrpSpPr>
            <p:grpSpPr>
              <a:xfrm>
                <a:off x="944883" y="2011683"/>
                <a:ext cx="129535" cy="129535"/>
                <a:chOff x="944883" y="2011683"/>
                <a:chExt cx="129535" cy="129535"/>
              </a:xfrm>
            </p:grpSpPr>
            <p:sp>
              <p:nvSpPr>
                <p:cNvPr id="23" name="Freeform 23"/>
                <p:cNvSpPr/>
                <p:nvPr/>
              </p:nvSpPr>
              <p:spPr>
                <a:xfrm>
                  <a:off x="1028700" y="2070100"/>
                  <a:ext cx="12700" cy="12700"/>
                </a:xfrm>
                <a:custGeom>
                  <a:avLst/>
                  <a:gdLst/>
                  <a:ahLst/>
                  <a:cxnLst/>
                  <a:rect l="l" t="t" r="r" b="b"/>
                  <a:pathLst>
                    <a:path w="12700" h="12700">
                      <a:moveTo>
                        <a:pt x="0" y="6350"/>
                      </a:moveTo>
                      <a:cubicBezTo>
                        <a:pt x="0" y="9857"/>
                        <a:pt x="2843" y="12700"/>
                        <a:pt x="6350" y="12700"/>
                      </a:cubicBezTo>
                      <a:cubicBezTo>
                        <a:pt x="9857" y="12700"/>
                        <a:pt x="12700" y="9857"/>
                        <a:pt x="12700" y="6350"/>
                      </a:cubicBezTo>
                      <a:cubicBezTo>
                        <a:pt x="12700" y="2843"/>
                        <a:pt x="9857" y="0"/>
                        <a:pt x="6350" y="0"/>
                      </a:cubicBezTo>
                      <a:cubicBezTo>
                        <a:pt x="2843" y="0"/>
                        <a:pt x="0" y="2843"/>
                        <a:pt x="0" y="6350"/>
                      </a:cubicBezTo>
                    </a:path>
                  </a:pathLst>
                </a:custGeom>
                <a:noFill/>
                <a:ln w="19050">
                  <a:solidFill>
                    <a:srgbClr val="38BDF8"/>
                  </a:solidFill>
                </a:ln>
                <a:effectLst>
                  <a:outerShdw blurRad="95250" dist="28575" dir="5400000" algn="ctr" rotWithShape="0">
                    <a:srgbClr val="000000">
                      <a:alpha val="30000"/>
                    </a:srgbClr>
                  </a:outerShdw>
                </a:effectLst>
              </p:spPr>
            </p:sp>
            <p:sp>
              <p:nvSpPr>
                <p:cNvPr id="24" name="Freeform 24"/>
                <p:cNvSpPr/>
                <p:nvPr/>
              </p:nvSpPr>
              <p:spPr>
                <a:xfrm>
                  <a:off x="1003300" y="2044700"/>
                  <a:ext cx="12700" cy="12700"/>
                </a:xfrm>
                <a:custGeom>
                  <a:avLst/>
                  <a:gdLst/>
                  <a:ahLst/>
                  <a:cxnLst/>
                  <a:rect l="l" t="t" r="r" b="b"/>
                  <a:pathLst>
                    <a:path w="12700" h="12700">
                      <a:moveTo>
                        <a:pt x="0" y="6350"/>
                      </a:moveTo>
                      <a:cubicBezTo>
                        <a:pt x="0" y="9857"/>
                        <a:pt x="2843" y="12700"/>
                        <a:pt x="6350" y="12700"/>
                      </a:cubicBezTo>
                      <a:cubicBezTo>
                        <a:pt x="9857" y="12700"/>
                        <a:pt x="12700" y="9857"/>
                        <a:pt x="12700" y="6350"/>
                      </a:cubicBezTo>
                      <a:cubicBezTo>
                        <a:pt x="12700" y="2843"/>
                        <a:pt x="9857" y="0"/>
                        <a:pt x="6350" y="0"/>
                      </a:cubicBezTo>
                      <a:cubicBezTo>
                        <a:pt x="2843" y="0"/>
                        <a:pt x="0" y="2843"/>
                        <a:pt x="0" y="6350"/>
                      </a:cubicBezTo>
                    </a:path>
                  </a:pathLst>
                </a:custGeom>
                <a:noFill/>
                <a:ln w="19050">
                  <a:solidFill>
                    <a:srgbClr val="38BDF8"/>
                  </a:solidFill>
                </a:ln>
                <a:effectLst>
                  <a:outerShdw blurRad="95250" dist="28575" dir="5400000" algn="ctr" rotWithShape="0">
                    <a:srgbClr val="000000">
                      <a:alpha val="30000"/>
                    </a:srgbClr>
                  </a:outerShdw>
                </a:effectLst>
              </p:spPr>
            </p:sp>
            <p:sp>
              <p:nvSpPr>
                <p:cNvPr id="25" name="Freeform 25"/>
                <p:cNvSpPr/>
                <p:nvPr/>
              </p:nvSpPr>
              <p:spPr>
                <a:xfrm>
                  <a:off x="1003300" y="2095500"/>
                  <a:ext cx="12700" cy="12700"/>
                </a:xfrm>
                <a:custGeom>
                  <a:avLst/>
                  <a:gdLst/>
                  <a:ahLst/>
                  <a:cxnLst/>
                  <a:rect l="l" t="t" r="r" b="b"/>
                  <a:pathLst>
                    <a:path w="12700" h="12700">
                      <a:moveTo>
                        <a:pt x="0" y="6350"/>
                      </a:moveTo>
                      <a:cubicBezTo>
                        <a:pt x="0" y="9857"/>
                        <a:pt x="2843" y="12700"/>
                        <a:pt x="6350" y="12700"/>
                      </a:cubicBezTo>
                      <a:cubicBezTo>
                        <a:pt x="9857" y="12700"/>
                        <a:pt x="12700" y="9857"/>
                        <a:pt x="12700" y="6350"/>
                      </a:cubicBezTo>
                      <a:cubicBezTo>
                        <a:pt x="12700" y="2843"/>
                        <a:pt x="9857" y="0"/>
                        <a:pt x="6350" y="0"/>
                      </a:cubicBezTo>
                      <a:cubicBezTo>
                        <a:pt x="2843" y="0"/>
                        <a:pt x="0" y="2843"/>
                        <a:pt x="0" y="6350"/>
                      </a:cubicBezTo>
                    </a:path>
                  </a:pathLst>
                </a:custGeom>
                <a:noFill/>
                <a:ln w="19050">
                  <a:solidFill>
                    <a:srgbClr val="38BDF8"/>
                  </a:solidFill>
                </a:ln>
                <a:effectLst>
                  <a:outerShdw blurRad="95250" dist="28575" dir="5400000" algn="ctr" rotWithShape="0">
                    <a:srgbClr val="000000">
                      <a:alpha val="30000"/>
                    </a:srgbClr>
                  </a:outerShdw>
                </a:effectLst>
              </p:spPr>
            </p:sp>
            <p:sp>
              <p:nvSpPr>
                <p:cNvPr id="26" name="Freeform 26"/>
                <p:cNvSpPr/>
                <p:nvPr/>
              </p:nvSpPr>
              <p:spPr>
                <a:xfrm>
                  <a:off x="1009650" y="2057400"/>
                  <a:ext cx="9525" cy="38100"/>
                </a:xfrm>
                <a:custGeom>
                  <a:avLst/>
                  <a:gdLst/>
                  <a:ahLst/>
                  <a:cxnLst/>
                  <a:rect l="l" t="t" r="r" b="b"/>
                  <a:pathLst>
                    <a:path w="9525" h="38100">
                      <a:moveTo>
                        <a:pt x="0" y="38100"/>
                      </a:moveTo>
                      <a:lnTo>
                        <a:pt x="0" y="0"/>
                      </a:lnTo>
                    </a:path>
                  </a:pathLst>
                </a:custGeom>
                <a:noFill/>
                <a:ln w="19050">
                  <a:solidFill>
                    <a:srgbClr val="38BDF8"/>
                  </a:solidFill>
                </a:ln>
                <a:effectLst>
                  <a:outerShdw blurRad="95250" dist="28575" dir="5400000" algn="ctr" rotWithShape="0">
                    <a:srgbClr val="000000">
                      <a:alpha val="30000"/>
                    </a:srgbClr>
                  </a:outerShdw>
                </a:effectLst>
              </p:spPr>
            </p:sp>
            <p:sp>
              <p:nvSpPr>
                <p:cNvPr id="27" name="Freeform 27"/>
                <p:cNvSpPr/>
                <p:nvPr/>
              </p:nvSpPr>
              <p:spPr>
                <a:xfrm>
                  <a:off x="1016000" y="2057400"/>
                  <a:ext cx="12700" cy="12700"/>
                </a:xfrm>
                <a:custGeom>
                  <a:avLst/>
                  <a:gdLst/>
                  <a:ahLst/>
                  <a:cxnLst/>
                  <a:rect l="l" t="t" r="r" b="b"/>
                  <a:pathLst>
                    <a:path w="12700" h="12700">
                      <a:moveTo>
                        <a:pt x="12700" y="12700"/>
                      </a:moveTo>
                      <a:lnTo>
                        <a:pt x="0" y="0"/>
                      </a:lnTo>
                    </a:path>
                  </a:pathLst>
                </a:custGeom>
                <a:noFill/>
                <a:ln w="19050">
                  <a:solidFill>
                    <a:srgbClr val="38BDF8"/>
                  </a:solidFill>
                </a:ln>
                <a:effectLst>
                  <a:outerShdw blurRad="95250" dist="28575" dir="5400000" algn="ctr" rotWithShape="0">
                    <a:srgbClr val="000000">
                      <a:alpha val="30000"/>
                    </a:srgbClr>
                  </a:outerShdw>
                </a:effectLst>
              </p:spPr>
            </p:sp>
            <p:sp>
              <p:nvSpPr>
                <p:cNvPr id="28" name="Freeform 28"/>
                <p:cNvSpPr/>
                <p:nvPr/>
              </p:nvSpPr>
              <p:spPr>
                <a:xfrm>
                  <a:off x="991235" y="2032635"/>
                  <a:ext cx="12065" cy="12065"/>
                </a:xfrm>
                <a:custGeom>
                  <a:avLst/>
                  <a:gdLst/>
                  <a:ahLst/>
                  <a:cxnLst/>
                  <a:rect l="l" t="t" r="r" b="b"/>
                  <a:pathLst>
                    <a:path w="12065" h="12065">
                      <a:moveTo>
                        <a:pt x="12065" y="12065"/>
                      </a:moveTo>
                      <a:lnTo>
                        <a:pt x="0" y="0"/>
                      </a:lnTo>
                    </a:path>
                  </a:pathLst>
                </a:custGeom>
                <a:noFill/>
                <a:ln w="19050">
                  <a:solidFill>
                    <a:srgbClr val="38BDF8"/>
                  </a:solidFill>
                </a:ln>
                <a:effectLst>
                  <a:outerShdw blurRad="95250" dist="28575" dir="5400000" algn="ctr" rotWithShape="0">
                    <a:srgbClr val="000000">
                      <a:alpha val="30000"/>
                    </a:srgbClr>
                  </a:outerShdw>
                </a:effectLst>
              </p:spPr>
            </p:sp>
            <p:sp>
              <p:nvSpPr>
                <p:cNvPr id="29" name="Freeform 29"/>
                <p:cNvSpPr/>
                <p:nvPr/>
              </p:nvSpPr>
              <p:spPr>
                <a:xfrm>
                  <a:off x="944883" y="2011683"/>
                  <a:ext cx="129535" cy="129535"/>
                </a:xfrm>
                <a:custGeom>
                  <a:avLst/>
                  <a:gdLst/>
                  <a:ahLst/>
                  <a:cxnLst/>
                  <a:rect l="l" t="t" r="r" b="b"/>
                  <a:pathLst>
                    <a:path w="129535" h="129535">
                      <a:moveTo>
                        <a:pt x="73949" y="5077"/>
                      </a:moveTo>
                      <a:lnTo>
                        <a:pt x="124464" y="55585"/>
                      </a:lnTo>
                      <a:cubicBezTo>
                        <a:pt x="129535" y="60656"/>
                        <a:pt x="129535" y="68878"/>
                        <a:pt x="124464" y="73949"/>
                      </a:cubicBezTo>
                      <a:lnTo>
                        <a:pt x="73949" y="124464"/>
                      </a:lnTo>
                      <a:cubicBezTo>
                        <a:pt x="68878" y="129535"/>
                        <a:pt x="60656" y="129535"/>
                        <a:pt x="55585" y="124464"/>
                      </a:cubicBezTo>
                      <a:lnTo>
                        <a:pt x="5071" y="73949"/>
                      </a:lnTo>
                      <a:cubicBezTo>
                        <a:pt x="0" y="68878"/>
                        <a:pt x="0" y="60656"/>
                        <a:pt x="5071" y="55585"/>
                      </a:cubicBezTo>
                      <a:lnTo>
                        <a:pt x="55585" y="5071"/>
                      </a:lnTo>
                      <a:cubicBezTo>
                        <a:pt x="60656" y="0"/>
                        <a:pt x="68878" y="0"/>
                        <a:pt x="73949" y="5071"/>
                      </a:cubicBezTo>
                    </a:path>
                  </a:pathLst>
                </a:custGeom>
                <a:noFill/>
                <a:ln w="19050">
                  <a:solidFill>
                    <a:srgbClr val="38BDF8"/>
                  </a:solidFill>
                </a:ln>
                <a:effectLst>
                  <a:outerShdw blurRad="95250" dist="28575" dir="5400000" algn="ctr" rotWithShape="0">
                    <a:srgbClr val="000000">
                      <a:alpha val="30000"/>
                    </a:srgbClr>
                  </a:outerShdw>
                </a:effectLst>
              </p:spPr>
            </p:sp>
          </p:grpSp>
          <p:sp>
            <p:nvSpPr>
              <p:cNvPr id="31" name="TextBox 31"/>
              <p:cNvSpPr txBox="1"/>
              <p:nvPr/>
            </p:nvSpPr>
            <p:spPr>
              <a:xfrm>
                <a:off x="1244918" y="1933099"/>
                <a:ext cx="1806313"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Source Code Git Repository</a:t>
                </a:r>
              </a:p>
            </p:txBody>
          </p:sp>
          <p:sp>
            <p:nvSpPr>
              <p:cNvPr id="32" name="TextBox 32"/>
              <p:cNvSpPr txBox="1"/>
              <p:nvPr/>
            </p:nvSpPr>
            <p:spPr>
              <a:xfrm>
                <a:off x="1246822" y="2101691"/>
                <a:ext cx="1555647"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38BDF8"/>
                    </a:solidFill>
                    <a:latin typeface="Segoe UI"/>
                    <a:ea typeface="Microsoft YaHei"/>
                    <a:cs typeface="Segoe UI"/>
                  </a:rPr>
                  <a:t>Cấu trúc Maven Multi-Module</a:t>
                </a:r>
              </a:p>
            </p:txBody>
          </p:sp>
          <p:sp>
            <p:nvSpPr>
              <p:cNvPr id="33" name="TextBox 33"/>
              <p:cNvSpPr txBox="1"/>
              <p:nvPr/>
            </p:nvSpPr>
            <p:spPr>
              <a:xfrm>
                <a:off x="884396" y="2307193"/>
                <a:ext cx="2638485"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Trọn bộ mã nguồn 6 dịch vụ Spring Boot 3.3.5</a:t>
                </a:r>
              </a:p>
            </p:txBody>
          </p:sp>
          <p:sp>
            <p:nvSpPr>
              <p:cNvPr id="34" name="TextBox 34"/>
              <p:cNvSpPr txBox="1"/>
              <p:nvPr/>
            </p:nvSpPr>
            <p:spPr>
              <a:xfrm>
                <a:off x="884396" y="2469118"/>
                <a:ext cx="2960525"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Tách biệt Model, Repository, Service và Controller</a:t>
                </a:r>
              </a:p>
            </p:txBody>
          </p:sp>
        </p:grpSp>
        <p:grpSp>
          <p:nvGrpSpPr>
            <p:cNvPr id="45" name="Group 45"/>
            <p:cNvGrpSpPr/>
            <p:nvPr/>
          </p:nvGrpSpPr>
          <p:grpSpPr>
            <a:xfrm>
              <a:off x="742950" y="2828925"/>
              <a:ext cx="3943350" cy="914400"/>
              <a:chOff x="742950" y="2828925"/>
              <a:chExt cx="3943350" cy="914400"/>
            </a:xfrm>
          </p:grpSpPr>
          <p:sp>
            <p:nvSpPr>
              <p:cNvPr id="36" name="Rectangle 36"/>
              <p:cNvSpPr/>
              <p:nvPr/>
            </p:nvSpPr>
            <p:spPr>
              <a:xfrm>
                <a:off x="742950" y="2828925"/>
                <a:ext cx="3943350" cy="914400"/>
              </a:xfrm>
              <a:prstGeom prst="roundRect">
                <a:avLst>
                  <a:gd name="adj" fmla="val 10417"/>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37" name="Ellipse 37"/>
              <p:cNvSpPr/>
              <p:nvPr/>
            </p:nvSpPr>
            <p:spPr>
              <a:xfrm>
                <a:off x="857250" y="2943225"/>
                <a:ext cx="304800" cy="304800"/>
              </a:xfrm>
              <a:prstGeom prst="ellipse">
                <a:avLst/>
              </a:prstGeom>
              <a:solidFill>
                <a:srgbClr val="431407"/>
              </a:solidFill>
              <a:ln>
                <a:noFill/>
              </a:ln>
              <a:effectLst>
                <a:outerShdw blurRad="95250" dist="28575" dir="5400000" algn="ctr" rotWithShape="0">
                  <a:srgbClr val="000000">
                    <a:alpha val="30000"/>
                  </a:srgbClr>
                </a:outerShdw>
              </a:effectLst>
            </p:spPr>
          </p:sp>
          <p:grpSp>
            <p:nvGrpSpPr>
              <p:cNvPr id="40" name="Group 40"/>
              <p:cNvGrpSpPr/>
              <p:nvPr/>
            </p:nvGrpSpPr>
            <p:grpSpPr>
              <a:xfrm>
                <a:off x="950462" y="3038475"/>
                <a:ext cx="116338" cy="116338"/>
                <a:chOff x="950462" y="3038475"/>
                <a:chExt cx="116338" cy="116338"/>
              </a:xfrm>
            </p:grpSpPr>
            <p:sp>
              <p:nvSpPr>
                <p:cNvPr id="38" name="Freeform 38"/>
                <p:cNvSpPr/>
                <p:nvPr/>
              </p:nvSpPr>
              <p:spPr>
                <a:xfrm>
                  <a:off x="996950" y="3038475"/>
                  <a:ext cx="69850" cy="69850"/>
                </a:xfrm>
                <a:custGeom>
                  <a:avLst/>
                  <a:gdLst/>
                  <a:ahLst/>
                  <a:cxnLst/>
                  <a:rect l="l" t="t" r="r" b="b"/>
                  <a:pathLst>
                    <a:path w="69850" h="69850">
                      <a:moveTo>
                        <a:pt x="0" y="69850"/>
                      </a:moveTo>
                      <a:lnTo>
                        <a:pt x="69850" y="0"/>
                      </a:lnTo>
                    </a:path>
                  </a:pathLst>
                </a:custGeom>
                <a:noFill/>
                <a:ln w="19050">
                  <a:solidFill>
                    <a:srgbClr val="FB923C"/>
                  </a:solidFill>
                </a:ln>
                <a:effectLst>
                  <a:outerShdw blurRad="95250" dist="28575" dir="5400000" algn="ctr" rotWithShape="0">
                    <a:srgbClr val="000000">
                      <a:alpha val="30000"/>
                    </a:srgbClr>
                  </a:outerShdw>
                </a:effectLst>
              </p:spPr>
            </p:sp>
            <p:sp>
              <p:nvSpPr>
                <p:cNvPr id="39" name="Freeform 39"/>
                <p:cNvSpPr/>
                <p:nvPr/>
              </p:nvSpPr>
              <p:spPr>
                <a:xfrm>
                  <a:off x="950462" y="3038475"/>
                  <a:ext cx="116338" cy="116338"/>
                </a:xfrm>
                <a:custGeom>
                  <a:avLst/>
                  <a:gdLst/>
                  <a:ahLst/>
                  <a:cxnLst/>
                  <a:rect l="l" t="t" r="r" b="b"/>
                  <a:pathLst>
                    <a:path w="116338" h="116338">
                      <a:moveTo>
                        <a:pt x="116338" y="0"/>
                      </a:moveTo>
                      <a:lnTo>
                        <a:pt x="75063" y="114300"/>
                      </a:lnTo>
                      <a:cubicBezTo>
                        <a:pt x="74494" y="115542"/>
                        <a:pt x="73253" y="116338"/>
                        <a:pt x="71888" y="116338"/>
                      </a:cubicBezTo>
                      <a:cubicBezTo>
                        <a:pt x="70522" y="116338"/>
                        <a:pt x="69281" y="115542"/>
                        <a:pt x="68713" y="114300"/>
                      </a:cubicBezTo>
                      <a:lnTo>
                        <a:pt x="46488" y="69850"/>
                      </a:lnTo>
                      <a:lnTo>
                        <a:pt x="2038" y="47625"/>
                      </a:lnTo>
                      <a:cubicBezTo>
                        <a:pt x="796" y="47056"/>
                        <a:pt x="0" y="45816"/>
                        <a:pt x="0" y="44450"/>
                      </a:cubicBezTo>
                      <a:cubicBezTo>
                        <a:pt x="0" y="43084"/>
                        <a:pt x="796" y="41844"/>
                        <a:pt x="2038" y="41275"/>
                      </a:cubicBezTo>
                      <a:lnTo>
                        <a:pt x="116338" y="0"/>
                      </a:lnTo>
                    </a:path>
                  </a:pathLst>
                </a:custGeom>
                <a:noFill/>
                <a:ln w="19050">
                  <a:solidFill>
                    <a:srgbClr val="FB923C"/>
                  </a:solidFill>
                </a:ln>
                <a:effectLst>
                  <a:outerShdw blurRad="95250" dist="28575" dir="5400000" algn="ctr" rotWithShape="0">
                    <a:srgbClr val="000000">
                      <a:alpha val="30000"/>
                    </a:srgbClr>
                  </a:outerShdw>
                </a:effectLst>
              </p:spPr>
            </p:sp>
          </p:grpSp>
          <p:sp>
            <p:nvSpPr>
              <p:cNvPr id="41" name="TextBox 41"/>
              <p:cNvSpPr txBox="1"/>
              <p:nvPr/>
            </p:nvSpPr>
            <p:spPr>
              <a:xfrm>
                <a:off x="1244918" y="2952274"/>
                <a:ext cx="1574234"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Postman Collection v2.1</a:t>
                </a:r>
              </a:p>
            </p:txBody>
          </p:sp>
          <p:sp>
            <p:nvSpPr>
              <p:cNvPr id="42" name="TextBox 42"/>
              <p:cNvSpPr txBox="1"/>
              <p:nvPr/>
            </p:nvSpPr>
            <p:spPr>
              <a:xfrm>
                <a:off x="1246822" y="3120866"/>
                <a:ext cx="1781175"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FB923C"/>
                    </a:solidFill>
                    <a:latin typeface="Segoe UI"/>
                    <a:ea typeface="Microsoft YaHei"/>
                    <a:cs typeface="Segoe UI"/>
                  </a:rPr>
                  <a:t>Kèm Môi Trường &amp; Scripts Tự Động</a:t>
                </a:r>
              </a:p>
            </p:txBody>
          </p:sp>
          <p:sp>
            <p:nvSpPr>
              <p:cNvPr id="43" name="TextBox 43"/>
              <p:cNvSpPr txBox="1"/>
              <p:nvPr/>
            </p:nvSpPr>
            <p:spPr>
              <a:xfrm>
                <a:off x="884396" y="3326368"/>
                <a:ext cx="270174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Định tuyến toàn diện qua Spring Cloud Gateway</a:t>
                </a:r>
              </a:p>
            </p:txBody>
          </p:sp>
          <p:sp>
            <p:nvSpPr>
              <p:cNvPr id="44" name="TextBox 44"/>
              <p:cNvSpPr txBox="1"/>
              <p:nvPr/>
            </p:nvSpPr>
            <p:spPr>
              <a:xfrm>
                <a:off x="884396" y="3488293"/>
                <a:ext cx="245446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Tự động nạp Bearer Token sau khi xác thực</a:t>
                </a:r>
              </a:p>
            </p:txBody>
          </p:sp>
        </p:grpSp>
        <p:grpSp>
          <p:nvGrpSpPr>
            <p:cNvPr id="62" name="Group 62"/>
            <p:cNvGrpSpPr/>
            <p:nvPr/>
          </p:nvGrpSpPr>
          <p:grpSpPr>
            <a:xfrm>
              <a:off x="742950" y="3848100"/>
              <a:ext cx="3943350" cy="914400"/>
              <a:chOff x="742950" y="3848100"/>
              <a:chExt cx="3943350" cy="914400"/>
            </a:xfrm>
          </p:grpSpPr>
          <p:sp>
            <p:nvSpPr>
              <p:cNvPr id="46" name="Rectangle 46"/>
              <p:cNvSpPr/>
              <p:nvPr/>
            </p:nvSpPr>
            <p:spPr>
              <a:xfrm>
                <a:off x="742950" y="3848100"/>
                <a:ext cx="3943350" cy="914400"/>
              </a:xfrm>
              <a:prstGeom prst="roundRect">
                <a:avLst>
                  <a:gd name="adj" fmla="val 10417"/>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47" name="Ellipse 47"/>
              <p:cNvSpPr/>
              <p:nvPr/>
            </p:nvSpPr>
            <p:spPr>
              <a:xfrm>
                <a:off x="857250" y="3962400"/>
                <a:ext cx="304800" cy="304800"/>
              </a:xfrm>
              <a:prstGeom prst="ellipse">
                <a:avLst/>
              </a:prstGeom>
              <a:solidFill>
                <a:srgbClr val="064E3B"/>
              </a:solidFill>
              <a:ln>
                <a:noFill/>
              </a:ln>
              <a:effectLst>
                <a:outerShdw blurRad="95250" dist="28575" dir="5400000" algn="ctr" rotWithShape="0">
                  <a:srgbClr val="000000">
                    <a:alpha val="30000"/>
                  </a:srgbClr>
                </a:outerShdw>
              </a:effectLst>
            </p:spPr>
          </p:sp>
          <p:grpSp>
            <p:nvGrpSpPr>
              <p:cNvPr id="57" name="Group 57"/>
              <p:cNvGrpSpPr/>
              <p:nvPr/>
            </p:nvGrpSpPr>
            <p:grpSpPr>
              <a:xfrm>
                <a:off x="952500" y="4064000"/>
                <a:ext cx="120650" cy="101740"/>
                <a:chOff x="952500" y="4064000"/>
                <a:chExt cx="120650" cy="101740"/>
              </a:xfrm>
            </p:grpSpPr>
            <p:sp>
              <p:nvSpPr>
                <p:cNvPr id="48" name="Freeform 48"/>
                <p:cNvSpPr/>
                <p:nvPr/>
              </p:nvSpPr>
              <p:spPr>
                <a:xfrm>
                  <a:off x="952500" y="4099560"/>
                  <a:ext cx="120650" cy="66180"/>
                </a:xfrm>
                <a:custGeom>
                  <a:avLst/>
                  <a:gdLst/>
                  <a:ahLst/>
                  <a:cxnLst/>
                  <a:rect l="l" t="t" r="r" b="b"/>
                  <a:pathLst>
                    <a:path w="120650" h="66180">
                      <a:moveTo>
                        <a:pt x="120650" y="18669"/>
                      </a:moveTo>
                      <a:cubicBezTo>
                        <a:pt x="109195" y="16478"/>
                        <a:pt x="103499" y="11811"/>
                        <a:pt x="98279" y="0"/>
                      </a:cubicBezTo>
                      <a:cubicBezTo>
                        <a:pt x="95187" y="4420"/>
                        <a:pt x="91281" y="9957"/>
                        <a:pt x="92437" y="15240"/>
                      </a:cubicBezTo>
                      <a:cubicBezTo>
                        <a:pt x="92615" y="16751"/>
                        <a:pt x="90405" y="21590"/>
                        <a:pt x="88900" y="21590"/>
                      </a:cubicBezTo>
                      <a:lnTo>
                        <a:pt x="0" y="21590"/>
                      </a:lnTo>
                      <a:cubicBezTo>
                        <a:pt x="0" y="54661"/>
                        <a:pt x="20091" y="66040"/>
                        <a:pt x="39345" y="66040"/>
                      </a:cubicBezTo>
                      <a:cubicBezTo>
                        <a:pt x="65532" y="66180"/>
                        <a:pt x="89052" y="57302"/>
                        <a:pt x="101918" y="34290"/>
                      </a:cubicBezTo>
                      <a:cubicBezTo>
                        <a:pt x="109195" y="33649"/>
                        <a:pt x="116497" y="24733"/>
                        <a:pt x="120650" y="18669"/>
                      </a:cubicBezTo>
                    </a:path>
                  </a:pathLst>
                </a:custGeom>
                <a:noFill/>
                <a:ln w="19050">
                  <a:solidFill>
                    <a:srgbClr val="4ADE80"/>
                  </a:solidFill>
                </a:ln>
                <a:effectLst>
                  <a:outerShdw blurRad="95250" dist="28575" dir="5400000" algn="ctr" rotWithShape="0">
                    <a:srgbClr val="000000">
                      <a:alpha val="30000"/>
                    </a:srgbClr>
                  </a:outerShdw>
                </a:effectLst>
              </p:spPr>
            </p:sp>
            <p:sp>
              <p:nvSpPr>
                <p:cNvPr id="49" name="Freeform 49"/>
                <p:cNvSpPr/>
                <p:nvPr/>
              </p:nvSpPr>
              <p:spPr>
                <a:xfrm>
                  <a:off x="965200" y="410210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0" name="Freeform 50"/>
                <p:cNvSpPr/>
                <p:nvPr/>
              </p:nvSpPr>
              <p:spPr>
                <a:xfrm>
                  <a:off x="984250" y="410210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1" name="Freeform 51"/>
                <p:cNvSpPr/>
                <p:nvPr/>
              </p:nvSpPr>
              <p:spPr>
                <a:xfrm>
                  <a:off x="1003300" y="410210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2" name="Freeform 52"/>
                <p:cNvSpPr/>
                <p:nvPr/>
              </p:nvSpPr>
              <p:spPr>
                <a:xfrm>
                  <a:off x="984250" y="408305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3" name="Freeform 53"/>
                <p:cNvSpPr/>
                <p:nvPr/>
              </p:nvSpPr>
              <p:spPr>
                <a:xfrm>
                  <a:off x="1003300" y="408305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4" name="Freeform 54"/>
                <p:cNvSpPr/>
                <p:nvPr/>
              </p:nvSpPr>
              <p:spPr>
                <a:xfrm>
                  <a:off x="1003300" y="4064000"/>
                  <a:ext cx="19050" cy="19050"/>
                </a:xfrm>
                <a:custGeom>
                  <a:avLst/>
                  <a:gdLst/>
                  <a:ahLst/>
                  <a:cxnLst/>
                  <a:rect l="l" t="t" r="r" b="b"/>
                  <a:pathLst>
                    <a:path w="19050" h="19050">
                      <a:moveTo>
                        <a:pt x="0" y="0"/>
                      </a:moveTo>
                      <a:lnTo>
                        <a:pt x="19050" y="0"/>
                      </a:lnTo>
                      <a:lnTo>
                        <a:pt x="19050" y="19050"/>
                      </a:lnTo>
                      <a:lnTo>
                        <a:pt x="0" y="19050"/>
                      </a:lnTo>
                      <a:lnTo>
                        <a:pt x="0" y="0"/>
                      </a:lnTo>
                    </a:path>
                  </a:pathLst>
                </a:custGeom>
                <a:noFill/>
                <a:ln w="19050">
                  <a:solidFill>
                    <a:srgbClr val="4ADE80"/>
                  </a:solidFill>
                </a:ln>
                <a:effectLst>
                  <a:outerShdw blurRad="95250" dist="28575" dir="5400000" algn="ctr" rotWithShape="0">
                    <a:srgbClr val="000000">
                      <a:alpha val="30000"/>
                    </a:srgbClr>
                  </a:outerShdw>
                </a:effectLst>
              </p:spPr>
            </p:sp>
            <p:sp>
              <p:nvSpPr>
                <p:cNvPr id="55" name="Freeform 55"/>
                <p:cNvSpPr/>
                <p:nvPr/>
              </p:nvSpPr>
              <p:spPr>
                <a:xfrm>
                  <a:off x="962476" y="4147947"/>
                  <a:ext cx="18783" cy="9525"/>
                </a:xfrm>
                <a:custGeom>
                  <a:avLst/>
                  <a:gdLst/>
                  <a:ahLst/>
                  <a:cxnLst/>
                  <a:rect l="l" t="t" r="r" b="b"/>
                  <a:pathLst>
                    <a:path w="18783" h="9525">
                      <a:moveTo>
                        <a:pt x="0" y="4953"/>
                      </a:moveTo>
                      <a:cubicBezTo>
                        <a:pt x="9525" y="4953"/>
                        <a:pt x="12998" y="4483"/>
                        <a:pt x="18783" y="0"/>
                      </a:cubicBezTo>
                    </a:path>
                  </a:pathLst>
                </a:custGeom>
                <a:noFill/>
                <a:ln w="19050">
                  <a:solidFill>
                    <a:srgbClr val="4ADE80"/>
                  </a:solidFill>
                </a:ln>
                <a:effectLst>
                  <a:outerShdw blurRad="95250" dist="28575" dir="5400000" algn="ctr" rotWithShape="0">
                    <a:srgbClr val="000000">
                      <a:alpha val="30000"/>
                    </a:srgbClr>
                  </a:outerShdw>
                </a:effectLst>
              </p:spPr>
            </p:sp>
            <p:sp>
              <p:nvSpPr>
                <p:cNvPr id="56" name="Freeform 56"/>
                <p:cNvSpPr/>
                <p:nvPr/>
              </p:nvSpPr>
              <p:spPr>
                <a:xfrm>
                  <a:off x="996950" y="4140200"/>
                  <a:ext cx="9525" cy="9525"/>
                </a:xfrm>
                <a:custGeom>
                  <a:avLst/>
                  <a:gdLst/>
                  <a:ahLst/>
                  <a:cxnLst/>
                  <a:rect l="l" t="t" r="r" b="b"/>
                  <a:pathLst>
                    <a:path w="9525" h="9525">
                      <a:moveTo>
                        <a:pt x="0" y="0"/>
                      </a:moveTo>
                      <a:lnTo>
                        <a:pt x="0" y="63"/>
                      </a:lnTo>
                    </a:path>
                  </a:pathLst>
                </a:custGeom>
                <a:noFill/>
                <a:ln w="19050">
                  <a:solidFill>
                    <a:srgbClr val="4ADE80"/>
                  </a:solidFill>
                </a:ln>
                <a:effectLst>
                  <a:outerShdw blurRad="95250" dist="28575" dir="5400000" algn="ctr" rotWithShape="0">
                    <a:srgbClr val="000000">
                      <a:alpha val="30000"/>
                    </a:srgbClr>
                  </a:outerShdw>
                </a:effectLst>
              </p:spPr>
            </p:sp>
          </p:grpSp>
          <p:sp>
            <p:nvSpPr>
              <p:cNvPr id="58" name="TextBox 58"/>
              <p:cNvSpPr txBox="1"/>
              <p:nvPr/>
            </p:nvSpPr>
            <p:spPr>
              <a:xfrm>
                <a:off x="1244918" y="3971449"/>
                <a:ext cx="1601537"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Hạ Tầng Docker Compose</a:t>
                </a:r>
              </a:p>
            </p:txBody>
          </p:sp>
          <p:sp>
            <p:nvSpPr>
              <p:cNvPr id="59" name="TextBox 59"/>
              <p:cNvSpPr txBox="1"/>
              <p:nvPr/>
            </p:nvSpPr>
            <p:spPr>
              <a:xfrm>
                <a:off x="1246822" y="4140041"/>
                <a:ext cx="1374124"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4ADE80"/>
                    </a:solidFill>
                    <a:latin typeface="Segoe UI"/>
                    <a:ea typeface="Microsoft YaHei"/>
                    <a:cs typeface="Segoe UI"/>
                  </a:rPr>
                  <a:t>Triển Khai Khép Kín 1 Lệnh</a:t>
                </a:r>
              </a:p>
            </p:txBody>
          </p:sp>
          <p:sp>
            <p:nvSpPr>
              <p:cNvPr id="60" name="TextBox 60"/>
              <p:cNvSpPr txBox="1"/>
              <p:nvPr/>
            </p:nvSpPr>
            <p:spPr>
              <a:xfrm>
                <a:off x="884396" y="4345543"/>
                <a:ext cx="249471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MySQL 8.0, Redis Cache 7.0, Apache Kafka</a:t>
                </a:r>
              </a:p>
            </p:txBody>
          </p:sp>
          <p:sp>
            <p:nvSpPr>
              <p:cNvPr id="61" name="TextBox 61"/>
              <p:cNvSpPr txBox="1"/>
              <p:nvPr/>
            </p:nvSpPr>
            <p:spPr>
              <a:xfrm>
                <a:off x="884396" y="4507468"/>
                <a:ext cx="3253811"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Khởi chạy trọn vẹn cụm dịch vụ qua docker-compose.yml</a:t>
                </a:r>
              </a:p>
            </p:txBody>
          </p:sp>
        </p:grpSp>
        <p:grpSp>
          <p:nvGrpSpPr>
            <p:cNvPr id="72" name="Group 72"/>
            <p:cNvGrpSpPr/>
            <p:nvPr/>
          </p:nvGrpSpPr>
          <p:grpSpPr>
            <a:xfrm>
              <a:off x="742950" y="4867275"/>
              <a:ext cx="3943350" cy="914400"/>
              <a:chOff x="742950" y="4867275"/>
              <a:chExt cx="3943350" cy="914400"/>
            </a:xfrm>
          </p:grpSpPr>
          <p:sp>
            <p:nvSpPr>
              <p:cNvPr id="63" name="Rectangle 63"/>
              <p:cNvSpPr/>
              <p:nvPr/>
            </p:nvSpPr>
            <p:spPr>
              <a:xfrm>
                <a:off x="742950" y="4867275"/>
                <a:ext cx="3943350" cy="914400"/>
              </a:xfrm>
              <a:prstGeom prst="roundRect">
                <a:avLst>
                  <a:gd name="adj" fmla="val 10417"/>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64" name="Ellipse 64"/>
              <p:cNvSpPr/>
              <p:nvPr/>
            </p:nvSpPr>
            <p:spPr>
              <a:xfrm>
                <a:off x="857250" y="4981575"/>
                <a:ext cx="304800" cy="304800"/>
              </a:xfrm>
              <a:prstGeom prst="ellipse">
                <a:avLst/>
              </a:prstGeom>
              <a:solidFill>
                <a:srgbClr val="164E63"/>
              </a:solidFill>
              <a:ln>
                <a:noFill/>
              </a:ln>
              <a:effectLst>
                <a:outerShdw blurRad="95250" dist="28575" dir="5400000" algn="ctr" rotWithShape="0">
                  <a:srgbClr val="000000">
                    <a:alpha val="30000"/>
                  </a:srgbClr>
                </a:outerShdw>
              </a:effectLst>
            </p:spPr>
          </p:sp>
          <p:grpSp>
            <p:nvGrpSpPr>
              <p:cNvPr id="67" name="Group 67"/>
              <p:cNvGrpSpPr/>
              <p:nvPr/>
            </p:nvGrpSpPr>
            <p:grpSpPr>
              <a:xfrm>
                <a:off x="943930" y="5076825"/>
                <a:ext cx="124004" cy="114300"/>
                <a:chOff x="943930" y="5076825"/>
                <a:chExt cx="124004" cy="114300"/>
              </a:xfrm>
            </p:grpSpPr>
            <p:sp>
              <p:nvSpPr>
                <p:cNvPr id="65" name="Freeform 65"/>
                <p:cNvSpPr/>
                <p:nvPr/>
              </p:nvSpPr>
              <p:spPr>
                <a:xfrm>
                  <a:off x="943930" y="5076825"/>
                  <a:ext cx="124004" cy="113322"/>
                </a:xfrm>
                <a:custGeom>
                  <a:avLst/>
                  <a:gdLst/>
                  <a:ahLst/>
                  <a:cxnLst/>
                  <a:rect l="l" t="t" r="r" b="b"/>
                  <a:pathLst>
                    <a:path w="124004" h="113322">
                      <a:moveTo>
                        <a:pt x="62291" y="113322"/>
                      </a:moveTo>
                      <a:cubicBezTo>
                        <a:pt x="22511" y="100991"/>
                        <a:pt x="0" y="59007"/>
                        <a:pt x="11745" y="19050"/>
                      </a:cubicBezTo>
                      <a:cubicBezTo>
                        <a:pt x="31528" y="19955"/>
                        <a:pt x="50887" y="13123"/>
                        <a:pt x="65720" y="0"/>
                      </a:cubicBezTo>
                      <a:cubicBezTo>
                        <a:pt x="80552" y="13123"/>
                        <a:pt x="99911" y="19955"/>
                        <a:pt x="119695" y="19050"/>
                      </a:cubicBezTo>
                      <a:cubicBezTo>
                        <a:pt x="124004" y="33713"/>
                        <a:pt x="123805" y="49333"/>
                        <a:pt x="119123" y="63881"/>
                      </a:cubicBezTo>
                    </a:path>
                  </a:pathLst>
                </a:custGeom>
                <a:noFill/>
                <a:ln w="19050">
                  <a:solidFill>
                    <a:srgbClr val="22D3EE"/>
                  </a:solidFill>
                </a:ln>
                <a:effectLst>
                  <a:outerShdw blurRad="95250" dist="28575" dir="5400000" algn="ctr" rotWithShape="0">
                    <a:srgbClr val="000000">
                      <a:alpha val="30000"/>
                    </a:srgbClr>
                  </a:outerShdw>
                </a:effectLst>
              </p:spPr>
            </p:sp>
            <p:sp>
              <p:nvSpPr>
                <p:cNvPr id="66" name="Freeform 66"/>
                <p:cNvSpPr/>
                <p:nvPr/>
              </p:nvSpPr>
              <p:spPr>
                <a:xfrm>
                  <a:off x="1028700" y="5165725"/>
                  <a:ext cx="38100" cy="25400"/>
                </a:xfrm>
                <a:custGeom>
                  <a:avLst/>
                  <a:gdLst/>
                  <a:ahLst/>
                  <a:cxnLst/>
                  <a:rect l="l" t="t" r="r" b="b"/>
                  <a:pathLst>
                    <a:path w="38100" h="25400">
                      <a:moveTo>
                        <a:pt x="0" y="12700"/>
                      </a:moveTo>
                      <a:lnTo>
                        <a:pt x="12700" y="25400"/>
                      </a:lnTo>
                      <a:lnTo>
                        <a:pt x="38100" y="0"/>
                      </a:lnTo>
                    </a:path>
                  </a:pathLst>
                </a:custGeom>
                <a:noFill/>
                <a:ln w="19050">
                  <a:solidFill>
                    <a:srgbClr val="22D3EE"/>
                  </a:solidFill>
                </a:ln>
                <a:effectLst>
                  <a:outerShdw blurRad="95250" dist="28575" dir="5400000" algn="ctr" rotWithShape="0">
                    <a:srgbClr val="000000">
                      <a:alpha val="30000"/>
                    </a:srgbClr>
                  </a:outerShdw>
                </a:effectLst>
              </p:spPr>
            </p:sp>
          </p:grpSp>
          <p:sp>
            <p:nvSpPr>
              <p:cNvPr id="68" name="TextBox 68"/>
              <p:cNvSpPr txBox="1"/>
              <p:nvPr/>
            </p:nvSpPr>
            <p:spPr>
              <a:xfrm>
                <a:off x="1244918" y="4990624"/>
                <a:ext cx="1505975"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Tài Liệu SRS &amp; Kiểm Thử</a:t>
                </a:r>
              </a:p>
            </p:txBody>
          </p:sp>
          <p:sp>
            <p:nvSpPr>
              <p:cNvPr id="69" name="TextBox 69"/>
              <p:cNvSpPr txBox="1"/>
              <p:nvPr/>
            </p:nvSpPr>
            <p:spPr>
              <a:xfrm>
                <a:off x="1246822" y="5159216"/>
                <a:ext cx="191319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22D3EE"/>
                    </a:solidFill>
                    <a:latin typeface="Segoe UI"/>
                    <a:ea typeface="Microsoft YaHei"/>
                    <a:cs typeface="Segoe UI"/>
                  </a:rPr>
                  <a:t>Kiểm Định Toàn Diện Luồng Giao Dịch</a:t>
                </a:r>
              </a:p>
            </p:txBody>
          </p:sp>
          <p:sp>
            <p:nvSpPr>
              <p:cNvPr id="70" name="TextBox 70"/>
              <p:cNvSpPr txBox="1"/>
              <p:nvPr/>
            </p:nvSpPr>
            <p:spPr>
              <a:xfrm>
                <a:off x="884396" y="5364718"/>
                <a:ext cx="242570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Báo cáo phân tích kiến trúc, lược đồ CSDL</a:t>
                </a:r>
              </a:p>
            </p:txBody>
          </p:sp>
          <p:sp>
            <p:nvSpPr>
              <p:cNvPr id="71" name="TextBox 71"/>
              <p:cNvSpPr txBox="1"/>
              <p:nvPr/>
            </p:nvSpPr>
            <p:spPr>
              <a:xfrm>
                <a:off x="884396" y="5526643"/>
                <a:ext cx="2770751"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Kịch bản kiểm thử Happy Path và Bù Trừ Rollback</a:t>
                </a:r>
              </a:p>
            </p:txBody>
          </p:sp>
        </p:grpSp>
        <p:sp>
          <p:nvSpPr>
            <p:cNvPr id="73" name="Rectangle 73"/>
            <p:cNvSpPr/>
            <p:nvPr/>
          </p:nvSpPr>
          <p:spPr>
            <a:xfrm>
              <a:off x="742950" y="5876925"/>
              <a:ext cx="3943350" cy="323850"/>
            </a:xfrm>
            <a:prstGeom prst="roundRect">
              <a:avLst>
                <a:gd name="adj" fmla="val 23529"/>
              </a:avLst>
            </a:prstGeom>
            <a:solidFill>
              <a:srgbClr val="172554"/>
            </a:solidFill>
            <a:ln w="9525">
              <a:solidFill>
                <a:srgbClr val="2563EB"/>
              </a:solidFill>
            </a:ln>
            <a:effectLst>
              <a:outerShdw blurRad="95250" dist="28575" dir="5400000" algn="ctr" rotWithShape="0">
                <a:srgbClr val="000000">
                  <a:alpha val="30000"/>
                </a:srgbClr>
              </a:outerShdw>
            </a:effectLst>
          </p:spPr>
        </p:sp>
        <p:sp>
          <p:nvSpPr>
            <p:cNvPr id="74" name="TextBox 74"/>
            <p:cNvSpPr txBox="1"/>
            <p:nvPr/>
          </p:nvSpPr>
          <p:spPr>
            <a:xfrm>
              <a:off x="1348083" y="5983843"/>
              <a:ext cx="273308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62" b="1" dirty="0">
                  <a:solidFill>
                    <a:srgbClr val="38BDF8"/>
                  </a:solidFill>
                  <a:latin typeface="Segoe UI"/>
                  <a:ea typeface="Microsoft YaHei"/>
                  <a:cs typeface="Segoe UI"/>
                </a:rPr>
                <a:t>✓ HOÀN THIỆN ĐẦY ĐỦ 100% HIỆN VẬT THEO YÊU CẦU</a:t>
              </a:r>
            </a:p>
          </p:txBody>
        </p:sp>
      </p:grpSp>
      <p:grpSp>
        <p:nvGrpSpPr>
          <p:cNvPr id="103" name="Group 103"/>
          <p:cNvGrpSpPr/>
          <p:nvPr/>
        </p:nvGrpSpPr>
        <p:grpSpPr>
          <a:xfrm>
            <a:off x="5048250" y="1285875"/>
            <a:ext cx="6572250" cy="5048250"/>
            <a:chOff x="5048250" y="1285875"/>
            <a:chExt cx="6572250" cy="5048250"/>
          </a:xfrm>
          <a:effectLst>
            <a:outerShdw blurRad="95250" dist="28575" dir="5400000" algn="ctr" rotWithShape="0">
              <a:srgbClr val="000000">
                <a:alpha val="30000"/>
              </a:srgbClr>
            </a:outerShdw>
          </a:effectLst>
        </p:grpSpPr>
        <p:sp>
          <p:nvSpPr>
            <p:cNvPr id="76" name="Rectangle 76"/>
            <p:cNvSpPr/>
            <p:nvPr/>
          </p:nvSpPr>
          <p:spPr>
            <a:xfrm>
              <a:off x="5048250" y="1285875"/>
              <a:ext cx="6572250"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77" name="Rectangle 77"/>
            <p:cNvSpPr/>
            <p:nvPr/>
          </p:nvSpPr>
          <p:spPr>
            <a:xfrm>
              <a:off x="5048250" y="1285875"/>
              <a:ext cx="6572250"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78" name="Ellipse 78"/>
            <p:cNvSpPr/>
            <p:nvPr/>
          </p:nvSpPr>
          <p:spPr>
            <a:xfrm>
              <a:off x="5200650" y="1428750"/>
              <a:ext cx="114300" cy="114300"/>
            </a:xfrm>
            <a:prstGeom prst="ellipse">
              <a:avLst/>
            </a:prstGeom>
            <a:solidFill>
              <a:srgbClr val="EF4444"/>
            </a:solidFill>
            <a:ln>
              <a:noFill/>
            </a:ln>
            <a:effectLst>
              <a:outerShdw blurRad="95250" dist="28575" dir="5400000" algn="ctr" rotWithShape="0">
                <a:srgbClr val="000000">
                  <a:alpha val="30000"/>
                </a:srgbClr>
              </a:outerShdw>
            </a:effectLst>
          </p:spPr>
        </p:sp>
        <p:sp>
          <p:nvSpPr>
            <p:cNvPr id="79" name="Ellipse 79"/>
            <p:cNvSpPr/>
            <p:nvPr/>
          </p:nvSpPr>
          <p:spPr>
            <a:xfrm>
              <a:off x="5372100" y="1428750"/>
              <a:ext cx="114300" cy="114300"/>
            </a:xfrm>
            <a:prstGeom prst="ellipse">
              <a:avLst/>
            </a:prstGeom>
            <a:solidFill>
              <a:srgbClr val="F59E0B"/>
            </a:solidFill>
            <a:ln>
              <a:noFill/>
            </a:ln>
            <a:effectLst>
              <a:outerShdw blurRad="95250" dist="28575" dir="5400000" algn="ctr" rotWithShape="0">
                <a:srgbClr val="000000">
                  <a:alpha val="30000"/>
                </a:srgbClr>
              </a:outerShdw>
            </a:effectLst>
          </p:spPr>
        </p:sp>
        <p:sp>
          <p:nvSpPr>
            <p:cNvPr id="80" name="Ellipse 80"/>
            <p:cNvSpPr/>
            <p:nvPr/>
          </p:nvSpPr>
          <p:spPr>
            <a:xfrm>
              <a:off x="5543550" y="1428750"/>
              <a:ext cx="114300" cy="114300"/>
            </a:xfrm>
            <a:prstGeom prst="ellipse">
              <a:avLst/>
            </a:prstGeom>
            <a:solidFill>
              <a:srgbClr val="10B981"/>
            </a:solidFill>
            <a:ln>
              <a:noFill/>
            </a:ln>
            <a:effectLst>
              <a:outerShdw blurRad="95250" dist="28575" dir="5400000" algn="ctr" rotWithShape="0">
                <a:srgbClr val="000000">
                  <a:alpha val="30000"/>
                </a:srgbClr>
              </a:outerShdw>
            </a:effectLst>
          </p:spPr>
        </p:sp>
        <p:sp>
          <p:nvSpPr>
            <p:cNvPr id="81" name="Rectangle 81"/>
            <p:cNvSpPr/>
            <p:nvPr/>
          </p:nvSpPr>
          <p:spPr>
            <a:xfrm>
              <a:off x="5810250" y="1371600"/>
              <a:ext cx="3619500" cy="228600"/>
            </a:xfrm>
            <a:prstGeom prst="roundRect">
              <a:avLst>
                <a:gd name="adj" fmla="val 25000"/>
              </a:avLst>
            </a:prstGeom>
            <a:solidFill>
              <a:srgbClr val="0B1120"/>
            </a:solidFill>
            <a:ln>
              <a:noFill/>
            </a:ln>
            <a:effectLst>
              <a:outerShdw blurRad="95250" dist="28575" dir="5400000" algn="ctr" rotWithShape="0">
                <a:srgbClr val="000000">
                  <a:alpha val="30000"/>
                </a:srgbClr>
              </a:outerShdw>
            </a:effectLst>
          </p:spPr>
        </p:sp>
        <p:grpSp>
          <p:nvGrpSpPr>
            <p:cNvPr id="87" name="Group 87"/>
            <p:cNvGrpSpPr/>
            <p:nvPr/>
          </p:nvGrpSpPr>
          <p:grpSpPr>
            <a:xfrm>
              <a:off x="5903119" y="1435894"/>
              <a:ext cx="100012" cy="100012"/>
              <a:chOff x="5903119" y="1435894"/>
              <a:chExt cx="100012" cy="100012"/>
            </a:xfrm>
          </p:grpSpPr>
          <p:sp>
            <p:nvSpPr>
              <p:cNvPr id="82" name="Freeform 82"/>
              <p:cNvSpPr/>
              <p:nvPr/>
            </p:nvSpPr>
            <p:spPr>
              <a:xfrm>
                <a:off x="5903119" y="1435894"/>
                <a:ext cx="100012" cy="100012"/>
              </a:xfrm>
              <a:custGeom>
                <a:avLst/>
                <a:gdLst/>
                <a:ahLst/>
                <a:cxnLst/>
                <a:rect l="l" t="t" r="r" b="b"/>
                <a:pathLst>
                  <a:path w="100012" h="100012">
                    <a:moveTo>
                      <a:pt x="0" y="50006"/>
                    </a:moveTo>
                    <a:cubicBezTo>
                      <a:pt x="0" y="77624"/>
                      <a:pt x="22389" y="100012"/>
                      <a:pt x="50006" y="100012"/>
                    </a:cubicBezTo>
                    <a:cubicBezTo>
                      <a:pt x="77624" y="100012"/>
                      <a:pt x="100012" y="77624"/>
                      <a:pt x="100012" y="50006"/>
                    </a:cubicBezTo>
                    <a:cubicBezTo>
                      <a:pt x="100012" y="22389"/>
                      <a:pt x="77624" y="0"/>
                      <a:pt x="50006" y="0"/>
                    </a:cubicBezTo>
                    <a:cubicBezTo>
                      <a:pt x="22389" y="0"/>
                      <a:pt x="0" y="22389"/>
                      <a:pt x="0" y="50006"/>
                    </a:cubicBezTo>
                  </a:path>
                </a:pathLst>
              </a:custGeom>
              <a:noFill/>
              <a:ln w="19050">
                <a:solidFill>
                  <a:srgbClr val="64748B"/>
                </a:solidFill>
              </a:ln>
              <a:effectLst>
                <a:outerShdw blurRad="95250" dist="28575" dir="5400000" algn="ctr" rotWithShape="0">
                  <a:srgbClr val="000000">
                    <a:alpha val="30000"/>
                  </a:srgbClr>
                </a:outerShdw>
              </a:effectLst>
            </p:spPr>
          </p:sp>
          <p:sp>
            <p:nvSpPr>
              <p:cNvPr id="83" name="Freeform 83"/>
              <p:cNvSpPr/>
              <p:nvPr/>
            </p:nvSpPr>
            <p:spPr>
              <a:xfrm>
                <a:off x="5906452" y="1469231"/>
                <a:ext cx="93345" cy="9525"/>
              </a:xfrm>
              <a:custGeom>
                <a:avLst/>
                <a:gdLst/>
                <a:ahLst/>
                <a:cxnLst/>
                <a:rect l="l" t="t" r="r" b="b"/>
                <a:pathLst>
                  <a:path w="93345" h="9525">
                    <a:moveTo>
                      <a:pt x="0" y="0"/>
                    </a:moveTo>
                    <a:lnTo>
                      <a:pt x="93345" y="0"/>
                    </a:lnTo>
                  </a:path>
                </a:pathLst>
              </a:custGeom>
              <a:noFill/>
              <a:ln w="19050">
                <a:solidFill>
                  <a:srgbClr val="64748B"/>
                </a:solidFill>
              </a:ln>
              <a:effectLst>
                <a:outerShdw blurRad="95250" dist="28575" dir="5400000" algn="ctr" rotWithShape="0">
                  <a:srgbClr val="000000">
                    <a:alpha val="30000"/>
                  </a:srgbClr>
                </a:outerShdw>
              </a:effectLst>
            </p:spPr>
          </p:sp>
          <p:sp>
            <p:nvSpPr>
              <p:cNvPr id="84" name="Freeform 84"/>
              <p:cNvSpPr/>
              <p:nvPr/>
            </p:nvSpPr>
            <p:spPr>
              <a:xfrm>
                <a:off x="5906452" y="1502569"/>
                <a:ext cx="93345" cy="9525"/>
              </a:xfrm>
              <a:custGeom>
                <a:avLst/>
                <a:gdLst/>
                <a:ahLst/>
                <a:cxnLst/>
                <a:rect l="l" t="t" r="r" b="b"/>
                <a:pathLst>
                  <a:path w="93345" h="9525">
                    <a:moveTo>
                      <a:pt x="0" y="0"/>
                    </a:moveTo>
                    <a:lnTo>
                      <a:pt x="93345" y="0"/>
                    </a:lnTo>
                  </a:path>
                </a:pathLst>
              </a:custGeom>
              <a:noFill/>
              <a:ln w="19050">
                <a:solidFill>
                  <a:srgbClr val="64748B"/>
                </a:solidFill>
              </a:ln>
              <a:effectLst>
                <a:outerShdw blurRad="95250" dist="28575" dir="5400000" algn="ctr" rotWithShape="0">
                  <a:srgbClr val="000000">
                    <a:alpha val="30000"/>
                  </a:srgbClr>
                </a:outerShdw>
              </a:effectLst>
            </p:spPr>
          </p:sp>
          <p:sp>
            <p:nvSpPr>
              <p:cNvPr id="85" name="Freeform 85"/>
              <p:cNvSpPr/>
              <p:nvPr/>
            </p:nvSpPr>
            <p:spPr>
              <a:xfrm>
                <a:off x="5931250" y="1435894"/>
                <a:ext cx="19097" cy="100012"/>
              </a:xfrm>
              <a:custGeom>
                <a:avLst/>
                <a:gdLst/>
                <a:ahLst/>
                <a:cxnLst/>
                <a:rect l="l" t="t" r="r" b="b"/>
                <a:pathLst>
                  <a:path w="19097" h="100012">
                    <a:moveTo>
                      <a:pt x="19097" y="0"/>
                    </a:moveTo>
                    <a:cubicBezTo>
                      <a:pt x="0" y="30603"/>
                      <a:pt x="0" y="69410"/>
                      <a:pt x="19097" y="100012"/>
                    </a:cubicBezTo>
                  </a:path>
                </a:pathLst>
              </a:custGeom>
              <a:noFill/>
              <a:ln w="19050">
                <a:solidFill>
                  <a:srgbClr val="64748B"/>
                </a:solidFill>
              </a:ln>
              <a:effectLst>
                <a:outerShdw blurRad="95250" dist="28575" dir="5400000" algn="ctr" rotWithShape="0">
                  <a:srgbClr val="000000">
                    <a:alpha val="30000"/>
                  </a:srgbClr>
                </a:outerShdw>
              </a:effectLst>
            </p:spPr>
          </p:sp>
          <p:sp>
            <p:nvSpPr>
              <p:cNvPr id="86" name="Freeform 86"/>
              <p:cNvSpPr/>
              <p:nvPr/>
            </p:nvSpPr>
            <p:spPr>
              <a:xfrm>
                <a:off x="5955903" y="1435894"/>
                <a:ext cx="19097" cy="100012"/>
              </a:xfrm>
              <a:custGeom>
                <a:avLst/>
                <a:gdLst/>
                <a:ahLst/>
                <a:cxnLst/>
                <a:rect l="l" t="t" r="r" b="b"/>
                <a:pathLst>
                  <a:path w="19097" h="100012">
                    <a:moveTo>
                      <a:pt x="0" y="0"/>
                    </a:moveTo>
                    <a:cubicBezTo>
                      <a:pt x="19097" y="30603"/>
                      <a:pt x="19097" y="69410"/>
                      <a:pt x="0" y="100012"/>
                    </a:cubicBezTo>
                  </a:path>
                </a:pathLst>
              </a:custGeom>
              <a:noFill/>
              <a:ln w="19050">
                <a:solidFill>
                  <a:srgbClr val="64748B"/>
                </a:solidFill>
              </a:ln>
              <a:effectLst>
                <a:outerShdw blurRad="95250" dist="28575" dir="5400000" algn="ctr" rotWithShape="0">
                  <a:srgbClr val="000000">
                    <a:alpha val="30000"/>
                  </a:srgbClr>
                </a:outerShdw>
              </a:effectLst>
            </p:spPr>
          </p:sp>
        </p:grpSp>
        <p:sp>
          <p:nvSpPr>
            <p:cNvPr id="88" name="TextBox 88"/>
            <p:cNvSpPr txBox="1"/>
            <p:nvPr/>
          </p:nvSpPr>
          <p:spPr>
            <a:xfrm>
              <a:off x="6085522" y="1434941"/>
              <a:ext cx="2853809"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25" dirty="0">
                  <a:solidFill>
                    <a:srgbClr val="94A3B8"/>
                  </a:solidFill>
                  <a:latin typeface="Segoe UI"/>
                  <a:ea typeface="Microsoft YaHei"/>
                  <a:cs typeface="Segoe UI"/>
                </a:rPr>
                <a:t>http://localhost:8761 (Eureka Discovery Dashboard)</a:t>
              </a:r>
            </a:p>
          </p:txBody>
        </p:sp>
        <p:sp>
          <p:nvSpPr>
            <p:cNvPr id="89" name="Rectangle 89"/>
            <p:cNvSpPr/>
            <p:nvPr/>
          </p:nvSpPr>
          <p:spPr>
            <a:xfrm>
              <a:off x="10048875" y="1371600"/>
              <a:ext cx="1428750" cy="228600"/>
            </a:xfrm>
            <a:prstGeom prst="roundRect">
              <a:avLst>
                <a:gd name="adj" fmla="val 50000"/>
              </a:avLst>
            </a:prstGeom>
            <a:solidFill>
              <a:srgbClr val="064E3B"/>
            </a:solidFill>
            <a:ln w="9525">
              <a:solidFill>
                <a:srgbClr val="10B981"/>
              </a:solidFill>
            </a:ln>
            <a:effectLst>
              <a:outerShdw blurRad="95250" dist="28575" dir="5400000" algn="ctr" rotWithShape="0">
                <a:srgbClr val="000000">
                  <a:alpha val="30000"/>
                </a:srgbClr>
              </a:outerShdw>
            </a:effectLst>
          </p:spPr>
        </p:sp>
        <p:sp>
          <p:nvSpPr>
            <p:cNvPr id="90" name="Ellipse 90"/>
            <p:cNvSpPr/>
            <p:nvPr/>
          </p:nvSpPr>
          <p:spPr>
            <a:xfrm>
              <a:off x="10153650" y="1447800"/>
              <a:ext cx="76200" cy="76200"/>
            </a:xfrm>
            <a:prstGeom prst="ellipse">
              <a:avLst/>
            </a:prstGeom>
            <a:solidFill>
              <a:srgbClr val="4ADE80"/>
            </a:solidFill>
            <a:ln>
              <a:noFill/>
            </a:ln>
            <a:effectLst>
              <a:outerShdw blurRad="95250" dist="28575" dir="5400000" algn="ctr" rotWithShape="0">
                <a:srgbClr val="000000">
                  <a:alpha val="30000"/>
                </a:srgbClr>
              </a:outerShdw>
            </a:effectLst>
          </p:spPr>
        </p:sp>
        <p:sp>
          <p:nvSpPr>
            <p:cNvPr id="91" name="TextBox 91"/>
            <p:cNvSpPr txBox="1"/>
            <p:nvPr/>
          </p:nvSpPr>
          <p:spPr>
            <a:xfrm>
              <a:off x="10296049" y="1438989"/>
              <a:ext cx="913139" cy="1600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788" b="1" dirty="0">
                  <a:solidFill>
                    <a:srgbClr val="86EFAC"/>
                  </a:solidFill>
                  <a:latin typeface="Segoe UI"/>
                  <a:ea typeface="Microsoft YaHei"/>
                  <a:cs typeface="Segoe UI"/>
                </a:rPr>
                <a:t>6 / 6 SERVICES UP</a:t>
              </a:r>
            </a:p>
          </p:txBody>
        </p:sp>
        <p:grpSp>
          <p:nvGrpSpPr>
            <p:cNvPr id="94" name="Group 94"/>
            <p:cNvGrpSpPr/>
            <p:nvPr/>
          </p:nvGrpSpPr>
          <p:grpSpPr>
            <a:xfrm>
              <a:off x="5191125" y="1781175"/>
              <a:ext cx="6286500" cy="3571875"/>
              <a:chOff x="5191125" y="1781175"/>
              <a:chExt cx="6286500" cy="3571875"/>
            </a:xfrm>
          </p:grpSpPr>
          <p:sp>
            <p:nvSpPr>
              <p:cNvPr id="92" name="Rectangle 92"/>
              <p:cNvSpPr/>
              <p:nvPr/>
            </p:nvSpPr>
            <p:spPr>
              <a:xfrm>
                <a:off x="5191125" y="1781175"/>
                <a:ext cx="6286500" cy="3571875"/>
              </a:xfrm>
              <a:prstGeom prst="roundRect">
                <a:avLst>
                  <a:gd name="adj" fmla="val 2133"/>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93" name="Image 93"/>
              <p:cNvPicPr>
                <a:picLocks noChangeAspect="1"/>
              </p:cNvPicPr>
              <p:nvPr/>
            </p:nvPicPr>
            <p:blipFill>
              <a:blip r:embed="rId2"/>
              <a:stretch>
                <a:fillRect/>
              </a:stretch>
            </p:blipFill>
            <p:spPr>
              <a:xfrm>
                <a:off x="5374145" y="1800225"/>
                <a:ext cx="5920461" cy="3533775"/>
              </a:xfrm>
              <a:prstGeom prst="rect">
                <a:avLst/>
              </a:prstGeom>
            </p:spPr>
          </p:pic>
        </p:grpSp>
        <p:grpSp>
          <p:nvGrpSpPr>
            <p:cNvPr id="102" name="Group 102"/>
            <p:cNvGrpSpPr/>
            <p:nvPr/>
          </p:nvGrpSpPr>
          <p:grpSpPr>
            <a:xfrm>
              <a:off x="5191125" y="5448300"/>
              <a:ext cx="6286500" cy="762000"/>
              <a:chOff x="5191125" y="5448300"/>
              <a:chExt cx="6286500" cy="762000"/>
            </a:xfrm>
          </p:grpSpPr>
          <p:sp>
            <p:nvSpPr>
              <p:cNvPr id="95" name="Rectangle 95"/>
              <p:cNvSpPr/>
              <p:nvPr/>
            </p:nvSpPr>
            <p:spPr>
              <a:xfrm>
                <a:off x="5191125" y="5448300"/>
                <a:ext cx="6286500" cy="762000"/>
              </a:xfrm>
              <a:prstGeom prst="roundRect">
                <a:avLst>
                  <a:gd name="adj" fmla="val 1000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96" name="TextBox 96"/>
              <p:cNvSpPr txBox="1"/>
              <p:nvPr/>
            </p:nvSpPr>
            <p:spPr>
              <a:xfrm>
                <a:off x="5332095" y="5579745"/>
                <a:ext cx="2385655"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8FAFC"/>
                    </a:solidFill>
                    <a:latin typeface="Segoe UI"/>
                    <a:ea typeface="Microsoft YaHei"/>
                    <a:cs typeface="Segoe UI"/>
                  </a:rPr>
                  <a:t>Minh Chứng Vận Hành Khám Phá Dịch Vụ:</a:t>
                </a:r>
              </a:p>
            </p:txBody>
          </p:sp>
          <p:sp>
            <p:nvSpPr>
              <p:cNvPr id="97" name="TextBox 97"/>
              <p:cNvSpPr txBox="1"/>
              <p:nvPr/>
            </p:nvSpPr>
            <p:spPr>
              <a:xfrm>
                <a:off x="5332571" y="5774293"/>
                <a:ext cx="529531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Toàn bộ 6 services: API-GATEWAY, IDENTITY, CUSTOMER, ACCOUNT, TRANSACTION, NOTIFICATION</a:t>
                </a:r>
              </a:p>
            </p:txBody>
          </p:sp>
          <p:sp>
            <p:nvSpPr>
              <p:cNvPr id="98" name="TextBox 98"/>
              <p:cNvSpPr txBox="1"/>
              <p:nvPr/>
            </p:nvSpPr>
            <p:spPr>
              <a:xfrm>
                <a:off x="5332571" y="5955268"/>
                <a:ext cx="489851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Tự động gửi nhịp tim (Heartbeat 30s) đến Eureka Server để đảm bảo tính sẵn sàng cao</a:t>
                </a:r>
              </a:p>
            </p:txBody>
          </p:sp>
          <p:sp>
            <p:nvSpPr>
              <p:cNvPr id="99" name="Rectangle 99"/>
              <p:cNvSpPr/>
              <p:nvPr/>
            </p:nvSpPr>
            <p:spPr>
              <a:xfrm>
                <a:off x="10239375" y="5600700"/>
                <a:ext cx="1095375" cy="457200"/>
              </a:xfrm>
              <a:prstGeom prst="roundRect">
                <a:avLst>
                  <a:gd name="adj" fmla="val 12500"/>
                </a:avLst>
              </a:prstGeom>
              <a:solidFill>
                <a:srgbClr val="0F172A"/>
              </a:solidFill>
              <a:ln w="9525">
                <a:solidFill>
                  <a:srgbClr val="06B6D4"/>
                </a:solidFill>
              </a:ln>
              <a:effectLst>
                <a:outerShdw blurRad="95250" dist="28575" dir="5400000" algn="ctr" rotWithShape="0">
                  <a:srgbClr val="000000">
                    <a:alpha val="30000"/>
                  </a:srgbClr>
                </a:outerShdw>
              </a:effectLst>
            </p:spPr>
          </p:sp>
          <p:sp>
            <p:nvSpPr>
              <p:cNvPr id="100" name="TextBox 100"/>
              <p:cNvSpPr txBox="1"/>
              <p:nvPr/>
            </p:nvSpPr>
            <p:spPr>
              <a:xfrm>
                <a:off x="10510242" y="5691188"/>
                <a:ext cx="544116" cy="1524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750" b="1" dirty="0">
                    <a:solidFill>
                      <a:srgbClr val="67E8F9"/>
                    </a:solidFill>
                    <a:latin typeface="Segoe UI"/>
                    <a:ea typeface="Microsoft YaHei"/>
                    <a:cs typeface="Segoe UI"/>
                  </a:rPr>
                  <a:t>TRẠNG THÁI</a:t>
                </a:r>
              </a:p>
            </p:txBody>
          </p:sp>
          <p:sp>
            <p:nvSpPr>
              <p:cNvPr id="101" name="TextBox 101"/>
              <p:cNvSpPr txBox="1"/>
              <p:nvPr/>
            </p:nvSpPr>
            <p:spPr>
              <a:xfrm>
                <a:off x="10386522" y="5846445"/>
                <a:ext cx="79155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900" b="1" dirty="0">
                    <a:solidFill>
                      <a:srgbClr val="4ADE80"/>
                    </a:solidFill>
                    <a:latin typeface="Segoe UI"/>
                    <a:ea typeface="Microsoft YaHei"/>
                    <a:cs typeface="Segoe UI"/>
                  </a:rPr>
                  <a:t>100% HEALTHY</a:t>
                </a:r>
              </a:p>
            </p:txBody>
          </p:sp>
        </p:grpSp>
      </p:grpSp>
      <p:grpSp>
        <p:nvGrpSpPr>
          <p:cNvPr id="106" name="Group 106"/>
          <p:cNvGrpSpPr/>
          <p:nvPr/>
        </p:nvGrpSpPr>
        <p:grpSpPr>
          <a:xfrm>
            <a:off x="560070" y="6522720"/>
            <a:ext cx="11071860" cy="182880"/>
            <a:chOff x="560070" y="6522720"/>
            <a:chExt cx="11071860" cy="182880"/>
          </a:xfrm>
        </p:grpSpPr>
        <p:sp>
          <p:nvSpPr>
            <p:cNvPr id="104" name="TextBox 104"/>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105" name="TextBox 105"/>
            <p:cNvSpPr txBox="1"/>
            <p:nvPr/>
          </p:nvSpPr>
          <p:spPr>
            <a:xfrm>
              <a:off x="10928585" y="6522720"/>
              <a:ext cx="703345"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image">
                                      <p:cBhvr>
                                        <p:cTn id="7" dur="400"/>
                                        <p:tgtEl>
                                          <p:spTgt spid="7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4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0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3B82F6">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560734" cy="797719"/>
            <a:chOff x="548640" y="342900"/>
            <a:chExt cx="6560734" cy="797719"/>
          </a:xfrm>
        </p:grpSpPr>
        <p:sp>
          <p:nvSpPr>
            <p:cNvPr id="7" name="Rectangle 7"/>
            <p:cNvSpPr/>
            <p:nvPr/>
          </p:nvSpPr>
          <p:spPr>
            <a:xfrm>
              <a:off x="571500" y="342900"/>
              <a:ext cx="1809750" cy="247650"/>
            </a:xfrm>
            <a:prstGeom prst="roundRect">
              <a:avLst>
                <a:gd name="adj" fmla="val 50000"/>
              </a:avLst>
            </a:prstGeom>
            <a:solidFill>
              <a:srgbClr val="1E293B"/>
            </a:solidFill>
            <a:ln w="9525">
              <a:solidFill>
                <a:srgbClr val="3B82F6"/>
              </a:solidFill>
            </a:ln>
          </p:spPr>
        </p:sp>
        <p:sp>
          <p:nvSpPr>
            <p:cNvPr id="8" name="TextBox 8"/>
            <p:cNvSpPr txBox="1"/>
            <p:nvPr/>
          </p:nvSpPr>
          <p:spPr>
            <a:xfrm>
              <a:off x="833456" y="415766"/>
              <a:ext cx="1285838" cy="167640"/>
            </a:xfrm>
            <a:prstGeom prst="rect">
              <a:avLst/>
            </a:prstGeom>
            <a:noFill/>
            <a:ln>
              <a:noFill/>
            </a:ln>
          </p:spPr>
          <p:txBody>
            <a:bodyPr wrap="none" lIns="0" tIns="0" rIns="0" bIns="0" anchor="t" anchorCtr="0">
              <a:spAutoFit/>
            </a:bodyPr>
            <a:lstStyle/>
            <a:p>
              <a:pPr algn="ctr"/>
              <a:r>
                <a:rPr lang="zh-CN" sz="825" b="1" dirty="0">
                  <a:solidFill>
                    <a:srgbClr val="60A5FA"/>
                  </a:solidFill>
                  <a:latin typeface="Segoe UI"/>
                  <a:ea typeface="Microsoft YaHei"/>
                  <a:cs typeface="Segoe UI"/>
                </a:rPr>
                <a:t>DEMO THỰC NGHIỆM 1 &amp; 2</a:t>
              </a:r>
            </a:p>
          </p:txBody>
        </p:sp>
        <p:sp>
          <p:nvSpPr>
            <p:cNvPr id="9" name="TextBox 9"/>
            <p:cNvSpPr txBox="1"/>
            <p:nvPr/>
          </p:nvSpPr>
          <p:spPr>
            <a:xfrm>
              <a:off x="548640" y="624840"/>
              <a:ext cx="6560734"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Xác Thực Phân Tán JWT &amp; Tối Ưu Hóa Tốc Độ Redis Cache</a:t>
              </a:r>
            </a:p>
          </p:txBody>
        </p:sp>
        <p:sp>
          <p:nvSpPr>
            <p:cNvPr id="10" name="TextBox 10"/>
            <p:cNvSpPr txBox="1"/>
            <p:nvPr/>
          </p:nvSpPr>
          <p:spPr>
            <a:xfrm>
              <a:off x="559118" y="942499"/>
              <a:ext cx="6495674"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Kiểm thử định tuyến qua API Gateway: Cấp quyền Bearer Token và phản hồi số dư tài khoản dưới 3ms</a:t>
              </a:r>
            </a:p>
          </p:txBody>
        </p:sp>
      </p:grpSp>
      <p:grpSp>
        <p:nvGrpSpPr>
          <p:cNvPr id="27" name="Group 27"/>
          <p:cNvGrpSpPr/>
          <p:nvPr/>
        </p:nvGrpSpPr>
        <p:grpSpPr>
          <a:xfrm>
            <a:off x="571500" y="1285875"/>
            <a:ext cx="5381625" cy="5048250"/>
            <a:chOff x="571500" y="1285875"/>
            <a:chExt cx="5381625" cy="5048250"/>
          </a:xfrm>
          <a:effectLst>
            <a:outerShdw blurRad="95250" dist="28575" dir="5400000" algn="ctr" rotWithShape="0">
              <a:srgbClr val="000000">
                <a:alpha val="30000"/>
              </a:srgbClr>
            </a:outerShdw>
          </a:effectLst>
        </p:grpSpPr>
        <p:sp>
          <p:nvSpPr>
            <p:cNvPr id="12" name="Rectangle 12"/>
            <p:cNvSpPr/>
            <p:nvPr/>
          </p:nvSpPr>
          <p:spPr>
            <a:xfrm>
              <a:off x="571500"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13" name="Rectangle 13"/>
            <p:cNvSpPr/>
            <p:nvPr/>
          </p:nvSpPr>
          <p:spPr>
            <a:xfrm>
              <a:off x="571500"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14" name="Rectangle 14"/>
            <p:cNvSpPr/>
            <p:nvPr/>
          </p:nvSpPr>
          <p:spPr>
            <a:xfrm>
              <a:off x="723900" y="1371600"/>
              <a:ext cx="1000125" cy="228600"/>
            </a:xfrm>
            <a:prstGeom prst="roundRect">
              <a:avLst>
                <a:gd name="adj" fmla="val 25000"/>
              </a:avLst>
            </a:prstGeom>
            <a:solidFill>
              <a:srgbClr val="172554"/>
            </a:solidFill>
            <a:ln w="9525">
              <a:solidFill>
                <a:srgbClr val="2563EB"/>
              </a:solidFill>
            </a:ln>
            <a:effectLst>
              <a:outerShdw blurRad="95250" dist="28575" dir="5400000" algn="ctr" rotWithShape="0">
                <a:srgbClr val="000000">
                  <a:alpha val="30000"/>
                </a:srgbClr>
              </a:outerShdw>
            </a:effectLst>
          </p:spPr>
        </p:sp>
        <p:sp>
          <p:nvSpPr>
            <p:cNvPr id="15" name="TextBox 15"/>
            <p:cNvSpPr txBox="1"/>
            <p:nvPr/>
          </p:nvSpPr>
          <p:spPr>
            <a:xfrm>
              <a:off x="833301" y="1434941"/>
              <a:ext cx="771799"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38BDF8"/>
                  </a:solidFill>
                  <a:latin typeface="Segoe UI"/>
                  <a:ea typeface="Microsoft YaHei"/>
                  <a:cs typeface="Segoe UI"/>
                </a:rPr>
                <a:t>DEMO 2: AUTH</a:t>
              </a:r>
            </a:p>
          </p:txBody>
        </p:sp>
        <p:sp>
          <p:nvSpPr>
            <p:cNvPr id="16" name="TextBox 16"/>
            <p:cNvSpPr txBox="1"/>
            <p:nvPr/>
          </p:nvSpPr>
          <p:spPr>
            <a:xfrm>
              <a:off x="1845469" y="1432322"/>
              <a:ext cx="1546503"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POST /api/v1/auth/login</a:t>
              </a:r>
            </a:p>
          </p:txBody>
        </p:sp>
        <p:grpSp>
          <p:nvGrpSpPr>
            <p:cNvPr id="19" name="Group 19"/>
            <p:cNvGrpSpPr/>
            <p:nvPr/>
          </p:nvGrpSpPr>
          <p:grpSpPr>
            <a:xfrm>
              <a:off x="714375" y="1781175"/>
              <a:ext cx="5095875" cy="3095625"/>
              <a:chOff x="714375" y="1781175"/>
              <a:chExt cx="5095875" cy="3095625"/>
            </a:xfrm>
          </p:grpSpPr>
          <p:sp>
            <p:nvSpPr>
              <p:cNvPr id="17" name="Rectangle 17"/>
              <p:cNvSpPr/>
              <p:nvPr/>
            </p:nvSpPr>
            <p:spPr>
              <a:xfrm>
                <a:off x="714375"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18" name="Image 18"/>
              <p:cNvPicPr>
                <a:picLocks noChangeAspect="1"/>
              </p:cNvPicPr>
              <p:nvPr/>
            </p:nvPicPr>
            <p:blipFill>
              <a:blip r:embed="rId2"/>
              <a:stretch>
                <a:fillRect/>
              </a:stretch>
            </p:blipFill>
            <p:spPr>
              <a:xfrm>
                <a:off x="733425" y="1819558"/>
                <a:ext cx="5057775" cy="3018859"/>
              </a:xfrm>
              <a:prstGeom prst="rect">
                <a:avLst/>
              </a:prstGeom>
            </p:spPr>
          </p:pic>
        </p:grpSp>
        <p:grpSp>
          <p:nvGrpSpPr>
            <p:cNvPr id="26" name="Group 26"/>
            <p:cNvGrpSpPr/>
            <p:nvPr/>
          </p:nvGrpSpPr>
          <p:grpSpPr>
            <a:xfrm>
              <a:off x="714375" y="4972050"/>
              <a:ext cx="5095875" cy="1219200"/>
              <a:chOff x="714375" y="4972050"/>
              <a:chExt cx="5095875" cy="1219200"/>
            </a:xfrm>
          </p:grpSpPr>
          <p:sp>
            <p:nvSpPr>
              <p:cNvPr id="20" name="Rectangle 20"/>
              <p:cNvSpPr/>
              <p:nvPr/>
            </p:nvSpPr>
            <p:spPr>
              <a:xfrm>
                <a:off x="714375"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21" name="TextBox 21"/>
              <p:cNvSpPr txBox="1"/>
              <p:nvPr/>
            </p:nvSpPr>
            <p:spPr>
              <a:xfrm>
                <a:off x="855345" y="5084445"/>
                <a:ext cx="189419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Kết Quả Thực Nghiệm Xác Thực:</a:t>
                </a:r>
              </a:p>
            </p:txBody>
          </p:sp>
          <p:sp>
            <p:nvSpPr>
              <p:cNvPr id="22" name="TextBox 22"/>
              <p:cNvSpPr txBox="1"/>
              <p:nvPr/>
            </p:nvSpPr>
            <p:spPr>
              <a:xfrm>
                <a:off x="855821" y="5278993"/>
                <a:ext cx="3363075"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Nhận mã 200 OK kèm Bearer Token JWT ký số HMAC-SHA256.</a:t>
                </a:r>
              </a:p>
            </p:txBody>
          </p:sp>
          <p:sp>
            <p:nvSpPr>
              <p:cNvPr id="23" name="TextBox 23"/>
              <p:cNvSpPr txBox="1"/>
              <p:nvPr/>
            </p:nvSpPr>
            <p:spPr>
              <a:xfrm>
                <a:off x="855821" y="5450443"/>
                <a:ext cx="378287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Token gói trọn userId, username, roles mà không cần lưu session.</a:t>
                </a:r>
              </a:p>
            </p:txBody>
          </p:sp>
          <p:sp>
            <p:nvSpPr>
              <p:cNvPr id="24" name="TextBox 24"/>
              <p:cNvSpPr txBox="1"/>
              <p:nvPr/>
            </p:nvSpPr>
            <p:spPr>
              <a:xfrm>
                <a:off x="855821" y="5621893"/>
                <a:ext cx="382888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API Gateway Global Filter tự động giải mã và chuyển tiếp danh tính.</a:t>
                </a:r>
              </a:p>
            </p:txBody>
          </p:sp>
          <p:sp>
            <p:nvSpPr>
              <p:cNvPr id="25" name="TextBox 25"/>
              <p:cNvSpPr txBox="1"/>
              <p:nvPr/>
            </p:nvSpPr>
            <p:spPr>
              <a:xfrm>
                <a:off x="855821" y="5793343"/>
                <a:ext cx="426018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Đảm bảo Stateless: Các dịch vụ độc lập mở rộng ngang không bị ràng buộc.</a:t>
                </a:r>
              </a:p>
            </p:txBody>
          </p:sp>
        </p:grpSp>
      </p:grpSp>
      <p:grpSp>
        <p:nvGrpSpPr>
          <p:cNvPr id="43" name="Group 43"/>
          <p:cNvGrpSpPr/>
          <p:nvPr/>
        </p:nvGrpSpPr>
        <p:grpSpPr>
          <a:xfrm>
            <a:off x="6238875" y="1285875"/>
            <a:ext cx="5381625" cy="5048250"/>
            <a:chOff x="6238875" y="1285875"/>
            <a:chExt cx="5381625" cy="5048250"/>
          </a:xfrm>
          <a:effectLst>
            <a:outerShdw blurRad="95250" dist="28575" dir="5400000" algn="ctr" rotWithShape="0">
              <a:srgbClr val="000000">
                <a:alpha val="30000"/>
              </a:srgbClr>
            </a:outerShdw>
          </a:effectLst>
        </p:grpSpPr>
        <p:sp>
          <p:nvSpPr>
            <p:cNvPr id="28" name="Rectangle 28"/>
            <p:cNvSpPr/>
            <p:nvPr/>
          </p:nvSpPr>
          <p:spPr>
            <a:xfrm>
              <a:off x="6238875"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29" name="Rectangle 29"/>
            <p:cNvSpPr/>
            <p:nvPr/>
          </p:nvSpPr>
          <p:spPr>
            <a:xfrm>
              <a:off x="6238875"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30" name="Rectangle 30"/>
            <p:cNvSpPr/>
            <p:nvPr/>
          </p:nvSpPr>
          <p:spPr>
            <a:xfrm>
              <a:off x="6391275" y="1371600"/>
              <a:ext cx="1000125" cy="228600"/>
            </a:xfrm>
            <a:prstGeom prst="roundRect">
              <a:avLst>
                <a:gd name="adj" fmla="val 25000"/>
              </a:avLst>
            </a:prstGeom>
            <a:solidFill>
              <a:srgbClr val="78350F"/>
            </a:solidFill>
            <a:ln w="9525">
              <a:solidFill>
                <a:srgbClr val="D97706"/>
              </a:solidFill>
            </a:ln>
            <a:effectLst>
              <a:outerShdw blurRad="95250" dist="28575" dir="5400000" algn="ctr" rotWithShape="0">
                <a:srgbClr val="000000">
                  <a:alpha val="30000"/>
                </a:srgbClr>
              </a:outerShdw>
            </a:effectLst>
          </p:spPr>
        </p:sp>
        <p:sp>
          <p:nvSpPr>
            <p:cNvPr id="31" name="TextBox 31"/>
            <p:cNvSpPr txBox="1"/>
            <p:nvPr/>
          </p:nvSpPr>
          <p:spPr>
            <a:xfrm>
              <a:off x="6468909" y="1434941"/>
              <a:ext cx="83533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FDE68A"/>
                  </a:solidFill>
                  <a:latin typeface="Segoe UI"/>
                  <a:ea typeface="Microsoft YaHei"/>
                  <a:cs typeface="Segoe UI"/>
                </a:rPr>
                <a:t>DEMO 3: CACHE</a:t>
              </a:r>
            </a:p>
          </p:txBody>
        </p:sp>
        <p:sp>
          <p:nvSpPr>
            <p:cNvPr id="32" name="TextBox 32"/>
            <p:cNvSpPr txBox="1"/>
            <p:nvPr/>
          </p:nvSpPr>
          <p:spPr>
            <a:xfrm>
              <a:off x="7512844" y="1432322"/>
              <a:ext cx="2242215"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GET /api/v1/accounts/{id}/balance</a:t>
              </a:r>
            </a:p>
          </p:txBody>
        </p:sp>
        <p:grpSp>
          <p:nvGrpSpPr>
            <p:cNvPr id="35" name="Group 35"/>
            <p:cNvGrpSpPr/>
            <p:nvPr/>
          </p:nvGrpSpPr>
          <p:grpSpPr>
            <a:xfrm>
              <a:off x="6381750" y="1781175"/>
              <a:ext cx="5095875" cy="3095625"/>
              <a:chOff x="6381750" y="1781175"/>
              <a:chExt cx="5095875" cy="3095625"/>
            </a:xfrm>
          </p:grpSpPr>
          <p:sp>
            <p:nvSpPr>
              <p:cNvPr id="33" name="Rectangle 33"/>
              <p:cNvSpPr/>
              <p:nvPr/>
            </p:nvSpPr>
            <p:spPr>
              <a:xfrm>
                <a:off x="6381750"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34" name="Image 34"/>
              <p:cNvPicPr>
                <a:picLocks noChangeAspect="1"/>
              </p:cNvPicPr>
              <p:nvPr/>
            </p:nvPicPr>
            <p:blipFill>
              <a:blip r:embed="rId3"/>
              <a:stretch>
                <a:fillRect/>
              </a:stretch>
            </p:blipFill>
            <p:spPr>
              <a:xfrm>
                <a:off x="6400800" y="1819558"/>
                <a:ext cx="5057775" cy="3018859"/>
              </a:xfrm>
              <a:prstGeom prst="rect">
                <a:avLst/>
              </a:prstGeom>
            </p:spPr>
          </p:pic>
        </p:grpSp>
        <p:grpSp>
          <p:nvGrpSpPr>
            <p:cNvPr id="42" name="Group 42"/>
            <p:cNvGrpSpPr/>
            <p:nvPr/>
          </p:nvGrpSpPr>
          <p:grpSpPr>
            <a:xfrm>
              <a:off x="6381750" y="4972050"/>
              <a:ext cx="5095875" cy="1219200"/>
              <a:chOff x="6381750" y="4972050"/>
              <a:chExt cx="5095875" cy="1219200"/>
            </a:xfrm>
          </p:grpSpPr>
          <p:sp>
            <p:nvSpPr>
              <p:cNvPr id="36" name="Rectangle 36"/>
              <p:cNvSpPr/>
              <p:nvPr/>
            </p:nvSpPr>
            <p:spPr>
              <a:xfrm>
                <a:off x="6381750"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37" name="TextBox 37"/>
              <p:cNvSpPr txBox="1"/>
              <p:nvPr/>
            </p:nvSpPr>
            <p:spPr>
              <a:xfrm>
                <a:off x="6522720" y="5084445"/>
                <a:ext cx="228484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BBF24"/>
                    </a:solidFill>
                    <a:latin typeface="Segoe UI"/>
                    <a:ea typeface="Microsoft YaHei"/>
                    <a:cs typeface="Segoe UI"/>
                  </a:rPr>
                  <a:t>Kết Quả Thực Nghiệm Hiệu Năng Redis:</a:t>
                </a:r>
              </a:p>
            </p:txBody>
          </p:sp>
          <p:sp>
            <p:nvSpPr>
              <p:cNvPr id="38" name="TextBox 38"/>
              <p:cNvSpPr txBox="1"/>
              <p:nvPr/>
            </p:nvSpPr>
            <p:spPr>
              <a:xfrm>
                <a:off x="6523196" y="5278993"/>
                <a:ext cx="341483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Lần gọi 1 (Cache Miss): Truy vấn MySQL, trả về sau ~45ms.</a:t>
                </a:r>
              </a:p>
            </p:txBody>
          </p:sp>
          <p:sp>
            <p:nvSpPr>
              <p:cNvPr id="39" name="TextBox 39"/>
              <p:cNvSpPr txBox="1"/>
              <p:nvPr/>
            </p:nvSpPr>
            <p:spPr>
              <a:xfrm>
                <a:off x="6523196" y="5450443"/>
                <a:ext cx="4035909"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Lần gọi 2+ (Cache Hit): Lấy trực tiếp từ Redis In-Memory trong &lt; 3ms.</a:t>
                </a:r>
              </a:p>
            </p:txBody>
          </p:sp>
          <p:sp>
            <p:nvSpPr>
              <p:cNvPr id="40" name="TextBox 40"/>
              <p:cNvSpPr txBox="1"/>
              <p:nvPr/>
            </p:nvSpPr>
            <p:spPr>
              <a:xfrm>
                <a:off x="6523196" y="5621893"/>
                <a:ext cx="4277439"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Tối ưu DTO với Jackson JSON Serializer, tự động vô hiệu cache khi trừ tiền.</a:t>
                </a:r>
              </a:p>
            </p:txBody>
          </p:sp>
          <p:sp>
            <p:nvSpPr>
              <p:cNvPr id="41" name="TextBox 41"/>
              <p:cNvSpPr txBox="1"/>
              <p:nvPr/>
            </p:nvSpPr>
            <p:spPr>
              <a:xfrm>
                <a:off x="6523196" y="5793343"/>
                <a:ext cx="386913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Giảm tải hơn 90% truy vấn đọc đến CSDL MySQL của Account Service.</a:t>
                </a:r>
              </a:p>
            </p:txBody>
          </p:sp>
        </p:grpSp>
      </p:grpSp>
      <p:grpSp>
        <p:nvGrpSpPr>
          <p:cNvPr id="46" name="Group 46"/>
          <p:cNvGrpSpPr/>
          <p:nvPr/>
        </p:nvGrpSpPr>
        <p:grpSpPr>
          <a:xfrm>
            <a:off x="560070" y="6522720"/>
            <a:ext cx="11071860" cy="182880"/>
            <a:chOff x="560070" y="6522720"/>
            <a:chExt cx="11071860" cy="182880"/>
          </a:xfrm>
        </p:grpSpPr>
        <p:sp>
          <p:nvSpPr>
            <p:cNvPr id="44" name="TextBox 44"/>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45" name="TextBox 45"/>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Bottom)">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10B981">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929355" cy="797719"/>
            <a:chOff x="548640" y="342900"/>
            <a:chExt cx="6929355" cy="797719"/>
          </a:xfrm>
        </p:grpSpPr>
        <p:sp>
          <p:nvSpPr>
            <p:cNvPr id="7" name="Rectangle 7"/>
            <p:cNvSpPr/>
            <p:nvPr/>
          </p:nvSpPr>
          <p:spPr>
            <a:xfrm>
              <a:off x="571500" y="342900"/>
              <a:ext cx="2095500" cy="247650"/>
            </a:xfrm>
            <a:prstGeom prst="roundRect">
              <a:avLst>
                <a:gd name="adj" fmla="val 50000"/>
              </a:avLst>
            </a:prstGeom>
            <a:solidFill>
              <a:srgbClr val="1E293B"/>
            </a:solidFill>
            <a:ln w="9525">
              <a:solidFill>
                <a:srgbClr val="10B981"/>
              </a:solidFill>
            </a:ln>
          </p:spPr>
        </p:sp>
        <p:sp>
          <p:nvSpPr>
            <p:cNvPr id="8" name="TextBox 8"/>
            <p:cNvSpPr txBox="1"/>
            <p:nvPr/>
          </p:nvSpPr>
          <p:spPr>
            <a:xfrm>
              <a:off x="912798" y="415766"/>
              <a:ext cx="1412904" cy="167640"/>
            </a:xfrm>
            <a:prstGeom prst="rect">
              <a:avLst/>
            </a:prstGeom>
            <a:noFill/>
            <a:ln>
              <a:noFill/>
            </a:ln>
          </p:spPr>
          <p:txBody>
            <a:bodyPr wrap="none" lIns="0" tIns="0" rIns="0" bIns="0" anchor="t" anchorCtr="0">
              <a:spAutoFit/>
            </a:bodyPr>
            <a:lstStyle/>
            <a:p>
              <a:pPr algn="ctr"/>
              <a:r>
                <a:rPr lang="zh-CN" sz="825" b="1" dirty="0">
                  <a:solidFill>
                    <a:srgbClr val="34D399"/>
                  </a:solidFill>
                  <a:latin typeface="Segoe UI"/>
                  <a:ea typeface="Microsoft YaHei"/>
                  <a:cs typeface="Segoe UI"/>
                </a:rPr>
                <a:t>DEMO 4: SAGA HAPPY PATH</a:t>
              </a:r>
            </a:p>
          </p:txBody>
        </p:sp>
        <p:sp>
          <p:nvSpPr>
            <p:cNvPr id="9" name="TextBox 9"/>
            <p:cNvSpPr txBox="1"/>
            <p:nvPr/>
          </p:nvSpPr>
          <p:spPr>
            <a:xfrm>
              <a:off x="548640" y="624840"/>
              <a:ext cx="6926180"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Chuyển Tiền Phân Tán Thành Công Qua Saga Orchestrator</a:t>
              </a:r>
            </a:p>
          </p:txBody>
        </p:sp>
        <p:sp>
          <p:nvSpPr>
            <p:cNvPr id="10" name="TextBox 10"/>
            <p:cNvSpPr txBox="1"/>
            <p:nvPr/>
          </p:nvSpPr>
          <p:spPr>
            <a:xfrm>
              <a:off x="559118" y="942499"/>
              <a:ext cx="6918877"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Minh chứng giao dịch 2 tài khoản: Postman nhận phản hồi 200 OK và luồng sự kiện Kafka đồng bộ chính xác</a:t>
              </a:r>
            </a:p>
          </p:txBody>
        </p:sp>
      </p:grpSp>
      <p:grpSp>
        <p:nvGrpSpPr>
          <p:cNvPr id="27" name="Group 27"/>
          <p:cNvGrpSpPr/>
          <p:nvPr/>
        </p:nvGrpSpPr>
        <p:grpSpPr>
          <a:xfrm>
            <a:off x="571500" y="1285875"/>
            <a:ext cx="5381625" cy="5048250"/>
            <a:chOff x="571500" y="1285875"/>
            <a:chExt cx="5381625" cy="5048250"/>
          </a:xfrm>
          <a:effectLst>
            <a:outerShdw blurRad="95250" dist="28575" dir="5400000" algn="ctr" rotWithShape="0">
              <a:srgbClr val="000000">
                <a:alpha val="30000"/>
              </a:srgbClr>
            </a:outerShdw>
          </a:effectLst>
        </p:grpSpPr>
        <p:sp>
          <p:nvSpPr>
            <p:cNvPr id="12" name="Rectangle 12"/>
            <p:cNvSpPr/>
            <p:nvPr/>
          </p:nvSpPr>
          <p:spPr>
            <a:xfrm>
              <a:off x="571500"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13" name="Rectangle 13"/>
            <p:cNvSpPr/>
            <p:nvPr/>
          </p:nvSpPr>
          <p:spPr>
            <a:xfrm>
              <a:off x="571500"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14" name="Rectangle 14"/>
            <p:cNvSpPr/>
            <p:nvPr/>
          </p:nvSpPr>
          <p:spPr>
            <a:xfrm>
              <a:off x="723900" y="1371600"/>
              <a:ext cx="1238250" cy="228600"/>
            </a:xfrm>
            <a:prstGeom prst="roundRect">
              <a:avLst>
                <a:gd name="adj" fmla="val 25000"/>
              </a:avLst>
            </a:prstGeom>
            <a:solidFill>
              <a:srgbClr val="064E3B"/>
            </a:solidFill>
            <a:ln w="9525">
              <a:solidFill>
                <a:srgbClr val="10B981"/>
              </a:solidFill>
            </a:ln>
            <a:effectLst>
              <a:outerShdw blurRad="95250" dist="28575" dir="5400000" algn="ctr" rotWithShape="0">
                <a:srgbClr val="000000">
                  <a:alpha val="30000"/>
                </a:srgbClr>
              </a:outerShdw>
            </a:effectLst>
          </p:spPr>
        </p:sp>
        <p:sp>
          <p:nvSpPr>
            <p:cNvPr id="15" name="TextBox 15"/>
            <p:cNvSpPr txBox="1"/>
            <p:nvPr/>
          </p:nvSpPr>
          <p:spPr>
            <a:xfrm>
              <a:off x="1000443" y="1434941"/>
              <a:ext cx="685163"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4ADE80"/>
                  </a:solidFill>
                  <a:latin typeface="Segoe UI"/>
                  <a:ea typeface="Microsoft YaHei"/>
                  <a:cs typeface="Segoe UI"/>
                </a:rPr>
                <a:t>HTTP 200 OK</a:t>
              </a:r>
            </a:p>
          </p:txBody>
        </p:sp>
        <p:sp>
          <p:nvSpPr>
            <p:cNvPr id="16" name="TextBox 16"/>
            <p:cNvSpPr txBox="1"/>
            <p:nvPr/>
          </p:nvSpPr>
          <p:spPr>
            <a:xfrm>
              <a:off x="2083594" y="1432322"/>
              <a:ext cx="1684333"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Giao Diện Kết Quả Postman</a:t>
              </a:r>
            </a:p>
          </p:txBody>
        </p:sp>
        <p:grpSp>
          <p:nvGrpSpPr>
            <p:cNvPr id="19" name="Group 19"/>
            <p:cNvGrpSpPr/>
            <p:nvPr/>
          </p:nvGrpSpPr>
          <p:grpSpPr>
            <a:xfrm>
              <a:off x="714375" y="1781175"/>
              <a:ext cx="5095875" cy="3095625"/>
              <a:chOff x="714375" y="1781175"/>
              <a:chExt cx="5095875" cy="3095625"/>
            </a:xfrm>
          </p:grpSpPr>
          <p:sp>
            <p:nvSpPr>
              <p:cNvPr id="17" name="Rectangle 17"/>
              <p:cNvSpPr/>
              <p:nvPr/>
            </p:nvSpPr>
            <p:spPr>
              <a:xfrm>
                <a:off x="714375"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18" name="Image 18"/>
              <p:cNvPicPr>
                <a:picLocks noChangeAspect="1"/>
              </p:cNvPicPr>
              <p:nvPr/>
            </p:nvPicPr>
            <p:blipFill>
              <a:blip r:embed="rId2"/>
              <a:stretch>
                <a:fillRect/>
              </a:stretch>
            </p:blipFill>
            <p:spPr>
              <a:xfrm>
                <a:off x="733425" y="1819558"/>
                <a:ext cx="5057775" cy="3018859"/>
              </a:xfrm>
              <a:prstGeom prst="rect">
                <a:avLst/>
              </a:prstGeom>
            </p:spPr>
          </p:pic>
        </p:grpSp>
        <p:grpSp>
          <p:nvGrpSpPr>
            <p:cNvPr id="26" name="Group 26"/>
            <p:cNvGrpSpPr/>
            <p:nvPr/>
          </p:nvGrpSpPr>
          <p:grpSpPr>
            <a:xfrm>
              <a:off x="714375" y="4972050"/>
              <a:ext cx="5095875" cy="1219200"/>
              <a:chOff x="714375" y="4972050"/>
              <a:chExt cx="5095875" cy="1219200"/>
            </a:xfrm>
          </p:grpSpPr>
          <p:sp>
            <p:nvSpPr>
              <p:cNvPr id="20" name="Rectangle 20"/>
              <p:cNvSpPr/>
              <p:nvPr/>
            </p:nvSpPr>
            <p:spPr>
              <a:xfrm>
                <a:off x="714375"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21" name="TextBox 21"/>
              <p:cNvSpPr txBox="1"/>
              <p:nvPr/>
            </p:nvSpPr>
            <p:spPr>
              <a:xfrm>
                <a:off x="855345" y="5084445"/>
                <a:ext cx="159805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4ADE80"/>
                    </a:solidFill>
                    <a:latin typeface="Segoe UI"/>
                    <a:ea typeface="Microsoft YaHei"/>
                    <a:cs typeface="Segoe UI"/>
                  </a:rPr>
                  <a:t>Chi Tiết Kết Quả Phản Hồi:</a:t>
                </a:r>
              </a:p>
            </p:txBody>
          </p:sp>
          <p:sp>
            <p:nvSpPr>
              <p:cNvPr id="22" name="TextBox 22"/>
              <p:cNvSpPr txBox="1"/>
              <p:nvPr/>
            </p:nvSpPr>
            <p:spPr>
              <a:xfrm>
                <a:off x="855821" y="5278993"/>
                <a:ext cx="3725370"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Lệnh chuyển 1,000,000 VND từ TK 1029384756 sang TK 9988776655.</a:t>
                </a:r>
              </a:p>
            </p:txBody>
          </p:sp>
          <p:sp>
            <p:nvSpPr>
              <p:cNvPr id="23" name="TextBox 23"/>
              <p:cNvSpPr txBox="1"/>
              <p:nvPr/>
            </p:nvSpPr>
            <p:spPr>
              <a:xfrm>
                <a:off x="855821" y="5450443"/>
                <a:ext cx="3794379"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Trạng thái giao dịch trả về: "COMPLETED" kèm mã Transaction ID.</a:t>
                </a:r>
              </a:p>
            </p:txBody>
          </p:sp>
          <p:sp>
            <p:nvSpPr>
              <p:cNvPr id="24" name="TextBox 24"/>
              <p:cNvSpPr txBox="1"/>
              <p:nvPr/>
            </p:nvSpPr>
            <p:spPr>
              <a:xfrm>
                <a:off x="855821" y="5621893"/>
                <a:ext cx="349534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Số dư tài khoản nguồn giảm từ 10M xuống 9M VND ngay lập tức.</a:t>
                </a:r>
              </a:p>
            </p:txBody>
          </p:sp>
          <p:sp>
            <p:nvSpPr>
              <p:cNvPr id="25" name="TextBox 25"/>
              <p:cNvSpPr txBox="1"/>
              <p:nvPr/>
            </p:nvSpPr>
            <p:spPr>
              <a:xfrm>
                <a:off x="855821" y="5793343"/>
                <a:ext cx="3880640"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Toàn bộ luồng hoàn tất trong thời gian thực dưới 80ms qua Gateway.</a:t>
                </a:r>
              </a:p>
            </p:txBody>
          </p:sp>
        </p:grpSp>
      </p:grpSp>
      <p:grpSp>
        <p:nvGrpSpPr>
          <p:cNvPr id="43" name="Group 43"/>
          <p:cNvGrpSpPr/>
          <p:nvPr/>
        </p:nvGrpSpPr>
        <p:grpSpPr>
          <a:xfrm>
            <a:off x="6238875" y="1285875"/>
            <a:ext cx="5381625" cy="5048250"/>
            <a:chOff x="6238875" y="1285875"/>
            <a:chExt cx="5381625" cy="5048250"/>
          </a:xfrm>
          <a:effectLst>
            <a:outerShdw blurRad="95250" dist="28575" dir="5400000" algn="ctr" rotWithShape="0">
              <a:srgbClr val="000000">
                <a:alpha val="30000"/>
              </a:srgbClr>
            </a:outerShdw>
          </a:effectLst>
        </p:grpSpPr>
        <p:sp>
          <p:nvSpPr>
            <p:cNvPr id="28" name="Rectangle 28"/>
            <p:cNvSpPr/>
            <p:nvPr/>
          </p:nvSpPr>
          <p:spPr>
            <a:xfrm>
              <a:off x="6238875"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29" name="Rectangle 29"/>
            <p:cNvSpPr/>
            <p:nvPr/>
          </p:nvSpPr>
          <p:spPr>
            <a:xfrm>
              <a:off x="6238875"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30" name="Rectangle 30"/>
            <p:cNvSpPr/>
            <p:nvPr/>
          </p:nvSpPr>
          <p:spPr>
            <a:xfrm>
              <a:off x="6391275" y="1371600"/>
              <a:ext cx="1238250" cy="228600"/>
            </a:xfrm>
            <a:prstGeom prst="roundRect">
              <a:avLst>
                <a:gd name="adj" fmla="val 25000"/>
              </a:avLst>
            </a:prstGeom>
            <a:solidFill>
              <a:srgbClr val="172554"/>
            </a:solidFill>
            <a:ln w="9525">
              <a:solidFill>
                <a:srgbClr val="2563EB"/>
              </a:solidFill>
            </a:ln>
            <a:effectLst>
              <a:outerShdw blurRad="95250" dist="28575" dir="5400000" algn="ctr" rotWithShape="0">
                <a:srgbClr val="000000">
                  <a:alpha val="30000"/>
                </a:srgbClr>
              </a:outerShdw>
            </a:effectLst>
          </p:spPr>
        </p:sp>
        <p:sp>
          <p:nvSpPr>
            <p:cNvPr id="31" name="TextBox 31"/>
            <p:cNvSpPr txBox="1"/>
            <p:nvPr/>
          </p:nvSpPr>
          <p:spPr>
            <a:xfrm>
              <a:off x="6636052" y="1434941"/>
              <a:ext cx="748696"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38BDF8"/>
                  </a:solidFill>
                  <a:latin typeface="Segoe UI"/>
                  <a:ea typeface="Microsoft YaHei"/>
                  <a:cs typeface="Segoe UI"/>
                </a:rPr>
                <a:t>LOG PHÂN TÁN</a:t>
              </a:r>
            </a:p>
          </p:txBody>
        </p:sp>
        <p:sp>
          <p:nvSpPr>
            <p:cNvPr id="32" name="TextBox 32"/>
            <p:cNvSpPr txBox="1"/>
            <p:nvPr/>
          </p:nvSpPr>
          <p:spPr>
            <a:xfrm>
              <a:off x="7750969" y="1432322"/>
              <a:ext cx="1887795"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Console Trace &amp; Sự Kiện Kafka</a:t>
              </a:r>
            </a:p>
          </p:txBody>
        </p:sp>
        <p:grpSp>
          <p:nvGrpSpPr>
            <p:cNvPr id="35" name="Group 35"/>
            <p:cNvGrpSpPr/>
            <p:nvPr/>
          </p:nvGrpSpPr>
          <p:grpSpPr>
            <a:xfrm>
              <a:off x="6381750" y="1781175"/>
              <a:ext cx="5095875" cy="3095625"/>
              <a:chOff x="6381750" y="1781175"/>
              <a:chExt cx="5095875" cy="3095625"/>
            </a:xfrm>
          </p:grpSpPr>
          <p:sp>
            <p:nvSpPr>
              <p:cNvPr id="33" name="Rectangle 33"/>
              <p:cNvSpPr/>
              <p:nvPr/>
            </p:nvSpPr>
            <p:spPr>
              <a:xfrm>
                <a:off x="6381750"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34" name="Image 34"/>
              <p:cNvPicPr>
                <a:picLocks noChangeAspect="1"/>
              </p:cNvPicPr>
              <p:nvPr/>
            </p:nvPicPr>
            <p:blipFill>
              <a:blip r:embed="rId3"/>
              <a:stretch>
                <a:fillRect/>
              </a:stretch>
            </p:blipFill>
            <p:spPr>
              <a:xfrm>
                <a:off x="6400800" y="1819558"/>
                <a:ext cx="5057775" cy="3018859"/>
              </a:xfrm>
              <a:prstGeom prst="rect">
                <a:avLst/>
              </a:prstGeom>
            </p:spPr>
          </p:pic>
        </p:grpSp>
        <p:grpSp>
          <p:nvGrpSpPr>
            <p:cNvPr id="42" name="Group 42"/>
            <p:cNvGrpSpPr/>
            <p:nvPr/>
          </p:nvGrpSpPr>
          <p:grpSpPr>
            <a:xfrm>
              <a:off x="6381750" y="4972050"/>
              <a:ext cx="5095875" cy="1219200"/>
              <a:chOff x="6381750" y="4972050"/>
              <a:chExt cx="5095875" cy="1219200"/>
            </a:xfrm>
          </p:grpSpPr>
          <p:sp>
            <p:nvSpPr>
              <p:cNvPr id="36" name="Rectangle 36"/>
              <p:cNvSpPr/>
              <p:nvPr/>
            </p:nvSpPr>
            <p:spPr>
              <a:xfrm>
                <a:off x="6381750"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37" name="TextBox 37"/>
              <p:cNvSpPr txBox="1"/>
              <p:nvPr/>
            </p:nvSpPr>
            <p:spPr>
              <a:xfrm>
                <a:off x="6522720" y="5084445"/>
                <a:ext cx="2272241"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38BDF8"/>
                    </a:solidFill>
                    <a:latin typeface="Segoe UI"/>
                    <a:ea typeface="Microsoft YaHei"/>
                    <a:cs typeface="Segoe UI"/>
                  </a:rPr>
                  <a:t>Trình Tự Điều Phối Sự Kiện Trong Log:</a:t>
                </a:r>
              </a:p>
            </p:txBody>
          </p:sp>
          <p:sp>
            <p:nvSpPr>
              <p:cNvPr id="38" name="TextBox 38"/>
              <p:cNvSpPr txBox="1"/>
              <p:nvPr/>
            </p:nvSpPr>
            <p:spPr>
              <a:xfrm>
                <a:off x="6523196" y="5278993"/>
                <a:ext cx="383463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BƯỚC 1: Account Service nhận yêu cầu DEBIT, trừ tiền và xóa cache.</a:t>
                </a:r>
              </a:p>
            </p:txBody>
          </p:sp>
          <p:sp>
            <p:nvSpPr>
              <p:cNvPr id="39" name="TextBox 39"/>
              <p:cNvSpPr txBox="1"/>
              <p:nvPr/>
            </p:nvSpPr>
            <p:spPr>
              <a:xfrm>
                <a:off x="6523196" y="5450443"/>
                <a:ext cx="4053161"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BƯỚC 2: Kafka bắn sự kiện TransferInitiatedEvent đến topic ngân hàng.</a:t>
                </a:r>
              </a:p>
            </p:txBody>
          </p:sp>
          <p:sp>
            <p:nvSpPr>
              <p:cNvPr id="40" name="TextBox 40"/>
              <p:cNvSpPr txBox="1"/>
              <p:nvPr/>
            </p:nvSpPr>
            <p:spPr>
              <a:xfrm>
                <a:off x="6523196" y="5621893"/>
                <a:ext cx="3765625"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BƯỚC 3: Account Service nhận event và CREDIT vào tài khoản đích.</a:t>
                </a:r>
              </a:p>
            </p:txBody>
          </p:sp>
          <p:sp>
            <p:nvSpPr>
              <p:cNvPr id="41" name="TextBox 41"/>
              <p:cNvSpPr txBox="1"/>
              <p:nvPr/>
            </p:nvSpPr>
            <p:spPr>
              <a:xfrm>
                <a:off x="6523196" y="5793343"/>
                <a:ext cx="422568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BƯỚC 4: Notification Service tiêu thụ event, in thông báo biến động số dư.</a:t>
                </a:r>
              </a:p>
            </p:txBody>
          </p:sp>
        </p:grpSp>
      </p:grpSp>
      <p:grpSp>
        <p:nvGrpSpPr>
          <p:cNvPr id="46" name="Group 46"/>
          <p:cNvGrpSpPr/>
          <p:nvPr/>
        </p:nvGrpSpPr>
        <p:grpSpPr>
          <a:xfrm>
            <a:off x="560070" y="6522720"/>
            <a:ext cx="11071860" cy="182880"/>
            <a:chOff x="560070" y="6522720"/>
            <a:chExt cx="11071860" cy="182880"/>
          </a:xfrm>
        </p:grpSpPr>
        <p:sp>
          <p:nvSpPr>
            <p:cNvPr id="44" name="TextBox 44"/>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45" name="TextBox 45"/>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image">
                                      <p:cBhvr>
                                        <p:cTn id="7" dur="400"/>
                                        <p:tgtEl>
                                          <p:spTgt spid="2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EF4444">
                    <a:alpha val="14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7253821" cy="797719"/>
            <a:chOff x="548640" y="342900"/>
            <a:chExt cx="7253821" cy="797719"/>
          </a:xfrm>
        </p:grpSpPr>
        <p:sp>
          <p:nvSpPr>
            <p:cNvPr id="7" name="Rectangle 7"/>
            <p:cNvSpPr/>
            <p:nvPr/>
          </p:nvSpPr>
          <p:spPr>
            <a:xfrm>
              <a:off x="571500" y="342900"/>
              <a:ext cx="2095500" cy="247650"/>
            </a:xfrm>
            <a:prstGeom prst="roundRect">
              <a:avLst>
                <a:gd name="adj" fmla="val 50000"/>
              </a:avLst>
            </a:prstGeom>
            <a:solidFill>
              <a:srgbClr val="1E293B"/>
            </a:solidFill>
            <a:ln w="9525">
              <a:solidFill>
                <a:srgbClr val="EF4444"/>
              </a:solidFill>
            </a:ln>
          </p:spPr>
        </p:sp>
        <p:sp>
          <p:nvSpPr>
            <p:cNvPr id="8" name="TextBox 8"/>
            <p:cNvSpPr txBox="1"/>
            <p:nvPr/>
          </p:nvSpPr>
          <p:spPr>
            <a:xfrm>
              <a:off x="950340" y="415766"/>
              <a:ext cx="1337820" cy="167640"/>
            </a:xfrm>
            <a:prstGeom prst="rect">
              <a:avLst/>
            </a:prstGeom>
            <a:noFill/>
            <a:ln>
              <a:noFill/>
            </a:ln>
          </p:spPr>
          <p:txBody>
            <a:bodyPr wrap="none" lIns="0" tIns="0" rIns="0" bIns="0" anchor="t" anchorCtr="0">
              <a:spAutoFit/>
            </a:bodyPr>
            <a:lstStyle/>
            <a:p>
              <a:pPr algn="ctr"/>
              <a:r>
                <a:rPr lang="zh-CN" sz="825" b="1" dirty="0">
                  <a:solidFill>
                    <a:srgbClr val="F87171"/>
                  </a:solidFill>
                  <a:latin typeface="Segoe UI"/>
                  <a:ea typeface="Microsoft YaHei"/>
                  <a:cs typeface="Segoe UI"/>
                </a:rPr>
                <a:t>DEMO 5: SAGA ROLLBACK</a:t>
              </a:r>
            </a:p>
          </p:txBody>
        </p:sp>
        <p:sp>
          <p:nvSpPr>
            <p:cNvPr id="9" name="TextBox 9"/>
            <p:cNvSpPr txBox="1"/>
            <p:nvPr/>
          </p:nvSpPr>
          <p:spPr>
            <a:xfrm>
              <a:off x="548640" y="624840"/>
              <a:ext cx="7253821"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Phục Hồi Lỗi &amp; Giao Dịch Bù Trừ (Compensating Transaction)</a:t>
              </a:r>
            </a:p>
          </p:txBody>
        </p:sp>
        <p:sp>
          <p:nvSpPr>
            <p:cNvPr id="10" name="TextBox 10"/>
            <p:cNvSpPr txBox="1"/>
            <p:nvPr/>
          </p:nvSpPr>
          <p:spPr>
            <a:xfrm>
              <a:off x="559118" y="942499"/>
              <a:ext cx="6604887"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Kịch bản tài khoản nhận bị khóa: Hệ thống kích hoạt bù trừ hoàn tiền tự động, bảo toàn 100% tài sản</a:t>
              </a:r>
            </a:p>
          </p:txBody>
        </p:sp>
      </p:grpSp>
      <p:grpSp>
        <p:nvGrpSpPr>
          <p:cNvPr id="27" name="Group 27"/>
          <p:cNvGrpSpPr/>
          <p:nvPr/>
        </p:nvGrpSpPr>
        <p:grpSpPr>
          <a:xfrm>
            <a:off x="571500" y="1285875"/>
            <a:ext cx="5381625" cy="5048250"/>
            <a:chOff x="571500" y="1285875"/>
            <a:chExt cx="5381625" cy="5048250"/>
          </a:xfrm>
          <a:effectLst>
            <a:outerShdw blurRad="95250" dist="28575" dir="5400000" algn="ctr" rotWithShape="0">
              <a:srgbClr val="000000">
                <a:alpha val="30000"/>
              </a:srgbClr>
            </a:outerShdw>
          </a:effectLst>
        </p:grpSpPr>
        <p:sp>
          <p:nvSpPr>
            <p:cNvPr id="12" name="Rectangle 12"/>
            <p:cNvSpPr/>
            <p:nvPr/>
          </p:nvSpPr>
          <p:spPr>
            <a:xfrm>
              <a:off x="571500"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13" name="Rectangle 13"/>
            <p:cNvSpPr/>
            <p:nvPr/>
          </p:nvSpPr>
          <p:spPr>
            <a:xfrm>
              <a:off x="571500"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14" name="Rectangle 14"/>
            <p:cNvSpPr/>
            <p:nvPr/>
          </p:nvSpPr>
          <p:spPr>
            <a:xfrm>
              <a:off x="723900" y="1371600"/>
              <a:ext cx="1238250" cy="228600"/>
            </a:xfrm>
            <a:prstGeom prst="roundRect">
              <a:avLst>
                <a:gd name="adj" fmla="val 25000"/>
              </a:avLst>
            </a:prstGeom>
            <a:solidFill>
              <a:srgbClr val="7F1D1D"/>
            </a:solidFill>
            <a:ln w="9525">
              <a:solidFill>
                <a:srgbClr val="DC2626"/>
              </a:solidFill>
            </a:ln>
            <a:effectLst>
              <a:outerShdw blurRad="95250" dist="28575" dir="5400000" algn="ctr" rotWithShape="0">
                <a:srgbClr val="000000">
                  <a:alpha val="30000"/>
                </a:srgbClr>
              </a:outerShdw>
            </a:effectLst>
          </p:spPr>
        </p:sp>
        <p:sp>
          <p:nvSpPr>
            <p:cNvPr id="15" name="TextBox 15"/>
            <p:cNvSpPr txBox="1"/>
            <p:nvPr/>
          </p:nvSpPr>
          <p:spPr>
            <a:xfrm>
              <a:off x="873378" y="1434941"/>
              <a:ext cx="939295"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FCA5A5"/>
                  </a:solidFill>
                  <a:latin typeface="Segoe UI"/>
                  <a:ea typeface="Microsoft YaHei"/>
                  <a:cs typeface="Segoe UI"/>
                </a:rPr>
                <a:t>400 BAD REQUEST</a:t>
              </a:r>
            </a:p>
          </p:txBody>
        </p:sp>
        <p:sp>
          <p:nvSpPr>
            <p:cNvPr id="16" name="TextBox 16"/>
            <p:cNvSpPr txBox="1"/>
            <p:nvPr/>
          </p:nvSpPr>
          <p:spPr>
            <a:xfrm>
              <a:off x="2083594" y="1432322"/>
              <a:ext cx="1546503"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Postman Báo Lỗi Khóa TK</a:t>
              </a:r>
            </a:p>
          </p:txBody>
        </p:sp>
        <p:grpSp>
          <p:nvGrpSpPr>
            <p:cNvPr id="19" name="Group 19"/>
            <p:cNvGrpSpPr/>
            <p:nvPr/>
          </p:nvGrpSpPr>
          <p:grpSpPr>
            <a:xfrm>
              <a:off x="714375" y="1781175"/>
              <a:ext cx="5095875" cy="3095625"/>
              <a:chOff x="714375" y="1781175"/>
              <a:chExt cx="5095875" cy="3095625"/>
            </a:xfrm>
          </p:grpSpPr>
          <p:sp>
            <p:nvSpPr>
              <p:cNvPr id="17" name="Rectangle 17"/>
              <p:cNvSpPr/>
              <p:nvPr/>
            </p:nvSpPr>
            <p:spPr>
              <a:xfrm>
                <a:off x="714375"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18" name="Image 18"/>
              <p:cNvPicPr>
                <a:picLocks noChangeAspect="1"/>
              </p:cNvPicPr>
              <p:nvPr/>
            </p:nvPicPr>
            <p:blipFill>
              <a:blip r:embed="rId2"/>
              <a:stretch>
                <a:fillRect/>
              </a:stretch>
            </p:blipFill>
            <p:spPr>
              <a:xfrm>
                <a:off x="733425" y="1819558"/>
                <a:ext cx="5057775" cy="3018859"/>
              </a:xfrm>
              <a:prstGeom prst="rect">
                <a:avLst/>
              </a:prstGeom>
            </p:spPr>
          </p:pic>
        </p:grpSp>
        <p:grpSp>
          <p:nvGrpSpPr>
            <p:cNvPr id="26" name="Group 26"/>
            <p:cNvGrpSpPr/>
            <p:nvPr/>
          </p:nvGrpSpPr>
          <p:grpSpPr>
            <a:xfrm>
              <a:off x="714375" y="4972050"/>
              <a:ext cx="5095875" cy="1219200"/>
              <a:chOff x="714375" y="4972050"/>
              <a:chExt cx="5095875" cy="1219200"/>
            </a:xfrm>
          </p:grpSpPr>
          <p:sp>
            <p:nvSpPr>
              <p:cNvPr id="20" name="Rectangle 20"/>
              <p:cNvSpPr/>
              <p:nvPr/>
            </p:nvSpPr>
            <p:spPr>
              <a:xfrm>
                <a:off x="714375"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21" name="TextBox 21"/>
              <p:cNvSpPr txBox="1"/>
              <p:nvPr/>
            </p:nvSpPr>
            <p:spPr>
              <a:xfrm>
                <a:off x="855345" y="5084445"/>
                <a:ext cx="1919397"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87171"/>
                    </a:solidFill>
                    <a:latin typeface="Segoe UI"/>
                    <a:ea typeface="Microsoft YaHei"/>
                    <a:cs typeface="Segoe UI"/>
                  </a:rPr>
                  <a:t>Phát Hiện Sự Cố Tài Khoản Đích:</a:t>
                </a:r>
              </a:p>
            </p:txBody>
          </p:sp>
          <p:sp>
            <p:nvSpPr>
              <p:cNvPr id="22" name="TextBox 22"/>
              <p:cNvSpPr txBox="1"/>
              <p:nvPr/>
            </p:nvSpPr>
            <p:spPr>
              <a:xfrm>
                <a:off x="855821" y="5278993"/>
                <a:ext cx="350684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Gửi lệnh chuyển 500,000 VND sang tài khoản đích 8877665544.</a:t>
                </a:r>
              </a:p>
            </p:txBody>
          </p:sp>
          <p:sp>
            <p:nvSpPr>
              <p:cNvPr id="23" name="TextBox 23"/>
              <p:cNvSpPr txBox="1"/>
              <p:nvPr/>
            </p:nvSpPr>
            <p:spPr>
              <a:xfrm>
                <a:off x="855821" y="5450443"/>
                <a:ext cx="3478089"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Tài khoản đích đang ở trạng thái LOCKED trong cơ sở dữ liệu.</a:t>
                </a:r>
              </a:p>
            </p:txBody>
          </p:sp>
          <p:sp>
            <p:nvSpPr>
              <p:cNvPr id="24" name="TextBox 24"/>
              <p:cNvSpPr txBox="1"/>
              <p:nvPr/>
            </p:nvSpPr>
            <p:spPr>
              <a:xfrm>
                <a:off x="855821" y="5621893"/>
                <a:ext cx="369661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Hệ thống trả về mã lỗi: ACCOUNT_LOCKED kèm thông báo rõ ràng.</a:t>
                </a:r>
              </a:p>
            </p:txBody>
          </p:sp>
          <p:sp>
            <p:nvSpPr>
              <p:cNvPr id="25" name="TextBox 25"/>
              <p:cNvSpPr txBox="1"/>
              <p:nvPr/>
            </p:nvSpPr>
            <p:spPr>
              <a:xfrm>
                <a:off x="855821" y="5793343"/>
                <a:ext cx="286851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Trạng thái giao dịch tổng chuyển sang: "FAILED".</a:t>
                </a:r>
              </a:p>
            </p:txBody>
          </p:sp>
        </p:grpSp>
      </p:grpSp>
      <p:grpSp>
        <p:nvGrpSpPr>
          <p:cNvPr id="43" name="Group 43"/>
          <p:cNvGrpSpPr/>
          <p:nvPr/>
        </p:nvGrpSpPr>
        <p:grpSpPr>
          <a:xfrm>
            <a:off x="6238875" y="1285875"/>
            <a:ext cx="5381625" cy="5048250"/>
            <a:chOff x="6238875" y="1285875"/>
            <a:chExt cx="5381625" cy="5048250"/>
          </a:xfrm>
          <a:effectLst>
            <a:outerShdw blurRad="95250" dist="28575" dir="5400000" algn="ctr" rotWithShape="0">
              <a:srgbClr val="000000">
                <a:alpha val="30000"/>
              </a:srgbClr>
            </a:outerShdw>
          </a:effectLst>
        </p:grpSpPr>
        <p:sp>
          <p:nvSpPr>
            <p:cNvPr id="28" name="Rectangle 28"/>
            <p:cNvSpPr/>
            <p:nvPr/>
          </p:nvSpPr>
          <p:spPr>
            <a:xfrm>
              <a:off x="6238875" y="1285875"/>
              <a:ext cx="5381625" cy="5048250"/>
            </a:xfrm>
            <a:prstGeom prst="roundRect">
              <a:avLst>
                <a:gd name="adj" fmla="val 2642"/>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29" name="Rectangle 29"/>
            <p:cNvSpPr/>
            <p:nvPr/>
          </p:nvSpPr>
          <p:spPr>
            <a:xfrm>
              <a:off x="6238875" y="1285875"/>
              <a:ext cx="5381625" cy="400050"/>
            </a:xfrm>
            <a:prstGeom prst="roundRect">
              <a:avLst>
                <a:gd name="adj" fmla="val 33333"/>
              </a:avLst>
            </a:prstGeom>
            <a:solidFill>
              <a:srgbClr val="1E293B"/>
            </a:solidFill>
            <a:ln>
              <a:noFill/>
            </a:ln>
            <a:effectLst>
              <a:outerShdw blurRad="95250" dist="28575" dir="5400000" algn="ctr" rotWithShape="0">
                <a:srgbClr val="000000">
                  <a:alpha val="30000"/>
                </a:srgbClr>
              </a:outerShdw>
            </a:effectLst>
          </p:spPr>
        </p:sp>
        <p:sp>
          <p:nvSpPr>
            <p:cNvPr id="30" name="Rectangle 30"/>
            <p:cNvSpPr/>
            <p:nvPr/>
          </p:nvSpPr>
          <p:spPr>
            <a:xfrm>
              <a:off x="6391275" y="1371600"/>
              <a:ext cx="1238250" cy="228600"/>
            </a:xfrm>
            <a:prstGeom prst="roundRect">
              <a:avLst>
                <a:gd name="adj" fmla="val 25000"/>
              </a:avLst>
            </a:prstGeom>
            <a:solidFill>
              <a:srgbClr val="78350F"/>
            </a:solidFill>
            <a:ln w="9525">
              <a:solidFill>
                <a:srgbClr val="D97706"/>
              </a:solidFill>
            </a:ln>
            <a:effectLst>
              <a:outerShdw blurRad="95250" dist="28575" dir="5400000" algn="ctr" rotWithShape="0">
                <a:srgbClr val="000000">
                  <a:alpha val="30000"/>
                </a:srgbClr>
              </a:outerShdw>
            </a:effectLst>
          </p:spPr>
        </p:sp>
        <p:sp>
          <p:nvSpPr>
            <p:cNvPr id="31" name="TextBox 31"/>
            <p:cNvSpPr txBox="1"/>
            <p:nvPr/>
          </p:nvSpPr>
          <p:spPr>
            <a:xfrm>
              <a:off x="6612949" y="1434941"/>
              <a:ext cx="79490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FDE68A"/>
                  </a:solidFill>
                  <a:latin typeface="Segoe UI"/>
                  <a:ea typeface="Microsoft YaHei"/>
                  <a:cs typeface="Segoe UI"/>
                </a:rPr>
                <a:t>BÙ TRỪ SỰ KIỆN</a:t>
              </a:r>
            </a:p>
          </p:txBody>
        </p:sp>
        <p:sp>
          <p:nvSpPr>
            <p:cNvPr id="32" name="TextBox 32"/>
            <p:cNvSpPr txBox="1"/>
            <p:nvPr/>
          </p:nvSpPr>
          <p:spPr>
            <a:xfrm>
              <a:off x="7750969" y="1432322"/>
              <a:ext cx="2032189"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Console Trace Tự Động Hoàn Tiền</a:t>
              </a:r>
            </a:p>
          </p:txBody>
        </p:sp>
        <p:grpSp>
          <p:nvGrpSpPr>
            <p:cNvPr id="35" name="Group 35"/>
            <p:cNvGrpSpPr/>
            <p:nvPr/>
          </p:nvGrpSpPr>
          <p:grpSpPr>
            <a:xfrm>
              <a:off x="6381750" y="1781175"/>
              <a:ext cx="5095875" cy="3095625"/>
              <a:chOff x="6381750" y="1781175"/>
              <a:chExt cx="5095875" cy="3095625"/>
            </a:xfrm>
          </p:grpSpPr>
          <p:sp>
            <p:nvSpPr>
              <p:cNvPr id="33" name="Rectangle 33"/>
              <p:cNvSpPr/>
              <p:nvPr/>
            </p:nvSpPr>
            <p:spPr>
              <a:xfrm>
                <a:off x="6381750" y="1781175"/>
                <a:ext cx="5095875" cy="3095625"/>
              </a:xfrm>
              <a:prstGeom prst="roundRect">
                <a:avLst>
                  <a:gd name="adj" fmla="val 2462"/>
                </a:avLst>
              </a:prstGeom>
              <a:solidFill>
                <a:srgbClr val="0B1120"/>
              </a:solidFill>
              <a:ln w="9525">
                <a:solidFill>
                  <a:srgbClr val="334155"/>
                </a:solidFill>
              </a:ln>
              <a:effectLst>
                <a:outerShdw blurRad="95250" dist="28575" dir="5400000" algn="ctr" rotWithShape="0">
                  <a:srgbClr val="000000">
                    <a:alpha val="30000"/>
                  </a:srgbClr>
                </a:outerShdw>
              </a:effectLst>
            </p:spPr>
          </p:sp>
          <p:pic>
            <p:nvPicPr>
              <p:cNvPr id="34" name="Image 34"/>
              <p:cNvPicPr>
                <a:picLocks noChangeAspect="1"/>
              </p:cNvPicPr>
              <p:nvPr/>
            </p:nvPicPr>
            <p:blipFill>
              <a:blip r:embed="rId3"/>
              <a:stretch>
                <a:fillRect/>
              </a:stretch>
            </p:blipFill>
            <p:spPr>
              <a:xfrm>
                <a:off x="6400800" y="1819558"/>
                <a:ext cx="5057775" cy="3018859"/>
              </a:xfrm>
              <a:prstGeom prst="rect">
                <a:avLst/>
              </a:prstGeom>
            </p:spPr>
          </p:pic>
        </p:grpSp>
        <p:grpSp>
          <p:nvGrpSpPr>
            <p:cNvPr id="42" name="Group 42"/>
            <p:cNvGrpSpPr/>
            <p:nvPr/>
          </p:nvGrpSpPr>
          <p:grpSpPr>
            <a:xfrm>
              <a:off x="6381750" y="4972050"/>
              <a:ext cx="5095875" cy="1219200"/>
              <a:chOff x="6381750" y="4972050"/>
              <a:chExt cx="5095875" cy="1219200"/>
            </a:xfrm>
          </p:grpSpPr>
          <p:sp>
            <p:nvSpPr>
              <p:cNvPr id="36" name="Rectangle 36"/>
              <p:cNvSpPr/>
              <p:nvPr/>
            </p:nvSpPr>
            <p:spPr>
              <a:xfrm>
                <a:off x="6381750" y="4972050"/>
                <a:ext cx="5095875" cy="1219200"/>
              </a:xfrm>
              <a:prstGeom prst="roundRect">
                <a:avLst>
                  <a:gd name="adj" fmla="val 6250"/>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37" name="TextBox 37"/>
              <p:cNvSpPr txBox="1"/>
              <p:nvPr/>
            </p:nvSpPr>
            <p:spPr>
              <a:xfrm>
                <a:off x="6522720" y="5084445"/>
                <a:ext cx="239195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b="1" dirty="0">
                    <a:solidFill>
                      <a:srgbClr val="FBBF24"/>
                    </a:solidFill>
                    <a:latin typeface="Segoe UI"/>
                    <a:ea typeface="Microsoft YaHei"/>
                    <a:cs typeface="Segoe UI"/>
                  </a:rPr>
                  <a:t>Cơ Chế Bù Trừ Tự Động (Compensating):</a:t>
                </a:r>
              </a:p>
            </p:txBody>
          </p:sp>
          <p:sp>
            <p:nvSpPr>
              <p:cNvPr id="38" name="TextBox 38"/>
              <p:cNvSpPr txBox="1"/>
              <p:nvPr/>
            </p:nvSpPr>
            <p:spPr>
              <a:xfrm>
                <a:off x="6523196" y="5278993"/>
                <a:ext cx="439245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Orchestrator phát hiện lỗi credit, phát tán TransferFailedEvent qua Kafka.</a:t>
                </a:r>
              </a:p>
            </p:txBody>
          </p:sp>
          <p:sp>
            <p:nvSpPr>
              <p:cNvPr id="39" name="TextBox 39"/>
              <p:cNvSpPr txBox="1"/>
              <p:nvPr/>
            </p:nvSpPr>
            <p:spPr>
              <a:xfrm>
                <a:off x="6523196" y="5450443"/>
                <a:ext cx="422568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Account Service tiêu thụ event, gọi hàm compensateDebit hoàn tiền 500K.</a:t>
                </a:r>
              </a:p>
            </p:txBody>
          </p:sp>
          <p:sp>
            <p:nvSpPr>
              <p:cNvPr id="40" name="TextBox 40"/>
              <p:cNvSpPr txBox="1"/>
              <p:nvPr/>
            </p:nvSpPr>
            <p:spPr>
              <a:xfrm>
                <a:off x="6523196" y="5621893"/>
                <a:ext cx="309854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Số dư tài khoản nguồn được khôi phục nguyên vẹn 100%.</a:t>
                </a:r>
              </a:p>
            </p:txBody>
          </p:sp>
          <p:sp>
            <p:nvSpPr>
              <p:cNvPr id="41" name="TextBox 41"/>
              <p:cNvSpPr txBox="1"/>
              <p:nvPr/>
            </p:nvSpPr>
            <p:spPr>
              <a:xfrm>
                <a:off x="6523196" y="5793343"/>
                <a:ext cx="394964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Đạt chuẩn ACID Phân Tán: Không xảy ra tình trạng mất tiền oan uổng.</a:t>
                </a:r>
              </a:p>
            </p:txBody>
          </p:sp>
        </p:grpSp>
      </p:grpSp>
      <p:grpSp>
        <p:nvGrpSpPr>
          <p:cNvPr id="46" name="Group 46"/>
          <p:cNvGrpSpPr/>
          <p:nvPr/>
        </p:nvGrpSpPr>
        <p:grpSpPr>
          <a:xfrm>
            <a:off x="560070" y="6522720"/>
            <a:ext cx="11071860" cy="182880"/>
            <a:chOff x="560070" y="6522720"/>
            <a:chExt cx="11071860" cy="182880"/>
          </a:xfrm>
        </p:grpSpPr>
        <p:sp>
          <p:nvSpPr>
            <p:cNvPr id="44" name="TextBox 44"/>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45" name="TextBox 45"/>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Bottom)">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120"/>
            </a:solidFill>
            <a:ln>
              <a:noFill/>
            </a:ln>
          </p:spPr>
        </p:sp>
        <p:sp>
          <p:nvSpPr>
            <p:cNvPr id="3" name="Rectangle 3"/>
            <p:cNvSpPr/>
            <p:nvPr/>
          </p:nvSpPr>
          <p:spPr>
            <a:xfrm>
              <a:off x="0" y="0"/>
              <a:ext cx="12192000" cy="6858000"/>
            </a:xfrm>
            <a:prstGeom prst="rect">
              <a:avLst/>
            </a:prstGeom>
            <a:pattFill prst="dotGrid">
              <a:fgClr>
                <a:srgbClr val="334155"/>
              </a:fgClr>
              <a:bgClr>
                <a:srgbClr val="0B1120"/>
              </a:bgClr>
            </a:pattFill>
            <a:ln>
              <a:noFill/>
            </a:ln>
          </p:spPr>
        </p:sp>
        <p:sp>
          <p:nvSpPr>
            <p:cNvPr id="4" name="Rectangle 4"/>
            <p:cNvSpPr/>
            <p:nvPr/>
          </p:nvSpPr>
          <p:spPr>
            <a:xfrm>
              <a:off x="0" y="0"/>
              <a:ext cx="12192000" cy="6858000"/>
            </a:xfrm>
            <a:prstGeom prst="rect">
              <a:avLst/>
            </a:prstGeom>
            <a:gradFill>
              <a:gsLst>
                <a:gs pos="0">
                  <a:srgbClr val="06B6D4">
                    <a:alpha val="16000"/>
                  </a:srgbClr>
                </a:gs>
                <a:gs pos="100000">
                  <a:srgbClr val="0B1120">
                    <a:alpha val="0"/>
                  </a:srgbClr>
                </a:gs>
              </a:gsLst>
              <a:path path="circle">
                <a:fillToRect l="50000" t="50000" r="50000" b="50000"/>
              </a:path>
            </a:gra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rgbClr val="334155">
                  <a:alpha val="50000"/>
                </a:srgbClr>
              </a:solidFill>
            </a:ln>
          </p:spPr>
        </p:sp>
      </p:grpSp>
      <p:grpSp>
        <p:nvGrpSpPr>
          <p:cNvPr id="11" name="Group 11"/>
          <p:cNvGrpSpPr/>
          <p:nvPr/>
        </p:nvGrpSpPr>
        <p:grpSpPr>
          <a:xfrm>
            <a:off x="548640" y="342900"/>
            <a:ext cx="6321854" cy="797719"/>
            <a:chOff x="548640" y="342900"/>
            <a:chExt cx="6321854" cy="797719"/>
          </a:xfrm>
        </p:grpSpPr>
        <p:sp>
          <p:nvSpPr>
            <p:cNvPr id="7" name="Rectangle 7"/>
            <p:cNvSpPr/>
            <p:nvPr/>
          </p:nvSpPr>
          <p:spPr>
            <a:xfrm>
              <a:off x="571500" y="342900"/>
              <a:ext cx="1666875" cy="247650"/>
            </a:xfrm>
            <a:prstGeom prst="roundRect">
              <a:avLst>
                <a:gd name="adj" fmla="val 50000"/>
              </a:avLst>
            </a:prstGeom>
            <a:solidFill>
              <a:srgbClr val="1E293B"/>
            </a:solidFill>
            <a:ln w="9525">
              <a:solidFill>
                <a:srgbClr val="06B6D4"/>
              </a:solidFill>
            </a:ln>
          </p:spPr>
        </p:sp>
        <p:sp>
          <p:nvSpPr>
            <p:cNvPr id="8" name="TextBox 8"/>
            <p:cNvSpPr txBox="1"/>
            <p:nvPr/>
          </p:nvSpPr>
          <p:spPr>
            <a:xfrm>
              <a:off x="843892" y="415766"/>
              <a:ext cx="1112566" cy="167640"/>
            </a:xfrm>
            <a:prstGeom prst="rect">
              <a:avLst/>
            </a:prstGeom>
            <a:noFill/>
            <a:ln>
              <a:noFill/>
            </a:ln>
          </p:spPr>
          <p:txBody>
            <a:bodyPr wrap="none" lIns="0" tIns="0" rIns="0" bIns="0" anchor="t" anchorCtr="0">
              <a:spAutoFit/>
            </a:bodyPr>
            <a:lstStyle/>
            <a:p>
              <a:pPr algn="ctr"/>
              <a:r>
                <a:rPr lang="zh-CN" sz="825" b="1" dirty="0">
                  <a:solidFill>
                    <a:srgbClr val="22D3EE"/>
                  </a:solidFill>
                  <a:latin typeface="Segoe UI"/>
                  <a:ea typeface="Microsoft YaHei"/>
                  <a:cs typeface="Segoe UI"/>
                </a:rPr>
                <a:t>TỔNG KẾT &amp; LỘ TRÌNH</a:t>
              </a:r>
            </a:p>
          </p:txBody>
        </p:sp>
        <p:sp>
          <p:nvSpPr>
            <p:cNvPr id="9" name="TextBox 9"/>
            <p:cNvSpPr txBox="1"/>
            <p:nvPr/>
          </p:nvSpPr>
          <p:spPr>
            <a:xfrm>
              <a:off x="548640" y="624840"/>
              <a:ext cx="5716429" cy="365760"/>
            </a:xfrm>
            <a:prstGeom prst="rect">
              <a:avLst/>
            </a:prstGeom>
            <a:noFill/>
            <a:ln>
              <a:noFill/>
            </a:ln>
          </p:spPr>
          <p:txBody>
            <a:bodyPr wrap="none" lIns="0" tIns="0" rIns="0" bIns="0" anchor="t" anchorCtr="0">
              <a:spAutoFit/>
            </a:bodyPr>
            <a:lstStyle/>
            <a:p>
              <a:pPr algn="l"/>
              <a:r>
                <a:rPr lang="zh-CN" sz="1800" b="1" dirty="0">
                  <a:solidFill>
                    <a:srgbClr val="F8FAFC"/>
                  </a:solidFill>
                  <a:latin typeface="Arial"/>
                  <a:ea typeface="Microsoft YaHei"/>
                  <a:cs typeface="Arial"/>
                </a:rPr>
                <a:t>Tổng Kết Đề Án &amp; Định Hướng Tích Hợp Frontend</a:t>
              </a:r>
            </a:p>
          </p:txBody>
        </p:sp>
        <p:sp>
          <p:nvSpPr>
            <p:cNvPr id="10" name="TextBox 10"/>
            <p:cNvSpPr txBox="1"/>
            <p:nvPr/>
          </p:nvSpPr>
          <p:spPr>
            <a:xfrm>
              <a:off x="559118" y="942499"/>
              <a:ext cx="6311376" cy="198120"/>
            </a:xfrm>
            <a:prstGeom prst="rect">
              <a:avLst/>
            </a:prstGeom>
            <a:noFill/>
            <a:ln>
              <a:noFill/>
            </a:ln>
          </p:spPr>
          <p:txBody>
            <a:bodyPr wrap="none" lIns="0" tIns="0" rIns="0" bIns="0" anchor="t" anchorCtr="0">
              <a:spAutoFit/>
            </a:bodyPr>
            <a:lstStyle/>
            <a:p>
              <a:pPr algn="l"/>
              <a:r>
                <a:rPr lang="zh-CN" sz="975" b="1" dirty="0">
                  <a:solidFill>
                    <a:srgbClr val="94A3B8"/>
                  </a:solidFill>
                  <a:latin typeface="Segoe UI"/>
                  <a:ea typeface="Microsoft YaHei"/>
                  <a:cs typeface="Segoe UI"/>
                </a:rPr>
                <a:t>Nghiệm thu toàn diện mục tiêu SRS Mini Project và lộ trình bàn giao API cho Mobile App / Web App</a:t>
              </a:r>
            </a:p>
          </p:txBody>
        </p:sp>
      </p:grpSp>
      <p:grpSp>
        <p:nvGrpSpPr>
          <p:cNvPr id="59" name="Group 59"/>
          <p:cNvGrpSpPr/>
          <p:nvPr/>
        </p:nvGrpSpPr>
        <p:grpSpPr>
          <a:xfrm>
            <a:off x="571500" y="1285875"/>
            <a:ext cx="10858500" cy="2333625"/>
            <a:chOff x="571500" y="1285875"/>
            <a:chExt cx="10858500" cy="2333625"/>
          </a:xfrm>
        </p:grpSpPr>
        <p:grpSp>
          <p:nvGrpSpPr>
            <p:cNvPr id="30" name="Group 30"/>
            <p:cNvGrpSpPr/>
            <p:nvPr/>
          </p:nvGrpSpPr>
          <p:grpSpPr>
            <a:xfrm>
              <a:off x="571500" y="1285875"/>
              <a:ext cx="3486150" cy="2333625"/>
              <a:chOff x="571500" y="1285875"/>
              <a:chExt cx="3486150" cy="2333625"/>
            </a:xfrm>
            <a:effectLst>
              <a:outerShdw blurRad="95250" dist="28575" dir="5400000" algn="ctr" rotWithShape="0">
                <a:srgbClr val="000000">
                  <a:alpha val="30000"/>
                </a:srgbClr>
              </a:outerShdw>
            </a:effectLst>
          </p:grpSpPr>
          <p:sp>
            <p:nvSpPr>
              <p:cNvPr id="12" name="Rectangle 12"/>
              <p:cNvSpPr/>
              <p:nvPr/>
            </p:nvSpPr>
            <p:spPr>
              <a:xfrm>
                <a:off x="571500" y="1285875"/>
                <a:ext cx="3486150" cy="2333625"/>
              </a:xfrm>
              <a:prstGeom prst="roundRect">
                <a:avLst>
                  <a:gd name="adj" fmla="val 4898"/>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13" name="Rectangle 13"/>
              <p:cNvSpPr/>
              <p:nvPr/>
            </p:nvSpPr>
            <p:spPr>
              <a:xfrm>
                <a:off x="723900" y="1419225"/>
                <a:ext cx="381000" cy="381000"/>
              </a:xfrm>
              <a:prstGeom prst="roundRect">
                <a:avLst>
                  <a:gd name="adj" fmla="val 20000"/>
                </a:avLst>
              </a:prstGeom>
              <a:solidFill>
                <a:srgbClr val="172554"/>
              </a:solidFill>
              <a:ln>
                <a:noFill/>
              </a:ln>
              <a:effectLst>
                <a:outerShdw blurRad="95250" dist="28575" dir="5400000" algn="ctr" rotWithShape="0">
                  <a:srgbClr val="000000">
                    <a:alpha val="30000"/>
                  </a:srgbClr>
                </a:outerShdw>
              </a:effectLst>
            </p:spPr>
          </p:sp>
          <p:grpSp>
            <p:nvGrpSpPr>
              <p:cNvPr id="20" name="Group 20"/>
              <p:cNvGrpSpPr/>
              <p:nvPr/>
            </p:nvGrpSpPr>
            <p:grpSpPr>
              <a:xfrm>
                <a:off x="828675" y="1543050"/>
                <a:ext cx="171450" cy="161924"/>
                <a:chOff x="828675" y="1543050"/>
                <a:chExt cx="171450" cy="161924"/>
              </a:xfrm>
            </p:grpSpPr>
            <p:sp>
              <p:nvSpPr>
                <p:cNvPr id="14" name="Freeform 14"/>
                <p:cNvSpPr/>
                <p:nvPr/>
              </p:nvSpPr>
              <p:spPr>
                <a:xfrm>
                  <a:off x="914400" y="16097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38BDF8"/>
                  </a:solidFill>
                </a:ln>
                <a:effectLst>
                  <a:outerShdw blurRad="95250" dist="28575" dir="5400000" algn="ctr" rotWithShape="0">
                    <a:srgbClr val="000000">
                      <a:alpha val="30000"/>
                    </a:srgbClr>
                  </a:outerShdw>
                </a:effectLst>
              </p:spPr>
            </p:sp>
            <p:sp>
              <p:nvSpPr>
                <p:cNvPr id="15" name="Freeform 15"/>
                <p:cNvSpPr/>
                <p:nvPr/>
              </p:nvSpPr>
              <p:spPr>
                <a:xfrm>
                  <a:off x="923925" y="1662112"/>
                  <a:ext cx="38100" cy="42862"/>
                </a:xfrm>
                <a:custGeom>
                  <a:avLst/>
                  <a:gdLst/>
                  <a:ahLst/>
                  <a:cxnLst/>
                  <a:rect l="l" t="t" r="r" b="b"/>
                  <a:pathLst>
                    <a:path w="38100" h="42862">
                      <a:moveTo>
                        <a:pt x="0" y="0"/>
                      </a:moveTo>
                      <a:lnTo>
                        <a:pt x="0" y="42862"/>
                      </a:lnTo>
                      <a:lnTo>
                        <a:pt x="19050" y="28575"/>
                      </a:lnTo>
                      <a:lnTo>
                        <a:pt x="38100" y="42862"/>
                      </a:lnTo>
                      <a:lnTo>
                        <a:pt x="38100" y="0"/>
                      </a:lnTo>
                    </a:path>
                  </a:pathLst>
                </a:custGeom>
                <a:noFill/>
                <a:ln w="19050">
                  <a:solidFill>
                    <a:srgbClr val="38BDF8"/>
                  </a:solidFill>
                </a:ln>
                <a:effectLst>
                  <a:outerShdw blurRad="95250" dist="28575" dir="5400000" algn="ctr" rotWithShape="0">
                    <a:srgbClr val="000000">
                      <a:alpha val="30000"/>
                    </a:srgbClr>
                  </a:outerShdw>
                </a:effectLst>
              </p:spPr>
            </p:sp>
            <p:sp>
              <p:nvSpPr>
                <p:cNvPr id="16" name="Freeform 16"/>
                <p:cNvSpPr/>
                <p:nvPr/>
              </p:nvSpPr>
              <p:spPr>
                <a:xfrm>
                  <a:off x="828675" y="1543050"/>
                  <a:ext cx="171450" cy="133350"/>
                </a:xfrm>
                <a:custGeom>
                  <a:avLst/>
                  <a:gdLst/>
                  <a:ahLst/>
                  <a:cxnLst/>
                  <a:rect l="l" t="t" r="r" b="b"/>
                  <a:pathLst>
                    <a:path w="171450" h="133350">
                      <a:moveTo>
                        <a:pt x="66675" y="133350"/>
                      </a:moveTo>
                      <a:lnTo>
                        <a:pt x="19050" y="133350"/>
                      </a:lnTo>
                      <a:cubicBezTo>
                        <a:pt x="8529" y="133350"/>
                        <a:pt x="0" y="124821"/>
                        <a:pt x="0" y="114300"/>
                      </a:cubicBezTo>
                      <a:lnTo>
                        <a:pt x="0" y="19050"/>
                      </a:lnTo>
                      <a:cubicBezTo>
                        <a:pt x="0" y="8573"/>
                        <a:pt x="8573" y="0"/>
                        <a:pt x="19050" y="0"/>
                      </a:cubicBezTo>
                      <a:lnTo>
                        <a:pt x="152400" y="0"/>
                      </a:lnTo>
                      <a:cubicBezTo>
                        <a:pt x="162921" y="0"/>
                        <a:pt x="171450" y="8529"/>
                        <a:pt x="171450" y="19050"/>
                      </a:cubicBezTo>
                      <a:lnTo>
                        <a:pt x="171450" y="114300"/>
                      </a:lnTo>
                      <a:cubicBezTo>
                        <a:pt x="171443" y="121099"/>
                        <a:pt x="167813" y="127379"/>
                        <a:pt x="161925" y="130778"/>
                      </a:cubicBezTo>
                    </a:path>
                  </a:pathLst>
                </a:custGeom>
                <a:noFill/>
                <a:ln w="19050">
                  <a:solidFill>
                    <a:srgbClr val="38BDF8"/>
                  </a:solidFill>
                </a:ln>
                <a:effectLst>
                  <a:outerShdw blurRad="95250" dist="28575" dir="5400000" algn="ctr" rotWithShape="0">
                    <a:srgbClr val="000000">
                      <a:alpha val="30000"/>
                    </a:srgbClr>
                  </a:outerShdw>
                </a:effectLst>
              </p:spPr>
            </p:sp>
            <p:sp>
              <p:nvSpPr>
                <p:cNvPr id="17" name="Freeform 17"/>
                <p:cNvSpPr/>
                <p:nvPr/>
              </p:nvSpPr>
              <p:spPr>
                <a:xfrm>
                  <a:off x="857250" y="1581150"/>
                  <a:ext cx="114300" cy="9525"/>
                </a:xfrm>
                <a:custGeom>
                  <a:avLst/>
                  <a:gdLst/>
                  <a:ahLst/>
                  <a:cxnLst/>
                  <a:rect l="l" t="t" r="r" b="b"/>
                  <a:pathLst>
                    <a:path w="114300" h="9525">
                      <a:moveTo>
                        <a:pt x="0" y="0"/>
                      </a:moveTo>
                      <a:lnTo>
                        <a:pt x="114300" y="0"/>
                      </a:lnTo>
                    </a:path>
                  </a:pathLst>
                </a:custGeom>
                <a:noFill/>
                <a:ln w="19050">
                  <a:solidFill>
                    <a:srgbClr val="38BDF8"/>
                  </a:solidFill>
                </a:ln>
                <a:effectLst>
                  <a:outerShdw blurRad="95250" dist="28575" dir="5400000" algn="ctr" rotWithShape="0">
                    <a:srgbClr val="000000">
                      <a:alpha val="30000"/>
                    </a:srgbClr>
                  </a:outerShdw>
                </a:effectLst>
              </p:spPr>
            </p:sp>
            <p:sp>
              <p:nvSpPr>
                <p:cNvPr id="18" name="Freeform 18"/>
                <p:cNvSpPr/>
                <p:nvPr/>
              </p:nvSpPr>
              <p:spPr>
                <a:xfrm>
                  <a:off x="857250" y="1609725"/>
                  <a:ext cx="28575" cy="9525"/>
                </a:xfrm>
                <a:custGeom>
                  <a:avLst/>
                  <a:gdLst/>
                  <a:ahLst/>
                  <a:cxnLst/>
                  <a:rect l="l" t="t" r="r" b="b"/>
                  <a:pathLst>
                    <a:path w="28575" h="9525">
                      <a:moveTo>
                        <a:pt x="0" y="0"/>
                      </a:moveTo>
                      <a:lnTo>
                        <a:pt x="28575" y="0"/>
                      </a:lnTo>
                    </a:path>
                  </a:pathLst>
                </a:custGeom>
                <a:noFill/>
                <a:ln w="19050">
                  <a:solidFill>
                    <a:srgbClr val="38BDF8"/>
                  </a:solidFill>
                </a:ln>
                <a:effectLst>
                  <a:outerShdw blurRad="95250" dist="28575" dir="5400000" algn="ctr" rotWithShape="0">
                    <a:srgbClr val="000000">
                      <a:alpha val="30000"/>
                    </a:srgbClr>
                  </a:outerShdw>
                </a:effectLst>
              </p:spPr>
            </p:sp>
            <p:sp>
              <p:nvSpPr>
                <p:cNvPr id="19" name="Freeform 19"/>
                <p:cNvSpPr/>
                <p:nvPr/>
              </p:nvSpPr>
              <p:spPr>
                <a:xfrm>
                  <a:off x="857250" y="1638300"/>
                  <a:ext cx="19050" cy="9525"/>
                </a:xfrm>
                <a:custGeom>
                  <a:avLst/>
                  <a:gdLst/>
                  <a:ahLst/>
                  <a:cxnLst/>
                  <a:rect l="l" t="t" r="r" b="b"/>
                  <a:pathLst>
                    <a:path w="19050" h="9525">
                      <a:moveTo>
                        <a:pt x="0" y="0"/>
                      </a:moveTo>
                      <a:lnTo>
                        <a:pt x="19050" y="0"/>
                      </a:lnTo>
                    </a:path>
                  </a:pathLst>
                </a:custGeom>
                <a:noFill/>
                <a:ln w="19050">
                  <a:solidFill>
                    <a:srgbClr val="38BDF8"/>
                  </a:solidFill>
                </a:ln>
                <a:effectLst>
                  <a:outerShdw blurRad="95250" dist="28575" dir="5400000" algn="ctr" rotWithShape="0">
                    <a:srgbClr val="000000">
                      <a:alpha val="30000"/>
                    </a:srgbClr>
                  </a:outerShdw>
                </a:effectLst>
              </p:spPr>
            </p:sp>
          </p:grpSp>
          <p:sp>
            <p:nvSpPr>
              <p:cNvPr id="21" name="TextBox 21"/>
              <p:cNvSpPr txBox="1"/>
              <p:nvPr/>
            </p:nvSpPr>
            <p:spPr>
              <a:xfrm>
                <a:off x="1205389" y="1473279"/>
                <a:ext cx="1634061" cy="2209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88" b="1" dirty="0">
                    <a:solidFill>
                      <a:srgbClr val="F8FAFC"/>
                    </a:solidFill>
                    <a:latin typeface="Segoe UI"/>
                    <a:ea typeface="Microsoft YaHei"/>
                    <a:cs typeface="Segoe UI"/>
                  </a:rPr>
                  <a:t>Chuẩn Hóa Yêu Cầu SRS</a:t>
                </a:r>
              </a:p>
            </p:txBody>
          </p:sp>
          <p:sp>
            <p:nvSpPr>
              <p:cNvPr id="22" name="TextBox 22"/>
              <p:cNvSpPr txBox="1"/>
              <p:nvPr/>
            </p:nvSpPr>
            <p:spPr>
              <a:xfrm>
                <a:off x="1208246" y="1659493"/>
                <a:ext cx="143658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3C5FD"/>
                    </a:solidFill>
                    <a:latin typeface="Segoe UI"/>
                    <a:ea typeface="Microsoft YaHei"/>
                    <a:cs typeface="Segoe UI"/>
                  </a:rPr>
                  <a:t>Đạt 100% Tiêu Chí Thiết Kế</a:t>
                </a:r>
              </a:p>
            </p:txBody>
          </p:sp>
          <p:sp>
            <p:nvSpPr>
              <p:cNvPr id="23" name="Line 23"/>
              <p:cNvSpPr/>
              <p:nvPr/>
            </p:nvSpPr>
            <p:spPr>
              <a:xfrm>
                <a:off x="723900" y="1895475"/>
                <a:ext cx="3181350" cy="9525"/>
              </a:xfrm>
              <a:custGeom>
                <a:avLst/>
                <a:gdLst/>
                <a:ahLst/>
                <a:cxnLst/>
                <a:rect l="l" t="t" r="r" b="b"/>
                <a:pathLst>
                  <a:path w="3181350" h="9525">
                    <a:moveTo>
                      <a:pt x="0" y="0"/>
                    </a:moveTo>
                    <a:lnTo>
                      <a:pt x="3181350" y="0"/>
                    </a:lnTo>
                  </a:path>
                </a:pathLst>
              </a:custGeom>
              <a:noFill/>
              <a:ln w="9525">
                <a:solidFill>
                  <a:srgbClr val="334155"/>
                </a:solidFill>
              </a:ln>
            </p:spPr>
          </p:sp>
          <p:sp>
            <p:nvSpPr>
              <p:cNvPr id="24" name="TextBox 24"/>
              <p:cNvSpPr txBox="1"/>
              <p:nvPr/>
            </p:nvSpPr>
            <p:spPr>
              <a:xfrm>
                <a:off x="712470" y="2007870"/>
                <a:ext cx="2453164"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Tách thành công Monolith sang 6 dịch vụ</a:t>
                </a:r>
              </a:p>
            </p:txBody>
          </p:sp>
          <p:sp>
            <p:nvSpPr>
              <p:cNvPr id="25" name="TextBox 25"/>
              <p:cNvSpPr txBox="1"/>
              <p:nvPr/>
            </p:nvSpPr>
            <p:spPr>
              <a:xfrm>
                <a:off x="712470" y="2207895"/>
                <a:ext cx="260918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Áp dụng nghiêm ngặt Database-per-service</a:t>
                </a:r>
              </a:p>
            </p:txBody>
          </p:sp>
          <p:sp>
            <p:nvSpPr>
              <p:cNvPr id="26" name="TextBox 26"/>
              <p:cNvSpPr txBox="1"/>
              <p:nvPr/>
            </p:nvSpPr>
            <p:spPr>
              <a:xfrm>
                <a:off x="712470" y="2407920"/>
                <a:ext cx="2201132"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Bảo mật JWT + Spring Cloud Gateway</a:t>
                </a:r>
              </a:p>
            </p:txBody>
          </p:sp>
          <p:sp>
            <p:nvSpPr>
              <p:cNvPr id="27" name="TextBox 27"/>
              <p:cNvSpPr txBox="1"/>
              <p:nvPr/>
            </p:nvSpPr>
            <p:spPr>
              <a:xfrm>
                <a:off x="712470" y="2607945"/>
                <a:ext cx="226714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Xử lý giao dịch phân tán Saga + Kafka</a:t>
                </a:r>
              </a:p>
            </p:txBody>
          </p:sp>
          <p:sp>
            <p:nvSpPr>
              <p:cNvPr id="28" name="Rectangle 28"/>
              <p:cNvSpPr/>
              <p:nvPr/>
            </p:nvSpPr>
            <p:spPr>
              <a:xfrm>
                <a:off x="723900" y="3152775"/>
                <a:ext cx="3181350" cy="285750"/>
              </a:xfrm>
              <a:prstGeom prst="roundRect">
                <a:avLst>
                  <a:gd name="adj" fmla="val 20000"/>
                </a:avLst>
              </a:prstGeom>
              <a:solidFill>
                <a:srgbClr val="0F172A"/>
              </a:solidFill>
              <a:ln w="9525">
                <a:solidFill>
                  <a:srgbClr val="2563EB"/>
                </a:solidFill>
              </a:ln>
              <a:effectLst>
                <a:outerShdw blurRad="95250" dist="28575" dir="5400000" algn="ctr" rotWithShape="0">
                  <a:srgbClr val="000000">
                    <a:alpha val="30000"/>
                  </a:srgbClr>
                </a:outerShdw>
              </a:effectLst>
            </p:spPr>
          </p:sp>
          <p:sp>
            <p:nvSpPr>
              <p:cNvPr id="29" name="TextBox 29"/>
              <p:cNvSpPr txBox="1"/>
              <p:nvPr/>
            </p:nvSpPr>
            <p:spPr>
              <a:xfrm>
                <a:off x="1686095" y="3244691"/>
                <a:ext cx="1256959"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38BDF8"/>
                    </a:solidFill>
                    <a:latin typeface="Segoe UI"/>
                    <a:ea typeface="Microsoft YaHei"/>
                    <a:cs typeface="Segoe UI"/>
                  </a:rPr>
                  <a:t>✓ 100% SRS COMPLIANCE</a:t>
                </a:r>
              </a:p>
            </p:txBody>
          </p:sp>
        </p:grpSp>
        <p:grpSp>
          <p:nvGrpSpPr>
            <p:cNvPr id="43" name="Group 43"/>
            <p:cNvGrpSpPr/>
            <p:nvPr/>
          </p:nvGrpSpPr>
          <p:grpSpPr>
            <a:xfrm>
              <a:off x="4257675" y="1285875"/>
              <a:ext cx="3486150" cy="2333625"/>
              <a:chOff x="4257675" y="1285875"/>
              <a:chExt cx="3486150" cy="2333625"/>
            </a:xfrm>
            <a:effectLst>
              <a:outerShdw blurRad="95250" dist="28575" dir="5400000" algn="ctr" rotWithShape="0">
                <a:srgbClr val="000000">
                  <a:alpha val="30000"/>
                </a:srgbClr>
              </a:outerShdw>
            </a:effectLst>
          </p:grpSpPr>
          <p:sp>
            <p:nvSpPr>
              <p:cNvPr id="31" name="Rectangle 31"/>
              <p:cNvSpPr/>
              <p:nvPr/>
            </p:nvSpPr>
            <p:spPr>
              <a:xfrm>
                <a:off x="4257675" y="1285875"/>
                <a:ext cx="3486150" cy="2333625"/>
              </a:xfrm>
              <a:prstGeom prst="roundRect">
                <a:avLst>
                  <a:gd name="adj" fmla="val 4898"/>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32" name="Rectangle 32"/>
              <p:cNvSpPr/>
              <p:nvPr/>
            </p:nvSpPr>
            <p:spPr>
              <a:xfrm>
                <a:off x="4410075" y="1419225"/>
                <a:ext cx="381000" cy="381000"/>
              </a:xfrm>
              <a:prstGeom prst="roundRect">
                <a:avLst>
                  <a:gd name="adj" fmla="val 20000"/>
                </a:avLst>
              </a:prstGeom>
              <a:solidFill>
                <a:srgbClr val="064E3B"/>
              </a:solidFill>
              <a:ln>
                <a:noFill/>
              </a:ln>
              <a:effectLst>
                <a:outerShdw blurRad="95250" dist="28575" dir="5400000" algn="ctr" rotWithShape="0">
                  <a:srgbClr val="000000">
                    <a:alpha val="30000"/>
                  </a:srgbClr>
                </a:outerShdw>
              </a:effectLst>
            </p:spPr>
          </p:sp>
          <p:sp>
            <p:nvSpPr>
              <p:cNvPr id="33" name="Freeform 33"/>
              <p:cNvSpPr/>
              <p:nvPr/>
            </p:nvSpPr>
            <p:spPr>
              <a:xfrm>
                <a:off x="4533900" y="1524000"/>
                <a:ext cx="133350" cy="171450"/>
              </a:xfrm>
              <a:custGeom>
                <a:avLst/>
                <a:gdLst/>
                <a:ahLst/>
                <a:cxnLst/>
                <a:rect l="l" t="t" r="r" b="b"/>
                <a:pathLst>
                  <a:path w="133350" h="171450">
                    <a:moveTo>
                      <a:pt x="76200" y="0"/>
                    </a:moveTo>
                    <a:lnTo>
                      <a:pt x="76200" y="66675"/>
                    </a:lnTo>
                    <a:lnTo>
                      <a:pt x="133350" y="66675"/>
                    </a:lnTo>
                    <a:lnTo>
                      <a:pt x="57150" y="171450"/>
                    </a:lnTo>
                    <a:lnTo>
                      <a:pt x="57150" y="104775"/>
                    </a:lnTo>
                    <a:lnTo>
                      <a:pt x="0" y="104775"/>
                    </a:lnTo>
                    <a:lnTo>
                      <a:pt x="76200" y="0"/>
                    </a:lnTo>
                  </a:path>
                </a:pathLst>
              </a:custGeom>
              <a:noFill/>
              <a:ln w="19050">
                <a:solidFill>
                  <a:srgbClr val="4ADE80"/>
                </a:solidFill>
              </a:ln>
              <a:effectLst>
                <a:outerShdw blurRad="95250" dist="28575" dir="5400000" algn="ctr" rotWithShape="0">
                  <a:srgbClr val="000000">
                    <a:alpha val="30000"/>
                  </a:srgbClr>
                </a:outerShdw>
              </a:effectLst>
            </p:spPr>
          </p:sp>
          <p:sp>
            <p:nvSpPr>
              <p:cNvPr id="34" name="TextBox 34"/>
              <p:cNvSpPr txBox="1"/>
              <p:nvPr/>
            </p:nvSpPr>
            <p:spPr>
              <a:xfrm>
                <a:off x="4891564" y="1473279"/>
                <a:ext cx="1557926" cy="2209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88" b="1" dirty="0">
                    <a:solidFill>
                      <a:srgbClr val="F8FAFC"/>
                    </a:solidFill>
                    <a:latin typeface="Segoe UI"/>
                    <a:ea typeface="Microsoft YaHei"/>
                    <a:cs typeface="Segoe UI"/>
                  </a:rPr>
                  <a:t>Hiệu Năng &amp; Kháng Lỗi</a:t>
                </a:r>
              </a:p>
            </p:txBody>
          </p:sp>
          <p:sp>
            <p:nvSpPr>
              <p:cNvPr id="35" name="TextBox 35"/>
              <p:cNvSpPr txBox="1"/>
              <p:nvPr/>
            </p:nvSpPr>
            <p:spPr>
              <a:xfrm>
                <a:off x="4894421" y="1659493"/>
                <a:ext cx="1494092"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86EFAC"/>
                    </a:solidFill>
                    <a:latin typeface="Segoe UI"/>
                    <a:ea typeface="Microsoft YaHei"/>
                    <a:cs typeface="Segoe UI"/>
                  </a:rPr>
                  <a:t>Độ Trễ Thấp &amp; Tự Khắc Phục</a:t>
                </a:r>
              </a:p>
            </p:txBody>
          </p:sp>
          <p:sp>
            <p:nvSpPr>
              <p:cNvPr id="36" name="Line 36"/>
              <p:cNvSpPr/>
              <p:nvPr/>
            </p:nvSpPr>
            <p:spPr>
              <a:xfrm>
                <a:off x="4410075" y="1895475"/>
                <a:ext cx="3181350" cy="9525"/>
              </a:xfrm>
              <a:custGeom>
                <a:avLst/>
                <a:gdLst/>
                <a:ahLst/>
                <a:cxnLst/>
                <a:rect l="l" t="t" r="r" b="b"/>
                <a:pathLst>
                  <a:path w="3181350" h="9525">
                    <a:moveTo>
                      <a:pt x="0" y="0"/>
                    </a:moveTo>
                    <a:lnTo>
                      <a:pt x="3181350" y="0"/>
                    </a:lnTo>
                  </a:path>
                </a:pathLst>
              </a:custGeom>
              <a:noFill/>
              <a:ln w="9525">
                <a:solidFill>
                  <a:srgbClr val="334155"/>
                </a:solidFill>
              </a:ln>
            </p:spPr>
          </p:sp>
          <p:sp>
            <p:nvSpPr>
              <p:cNvPr id="37" name="TextBox 37"/>
              <p:cNvSpPr txBox="1"/>
              <p:nvPr/>
            </p:nvSpPr>
            <p:spPr>
              <a:xfrm>
                <a:off x="4398645" y="2007870"/>
                <a:ext cx="247116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Redis In-Memory phản hồi truy vấn &lt; 3ms</a:t>
                </a:r>
              </a:p>
            </p:txBody>
          </p:sp>
          <p:sp>
            <p:nvSpPr>
              <p:cNvPr id="38" name="TextBox 38"/>
              <p:cNvSpPr txBox="1"/>
              <p:nvPr/>
            </p:nvSpPr>
            <p:spPr>
              <a:xfrm>
                <a:off x="4398645" y="2207895"/>
                <a:ext cx="223113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Giảm hơn 90% tải đọc trực tiếp lên DB</a:t>
                </a:r>
              </a:p>
            </p:txBody>
          </p:sp>
          <p:sp>
            <p:nvSpPr>
              <p:cNvPr id="39" name="TextBox 39"/>
              <p:cNvSpPr txBox="1"/>
              <p:nvPr/>
            </p:nvSpPr>
            <p:spPr>
              <a:xfrm>
                <a:off x="4398645" y="2407920"/>
                <a:ext cx="263318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Resilience4j Circuit Breaker ngăn sập nguồn</a:t>
                </a:r>
              </a:p>
            </p:txBody>
          </p:sp>
          <p:sp>
            <p:nvSpPr>
              <p:cNvPr id="40" name="TextBox 40"/>
              <p:cNvSpPr txBox="1"/>
              <p:nvPr/>
            </p:nvSpPr>
            <p:spPr>
              <a:xfrm>
                <a:off x="4398645" y="2607945"/>
                <a:ext cx="2471166"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Tự động bù trừ khi giao dịch xảy ra sự cố</a:t>
                </a:r>
              </a:p>
            </p:txBody>
          </p:sp>
          <p:sp>
            <p:nvSpPr>
              <p:cNvPr id="41" name="Rectangle 41"/>
              <p:cNvSpPr/>
              <p:nvPr/>
            </p:nvSpPr>
            <p:spPr>
              <a:xfrm>
                <a:off x="4410075" y="3152775"/>
                <a:ext cx="3181350" cy="285750"/>
              </a:xfrm>
              <a:prstGeom prst="roundRect">
                <a:avLst>
                  <a:gd name="adj" fmla="val 20000"/>
                </a:avLst>
              </a:prstGeom>
              <a:solidFill>
                <a:srgbClr val="0F172A"/>
              </a:solidFill>
              <a:ln w="9525">
                <a:solidFill>
                  <a:srgbClr val="16A34A"/>
                </a:solidFill>
              </a:ln>
              <a:effectLst>
                <a:outerShdw blurRad="95250" dist="28575" dir="5400000" algn="ctr" rotWithShape="0">
                  <a:srgbClr val="000000">
                    <a:alpha val="30000"/>
                  </a:srgbClr>
                </a:outerShdw>
              </a:effectLst>
            </p:spPr>
          </p:sp>
          <p:sp>
            <p:nvSpPr>
              <p:cNvPr id="42" name="TextBox 42"/>
              <p:cNvSpPr txBox="1"/>
              <p:nvPr/>
            </p:nvSpPr>
            <p:spPr>
              <a:xfrm>
                <a:off x="5063269" y="3244691"/>
                <a:ext cx="1874962"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4ADE80"/>
                    </a:solidFill>
                    <a:latin typeface="Segoe UI"/>
                    <a:ea typeface="Microsoft YaHei"/>
                    <a:cs typeface="Segoe UI"/>
                  </a:rPr>
                  <a:t>✓ CACHE HIT &lt; 3MS · KHÁNG LỖI CAO</a:t>
                </a:r>
              </a:p>
            </p:txBody>
          </p:sp>
        </p:grpSp>
        <p:grpSp>
          <p:nvGrpSpPr>
            <p:cNvPr id="58" name="Group 58"/>
            <p:cNvGrpSpPr/>
            <p:nvPr/>
          </p:nvGrpSpPr>
          <p:grpSpPr>
            <a:xfrm>
              <a:off x="7943850" y="1285875"/>
              <a:ext cx="3486150" cy="2333625"/>
              <a:chOff x="7943850" y="1285875"/>
              <a:chExt cx="3486150" cy="2333625"/>
            </a:xfrm>
            <a:effectLst>
              <a:outerShdw blurRad="95250" dist="28575" dir="5400000" algn="ctr" rotWithShape="0">
                <a:srgbClr val="000000">
                  <a:alpha val="30000"/>
                </a:srgbClr>
              </a:outerShdw>
            </a:effectLst>
          </p:grpSpPr>
          <p:sp>
            <p:nvSpPr>
              <p:cNvPr id="44" name="Rectangle 44"/>
              <p:cNvSpPr/>
              <p:nvPr/>
            </p:nvSpPr>
            <p:spPr>
              <a:xfrm>
                <a:off x="7943850" y="1285875"/>
                <a:ext cx="3486150" cy="2333625"/>
              </a:xfrm>
              <a:prstGeom prst="roundRect">
                <a:avLst>
                  <a:gd name="adj" fmla="val 4898"/>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45" name="Rectangle 45"/>
              <p:cNvSpPr/>
              <p:nvPr/>
            </p:nvSpPr>
            <p:spPr>
              <a:xfrm>
                <a:off x="8096250" y="1419225"/>
                <a:ext cx="381000" cy="381000"/>
              </a:xfrm>
              <a:prstGeom prst="roundRect">
                <a:avLst>
                  <a:gd name="adj" fmla="val 20000"/>
                </a:avLst>
              </a:prstGeom>
              <a:solidFill>
                <a:srgbClr val="164E63"/>
              </a:solidFill>
              <a:ln>
                <a:noFill/>
              </a:ln>
              <a:effectLst>
                <a:outerShdw blurRad="95250" dist="28575" dir="5400000" algn="ctr" rotWithShape="0">
                  <a:srgbClr val="000000">
                    <a:alpha val="30000"/>
                  </a:srgbClr>
                </a:outerShdw>
              </a:effectLst>
            </p:spPr>
          </p:sp>
          <p:grpSp>
            <p:nvGrpSpPr>
              <p:cNvPr id="48" name="Group 48"/>
              <p:cNvGrpSpPr/>
              <p:nvPr/>
            </p:nvGrpSpPr>
            <p:grpSpPr>
              <a:xfrm>
                <a:off x="8188171" y="1524000"/>
                <a:ext cx="186006" cy="171450"/>
                <a:chOff x="8188171" y="1524000"/>
                <a:chExt cx="186006" cy="171450"/>
              </a:xfrm>
            </p:grpSpPr>
            <p:sp>
              <p:nvSpPr>
                <p:cNvPr id="46" name="Freeform 46"/>
                <p:cNvSpPr/>
                <p:nvPr/>
              </p:nvSpPr>
              <p:spPr>
                <a:xfrm>
                  <a:off x="8188171" y="1524000"/>
                  <a:ext cx="186006" cy="169983"/>
                </a:xfrm>
                <a:custGeom>
                  <a:avLst/>
                  <a:gdLst/>
                  <a:ahLst/>
                  <a:cxnLst/>
                  <a:rect l="l" t="t" r="r" b="b"/>
                  <a:pathLst>
                    <a:path w="186006" h="169983">
                      <a:moveTo>
                        <a:pt x="93436" y="169983"/>
                      </a:moveTo>
                      <a:cubicBezTo>
                        <a:pt x="33766" y="151487"/>
                        <a:pt x="0" y="88510"/>
                        <a:pt x="17617" y="28575"/>
                      </a:cubicBezTo>
                      <a:cubicBezTo>
                        <a:pt x="47292" y="29933"/>
                        <a:pt x="76331" y="19684"/>
                        <a:pt x="98579" y="0"/>
                      </a:cubicBezTo>
                      <a:cubicBezTo>
                        <a:pt x="120828" y="19684"/>
                        <a:pt x="149867" y="29933"/>
                        <a:pt x="179542" y="28575"/>
                      </a:cubicBezTo>
                      <a:cubicBezTo>
                        <a:pt x="186006" y="50569"/>
                        <a:pt x="185708" y="73999"/>
                        <a:pt x="178685" y="95822"/>
                      </a:cubicBezTo>
                    </a:path>
                  </a:pathLst>
                </a:custGeom>
                <a:noFill/>
                <a:ln w="19050">
                  <a:solidFill>
                    <a:srgbClr val="22D3EE"/>
                  </a:solidFill>
                </a:ln>
                <a:effectLst>
                  <a:outerShdw blurRad="95250" dist="28575" dir="5400000" algn="ctr" rotWithShape="0">
                    <a:srgbClr val="000000">
                      <a:alpha val="30000"/>
                    </a:srgbClr>
                  </a:outerShdw>
                </a:effectLst>
              </p:spPr>
            </p:sp>
            <p:sp>
              <p:nvSpPr>
                <p:cNvPr id="47" name="Freeform 47"/>
                <p:cNvSpPr/>
                <p:nvPr/>
              </p:nvSpPr>
              <p:spPr>
                <a:xfrm>
                  <a:off x="8315325" y="1657350"/>
                  <a:ext cx="57150" cy="38100"/>
                </a:xfrm>
                <a:custGeom>
                  <a:avLst/>
                  <a:gdLst/>
                  <a:ahLst/>
                  <a:cxnLst/>
                  <a:rect l="l" t="t" r="r" b="b"/>
                  <a:pathLst>
                    <a:path w="57150" h="38100">
                      <a:moveTo>
                        <a:pt x="0" y="19050"/>
                      </a:moveTo>
                      <a:lnTo>
                        <a:pt x="19050" y="38100"/>
                      </a:lnTo>
                      <a:lnTo>
                        <a:pt x="57150" y="0"/>
                      </a:lnTo>
                    </a:path>
                  </a:pathLst>
                </a:custGeom>
                <a:noFill/>
                <a:ln w="19050">
                  <a:solidFill>
                    <a:srgbClr val="22D3EE"/>
                  </a:solidFill>
                </a:ln>
                <a:effectLst>
                  <a:outerShdw blurRad="95250" dist="28575" dir="5400000" algn="ctr" rotWithShape="0">
                    <a:srgbClr val="000000">
                      <a:alpha val="30000"/>
                    </a:srgbClr>
                  </a:outerShdw>
                </a:effectLst>
              </p:spPr>
            </p:sp>
          </p:grpSp>
          <p:sp>
            <p:nvSpPr>
              <p:cNvPr id="49" name="TextBox 49"/>
              <p:cNvSpPr txBox="1"/>
              <p:nvPr/>
            </p:nvSpPr>
            <p:spPr>
              <a:xfrm>
                <a:off x="8577739" y="1473279"/>
                <a:ext cx="1535086" cy="2209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1088" b="1" dirty="0">
                    <a:solidFill>
                      <a:srgbClr val="F8FAFC"/>
                    </a:solidFill>
                    <a:latin typeface="Segoe UI"/>
                    <a:ea typeface="Microsoft YaHei"/>
                    <a:cs typeface="Segoe UI"/>
                  </a:rPr>
                  <a:t>Chất Lượng Mã Nguồn</a:t>
                </a:r>
              </a:p>
            </p:txBody>
          </p:sp>
          <p:sp>
            <p:nvSpPr>
              <p:cNvPr id="50" name="TextBox 50"/>
              <p:cNvSpPr txBox="1"/>
              <p:nvPr/>
            </p:nvSpPr>
            <p:spPr>
              <a:xfrm>
                <a:off x="8580596" y="1659493"/>
                <a:ext cx="174712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67E8F9"/>
                    </a:solidFill>
                    <a:latin typeface="Segoe UI"/>
                    <a:ea typeface="Microsoft YaHei"/>
                    <a:cs typeface="Segoe UI"/>
                  </a:rPr>
                  <a:t>Clean Architecture &amp; Chuẩn Hóa</a:t>
                </a:r>
              </a:p>
            </p:txBody>
          </p:sp>
          <p:sp>
            <p:nvSpPr>
              <p:cNvPr id="51" name="Line 51"/>
              <p:cNvSpPr/>
              <p:nvPr/>
            </p:nvSpPr>
            <p:spPr>
              <a:xfrm>
                <a:off x="8096250" y="1895475"/>
                <a:ext cx="3181350" cy="9525"/>
              </a:xfrm>
              <a:custGeom>
                <a:avLst/>
                <a:gdLst/>
                <a:ahLst/>
                <a:cxnLst/>
                <a:rect l="l" t="t" r="r" b="b"/>
                <a:pathLst>
                  <a:path w="3181350" h="9525">
                    <a:moveTo>
                      <a:pt x="0" y="0"/>
                    </a:moveTo>
                    <a:lnTo>
                      <a:pt x="3181350" y="0"/>
                    </a:lnTo>
                  </a:path>
                </a:pathLst>
              </a:custGeom>
              <a:noFill/>
              <a:ln w="9525">
                <a:solidFill>
                  <a:srgbClr val="334155"/>
                </a:solidFill>
              </a:ln>
            </p:spPr>
          </p:sp>
          <p:sp>
            <p:nvSpPr>
              <p:cNvPr id="52" name="TextBox 52"/>
              <p:cNvSpPr txBox="1"/>
              <p:nvPr/>
            </p:nvSpPr>
            <p:spPr>
              <a:xfrm>
                <a:off x="8084820" y="2007870"/>
                <a:ext cx="2519172"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Cấu trúc phân tầng DTO - Service rõ ràng</a:t>
                </a:r>
              </a:p>
            </p:txBody>
          </p:sp>
          <p:sp>
            <p:nvSpPr>
              <p:cNvPr id="53" name="TextBox 53"/>
              <p:cNvSpPr txBox="1"/>
              <p:nvPr/>
            </p:nvSpPr>
            <p:spPr>
              <a:xfrm>
                <a:off x="8084820" y="2207895"/>
                <a:ext cx="2495169"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Global Exception Handler chuẩn định dạng</a:t>
                </a:r>
              </a:p>
            </p:txBody>
          </p:sp>
          <p:sp>
            <p:nvSpPr>
              <p:cNvPr id="54" name="TextBox 54"/>
              <p:cNvSpPr txBox="1"/>
              <p:nvPr/>
            </p:nvSpPr>
            <p:spPr>
              <a:xfrm>
                <a:off x="8084820" y="2407920"/>
                <a:ext cx="2261140"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Đầy đủ cấu hình Docker &amp; Config Repo</a:t>
                </a:r>
              </a:p>
            </p:txBody>
          </p:sp>
          <p:sp>
            <p:nvSpPr>
              <p:cNvPr id="55" name="TextBox 55"/>
              <p:cNvSpPr txBox="1"/>
              <p:nvPr/>
            </p:nvSpPr>
            <p:spPr>
              <a:xfrm>
                <a:off x="8084820" y="2607945"/>
                <a:ext cx="2525173" cy="18288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00" dirty="0">
                    <a:solidFill>
                      <a:srgbClr val="94A3B8"/>
                    </a:solidFill>
                    <a:latin typeface="Segoe UI"/>
                    <a:ea typeface="Microsoft YaHei"/>
                    <a:cs typeface="Segoe UI"/>
                  </a:rPr>
                  <a:t>• Sẵn sàng tích hợp Continuous Integration</a:t>
                </a:r>
              </a:p>
            </p:txBody>
          </p:sp>
          <p:sp>
            <p:nvSpPr>
              <p:cNvPr id="56" name="Rectangle 56"/>
              <p:cNvSpPr/>
              <p:nvPr/>
            </p:nvSpPr>
            <p:spPr>
              <a:xfrm>
                <a:off x="8096250" y="3152775"/>
                <a:ext cx="3181350" cy="285750"/>
              </a:xfrm>
              <a:prstGeom prst="roundRect">
                <a:avLst>
                  <a:gd name="adj" fmla="val 20000"/>
                </a:avLst>
              </a:prstGeom>
              <a:solidFill>
                <a:srgbClr val="0F172A"/>
              </a:solidFill>
              <a:ln w="9525">
                <a:solidFill>
                  <a:srgbClr val="0891B2"/>
                </a:solidFill>
              </a:ln>
              <a:effectLst>
                <a:outerShdw blurRad="95250" dist="28575" dir="5400000" algn="ctr" rotWithShape="0">
                  <a:srgbClr val="000000">
                    <a:alpha val="30000"/>
                  </a:srgbClr>
                </a:outerShdw>
              </a:effectLst>
            </p:spPr>
          </p:sp>
          <p:sp>
            <p:nvSpPr>
              <p:cNvPr id="57" name="TextBox 57"/>
              <p:cNvSpPr txBox="1"/>
              <p:nvPr/>
            </p:nvSpPr>
            <p:spPr>
              <a:xfrm>
                <a:off x="8755220" y="3244691"/>
                <a:ext cx="1863410"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22D3EE"/>
                    </a:solidFill>
                    <a:latin typeface="Segoe UI"/>
                    <a:ea typeface="Microsoft YaHei"/>
                    <a:cs typeface="Segoe UI"/>
                  </a:rPr>
                  <a:t>✓ MÃ SẠCH · DỄ BẢO TRÌ &amp; MỞ RỘNG</a:t>
                </a:r>
              </a:p>
            </p:txBody>
          </p:sp>
        </p:grpSp>
      </p:grpSp>
      <p:grpSp>
        <p:nvGrpSpPr>
          <p:cNvPr id="96" name="Group 96"/>
          <p:cNvGrpSpPr/>
          <p:nvPr/>
        </p:nvGrpSpPr>
        <p:grpSpPr>
          <a:xfrm>
            <a:off x="571500" y="3762375"/>
            <a:ext cx="10858500" cy="2524125"/>
            <a:chOff x="571500" y="3762375"/>
            <a:chExt cx="10858500" cy="2524125"/>
          </a:xfrm>
          <a:effectLst>
            <a:outerShdw blurRad="95250" dist="28575" dir="5400000" algn="ctr" rotWithShape="0">
              <a:srgbClr val="000000">
                <a:alpha val="30000"/>
              </a:srgbClr>
            </a:outerShdw>
          </a:effectLst>
        </p:grpSpPr>
        <p:sp>
          <p:nvSpPr>
            <p:cNvPr id="60" name="Rectangle 60"/>
            <p:cNvSpPr/>
            <p:nvPr/>
          </p:nvSpPr>
          <p:spPr>
            <a:xfrm>
              <a:off x="571500" y="3762375"/>
              <a:ext cx="10858500" cy="2524125"/>
            </a:xfrm>
            <a:prstGeom prst="roundRect">
              <a:avLst>
                <a:gd name="adj" fmla="val 5283"/>
              </a:avLst>
            </a:prstGeom>
            <a:solidFill>
              <a:srgbClr val="0F172A"/>
            </a:solidFill>
            <a:ln w="14288">
              <a:solidFill>
                <a:srgbClr val="334155"/>
              </a:solidFill>
            </a:ln>
            <a:effectLst>
              <a:outerShdw blurRad="95250" dist="28575" dir="5400000" algn="ctr" rotWithShape="0">
                <a:srgbClr val="000000">
                  <a:alpha val="30000"/>
                </a:srgbClr>
              </a:outerShdw>
            </a:effectLst>
          </p:spPr>
        </p:sp>
        <p:sp>
          <p:nvSpPr>
            <p:cNvPr id="61" name="Rectangle 61"/>
            <p:cNvSpPr/>
            <p:nvPr/>
          </p:nvSpPr>
          <p:spPr>
            <a:xfrm>
              <a:off x="762000" y="3914775"/>
              <a:ext cx="3143250" cy="266700"/>
            </a:xfrm>
            <a:prstGeom prst="roundRect">
              <a:avLst>
                <a:gd name="adj" fmla="val 21429"/>
              </a:avLst>
            </a:prstGeom>
            <a:solidFill>
              <a:srgbClr val="1E293B"/>
            </a:solidFill>
            <a:ln>
              <a:noFill/>
            </a:ln>
            <a:effectLst>
              <a:outerShdw blurRad="95250" dist="28575" dir="5400000" algn="ctr" rotWithShape="0">
                <a:srgbClr val="000000">
                  <a:alpha val="30000"/>
                </a:srgbClr>
              </a:outerShdw>
            </a:effectLst>
          </p:spPr>
        </p:sp>
        <p:grpSp>
          <p:nvGrpSpPr>
            <p:cNvPr id="65" name="Group 65"/>
            <p:cNvGrpSpPr/>
            <p:nvPr/>
          </p:nvGrpSpPr>
          <p:grpSpPr>
            <a:xfrm>
              <a:off x="859631" y="3983831"/>
              <a:ext cx="128588" cy="128588"/>
              <a:chOff x="859631" y="3983831"/>
              <a:chExt cx="128588" cy="128588"/>
            </a:xfrm>
          </p:grpSpPr>
          <p:sp>
            <p:nvSpPr>
              <p:cNvPr id="62" name="Freeform 62"/>
              <p:cNvSpPr/>
              <p:nvPr/>
            </p:nvSpPr>
            <p:spPr>
              <a:xfrm>
                <a:off x="859631" y="4083844"/>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6B6D4"/>
                </a:solidFill>
              </a:ln>
              <a:effectLst>
                <a:outerShdw blurRad="95250" dist="28575" dir="5400000" algn="ctr" rotWithShape="0">
                  <a:srgbClr val="000000">
                    <a:alpha val="30000"/>
                  </a:srgbClr>
                </a:outerShdw>
              </a:effectLst>
            </p:spPr>
          </p:sp>
          <p:sp>
            <p:nvSpPr>
              <p:cNvPr id="63" name="Freeform 63"/>
              <p:cNvSpPr/>
              <p:nvPr/>
            </p:nvSpPr>
            <p:spPr>
              <a:xfrm>
                <a:off x="959644" y="3983831"/>
                <a:ext cx="28575" cy="28575"/>
              </a:xfrm>
              <a:custGeom>
                <a:avLst/>
                <a:gdLst/>
                <a:ahLst/>
                <a:cxnLst/>
                <a:rect l="l" t="t" r="r" b="b"/>
                <a:pathLst>
                  <a:path w="28575" h="28575">
                    <a:moveTo>
                      <a:pt x="14288" y="28575"/>
                    </a:moveTo>
                    <a:cubicBezTo>
                      <a:pt x="22178" y="28575"/>
                      <a:pt x="28575" y="22178"/>
                      <a:pt x="28575" y="14288"/>
                    </a:cubicBezTo>
                    <a:cubicBezTo>
                      <a:pt x="28575" y="6397"/>
                      <a:pt x="22178" y="0"/>
                      <a:pt x="14288" y="0"/>
                    </a:cubicBezTo>
                    <a:cubicBezTo>
                      <a:pt x="6397" y="0"/>
                      <a:pt x="0" y="6397"/>
                      <a:pt x="0" y="14288"/>
                    </a:cubicBezTo>
                    <a:cubicBezTo>
                      <a:pt x="0" y="22178"/>
                      <a:pt x="6397" y="28575"/>
                      <a:pt x="14288" y="28575"/>
                    </a:cubicBezTo>
                  </a:path>
                </a:pathLst>
              </a:custGeom>
              <a:noFill/>
              <a:ln w="19050">
                <a:solidFill>
                  <a:srgbClr val="06B6D4"/>
                </a:solidFill>
              </a:ln>
              <a:effectLst>
                <a:outerShdw blurRad="95250" dist="28575" dir="5400000" algn="ctr" rotWithShape="0">
                  <a:srgbClr val="000000">
                    <a:alpha val="30000"/>
                  </a:srgbClr>
                </a:outerShdw>
              </a:effectLst>
            </p:spPr>
          </p:sp>
          <p:sp>
            <p:nvSpPr>
              <p:cNvPr id="64" name="Freeform 64"/>
              <p:cNvSpPr/>
              <p:nvPr/>
            </p:nvSpPr>
            <p:spPr>
              <a:xfrm>
                <a:off x="873919" y="3998119"/>
                <a:ext cx="107156" cy="100012"/>
              </a:xfrm>
              <a:custGeom>
                <a:avLst/>
                <a:gdLst/>
                <a:ahLst/>
                <a:cxnLst/>
                <a:rect l="l" t="t" r="r" b="b"/>
                <a:pathLst>
                  <a:path w="107156" h="100012">
                    <a:moveTo>
                      <a:pt x="42862" y="100012"/>
                    </a:moveTo>
                    <a:lnTo>
                      <a:pt x="82153" y="100012"/>
                    </a:lnTo>
                    <a:cubicBezTo>
                      <a:pt x="95962" y="100012"/>
                      <a:pt x="107156" y="88818"/>
                      <a:pt x="107156" y="75009"/>
                    </a:cubicBezTo>
                    <a:cubicBezTo>
                      <a:pt x="107156" y="61201"/>
                      <a:pt x="95962" y="50006"/>
                      <a:pt x="82153" y="50006"/>
                    </a:cubicBezTo>
                    <a:lnTo>
                      <a:pt x="25003" y="50006"/>
                    </a:lnTo>
                    <a:cubicBezTo>
                      <a:pt x="11194" y="50006"/>
                      <a:pt x="0" y="38812"/>
                      <a:pt x="0" y="25003"/>
                    </a:cubicBezTo>
                    <a:cubicBezTo>
                      <a:pt x="0" y="11194"/>
                      <a:pt x="11194" y="0"/>
                      <a:pt x="25003" y="0"/>
                    </a:cubicBezTo>
                    <a:lnTo>
                      <a:pt x="57150" y="0"/>
                    </a:lnTo>
                  </a:path>
                </a:pathLst>
              </a:custGeom>
              <a:noFill/>
              <a:ln w="19050">
                <a:solidFill>
                  <a:srgbClr val="06B6D4"/>
                </a:solidFill>
              </a:ln>
              <a:effectLst>
                <a:outerShdw blurRad="95250" dist="28575" dir="5400000" algn="ctr" rotWithShape="0">
                  <a:srgbClr val="000000">
                    <a:alpha val="30000"/>
                  </a:srgbClr>
                </a:outerShdw>
              </a:effectLst>
            </p:spPr>
          </p:sp>
        </p:grpSp>
        <p:sp>
          <p:nvSpPr>
            <p:cNvPr id="66" name="TextBox 66"/>
            <p:cNvSpPr txBox="1"/>
            <p:nvPr/>
          </p:nvSpPr>
          <p:spPr>
            <a:xfrm>
              <a:off x="1092994" y="3994547"/>
              <a:ext cx="3161080" cy="19050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38" b="1" dirty="0">
                  <a:solidFill>
                    <a:srgbClr val="F8FAFC"/>
                  </a:solidFill>
                  <a:latin typeface="Segoe UI"/>
                  <a:ea typeface="Microsoft YaHei"/>
                  <a:cs typeface="Segoe UI"/>
                </a:rPr>
                <a:t>LỘ TRÌNH TÍCH HỢP HỆ THỐNG &amp; TRIỂN KHAI TIẾP THEO</a:t>
              </a:r>
            </a:p>
          </p:txBody>
        </p:sp>
        <p:grpSp>
          <p:nvGrpSpPr>
            <p:cNvPr id="75" name="Group 75"/>
            <p:cNvGrpSpPr/>
            <p:nvPr/>
          </p:nvGrpSpPr>
          <p:grpSpPr>
            <a:xfrm>
              <a:off x="762000" y="4295775"/>
              <a:ext cx="3286125" cy="1762125"/>
              <a:chOff x="762000" y="4295775"/>
              <a:chExt cx="3286125" cy="1762125"/>
            </a:xfrm>
          </p:grpSpPr>
          <p:sp>
            <p:nvSpPr>
              <p:cNvPr id="67" name="Rectangle 67"/>
              <p:cNvSpPr/>
              <p:nvPr/>
            </p:nvSpPr>
            <p:spPr>
              <a:xfrm>
                <a:off x="762000" y="4295775"/>
                <a:ext cx="3286125" cy="1762125"/>
              </a:xfrm>
              <a:prstGeom prst="roundRect">
                <a:avLst>
                  <a:gd name="adj" fmla="val 5405"/>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68" name="Rectangle 68"/>
              <p:cNvSpPr/>
              <p:nvPr/>
            </p:nvSpPr>
            <p:spPr>
              <a:xfrm>
                <a:off x="895350" y="4410075"/>
                <a:ext cx="666750" cy="209550"/>
              </a:xfrm>
              <a:prstGeom prst="roundRect">
                <a:avLst>
                  <a:gd name="adj" fmla="val 18182"/>
                </a:avLst>
              </a:prstGeom>
              <a:solidFill>
                <a:srgbClr val="172554"/>
              </a:solidFill>
              <a:ln>
                <a:noFill/>
              </a:ln>
              <a:effectLst>
                <a:outerShdw blurRad="95250" dist="28575" dir="5400000" algn="ctr" rotWithShape="0">
                  <a:srgbClr val="000000">
                    <a:alpha val="30000"/>
                  </a:srgbClr>
                </a:outerShdw>
              </a:effectLst>
            </p:spPr>
          </p:sp>
          <p:sp>
            <p:nvSpPr>
              <p:cNvPr id="69" name="TextBox 69"/>
              <p:cNvSpPr txBox="1"/>
              <p:nvPr/>
            </p:nvSpPr>
            <p:spPr>
              <a:xfrm>
                <a:off x="929461" y="4463891"/>
                <a:ext cx="598527"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38BDF8"/>
                    </a:solidFill>
                    <a:latin typeface="Arial"/>
                    <a:ea typeface="Microsoft YaHei"/>
                    <a:cs typeface="Arial"/>
                  </a:rPr>
                  <a:t>GIAI ĐOẠN 1</a:t>
                </a:r>
              </a:p>
            </p:txBody>
          </p:sp>
          <p:sp>
            <p:nvSpPr>
              <p:cNvPr id="70" name="TextBox 70"/>
              <p:cNvSpPr txBox="1"/>
              <p:nvPr/>
            </p:nvSpPr>
            <p:spPr>
              <a:xfrm>
                <a:off x="1644968" y="4457224"/>
                <a:ext cx="1403587"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Bàn Giao &amp; Ký Tài Liệu</a:t>
                </a:r>
              </a:p>
            </p:txBody>
          </p:sp>
          <p:sp>
            <p:nvSpPr>
              <p:cNvPr id="71" name="TextBox 71"/>
              <p:cNvSpPr txBox="1"/>
              <p:nvPr/>
            </p:nvSpPr>
            <p:spPr>
              <a:xfrm>
                <a:off x="884396" y="4717018"/>
                <a:ext cx="191389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Bàn giao trọn bộ Git Repository.</a:t>
                </a:r>
              </a:p>
            </p:txBody>
          </p:sp>
          <p:sp>
            <p:nvSpPr>
              <p:cNvPr id="72" name="TextBox 72"/>
              <p:cNvSpPr txBox="1"/>
              <p:nvPr/>
            </p:nvSpPr>
            <p:spPr>
              <a:xfrm>
                <a:off x="884396" y="4907518"/>
                <a:ext cx="238545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Cung cấp Postman Collection v2.1 đầy đủ.</a:t>
                </a:r>
              </a:p>
            </p:txBody>
          </p:sp>
          <p:sp>
            <p:nvSpPr>
              <p:cNvPr id="73" name="TextBox 73"/>
              <p:cNvSpPr txBox="1"/>
              <p:nvPr/>
            </p:nvSpPr>
            <p:spPr>
              <a:xfrm>
                <a:off x="884396" y="5098018"/>
                <a:ext cx="2224433"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Tài liệu API Swagger/OpenAPI chi tiết.</a:t>
                </a:r>
              </a:p>
            </p:txBody>
          </p:sp>
          <p:sp>
            <p:nvSpPr>
              <p:cNvPr id="74" name="TextBox 74"/>
              <p:cNvSpPr txBox="1"/>
              <p:nvPr/>
            </p:nvSpPr>
            <p:spPr>
              <a:xfrm>
                <a:off x="884396" y="5288518"/>
                <a:ext cx="2339447"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Chuyển giao hướng dẫn docker-compose.</a:t>
                </a:r>
              </a:p>
            </p:txBody>
          </p:sp>
        </p:grpSp>
        <p:grpSp>
          <p:nvGrpSpPr>
            <p:cNvPr id="85" name="Group 85"/>
            <p:cNvGrpSpPr/>
            <p:nvPr/>
          </p:nvGrpSpPr>
          <p:grpSpPr>
            <a:xfrm>
              <a:off x="4238625" y="4295775"/>
              <a:ext cx="3333750" cy="1762125"/>
              <a:chOff x="4238625" y="4295775"/>
              <a:chExt cx="3333750" cy="1762125"/>
            </a:xfrm>
          </p:grpSpPr>
          <p:sp>
            <p:nvSpPr>
              <p:cNvPr id="76" name="Rectangle 76"/>
              <p:cNvSpPr/>
              <p:nvPr/>
            </p:nvSpPr>
            <p:spPr>
              <a:xfrm>
                <a:off x="4238625" y="4295775"/>
                <a:ext cx="3333750" cy="1762125"/>
              </a:xfrm>
              <a:prstGeom prst="roundRect">
                <a:avLst>
                  <a:gd name="adj" fmla="val 5405"/>
                </a:avLst>
              </a:prstGeom>
              <a:solidFill>
                <a:srgbClr val="1E293B"/>
              </a:solidFill>
              <a:ln w="9525">
                <a:solidFill>
                  <a:srgbClr val="06B6D4">
                    <a:alpha val="60000"/>
                  </a:srgbClr>
                </a:solidFill>
              </a:ln>
              <a:effectLst>
                <a:outerShdw blurRad="95250" dist="28575" dir="5400000" algn="ctr" rotWithShape="0">
                  <a:srgbClr val="000000">
                    <a:alpha val="30000"/>
                  </a:srgbClr>
                </a:outerShdw>
              </a:effectLst>
            </p:spPr>
          </p:sp>
          <p:sp>
            <p:nvSpPr>
              <p:cNvPr id="77" name="Rectangle 77"/>
              <p:cNvSpPr/>
              <p:nvPr/>
            </p:nvSpPr>
            <p:spPr>
              <a:xfrm>
                <a:off x="4371975" y="4410075"/>
                <a:ext cx="666750" cy="209550"/>
              </a:xfrm>
              <a:prstGeom prst="roundRect">
                <a:avLst>
                  <a:gd name="adj" fmla="val 18182"/>
                </a:avLst>
              </a:prstGeom>
              <a:solidFill>
                <a:srgbClr val="164E63"/>
              </a:solidFill>
              <a:ln>
                <a:noFill/>
              </a:ln>
              <a:effectLst>
                <a:outerShdw blurRad="95250" dist="28575" dir="5400000" algn="ctr" rotWithShape="0">
                  <a:srgbClr val="000000">
                    <a:alpha val="30000"/>
                  </a:srgbClr>
                </a:outerShdw>
              </a:effectLst>
            </p:spPr>
          </p:sp>
          <p:sp>
            <p:nvSpPr>
              <p:cNvPr id="78" name="TextBox 78"/>
              <p:cNvSpPr txBox="1"/>
              <p:nvPr/>
            </p:nvSpPr>
            <p:spPr>
              <a:xfrm>
                <a:off x="4391647" y="4463891"/>
                <a:ext cx="627406"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22D3EE"/>
                    </a:solidFill>
                    <a:latin typeface="Arial"/>
                    <a:ea typeface="Microsoft YaHei"/>
                    <a:cs typeface="Arial"/>
                  </a:rPr>
                  <a:t>GIAI ĐOẠN 2</a:t>
                </a:r>
              </a:p>
            </p:txBody>
          </p:sp>
          <p:sp>
            <p:nvSpPr>
              <p:cNvPr id="79" name="TextBox 79"/>
              <p:cNvSpPr txBox="1"/>
              <p:nvPr/>
            </p:nvSpPr>
            <p:spPr>
              <a:xfrm>
                <a:off x="5121592" y="4457224"/>
                <a:ext cx="1451368"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Tích Hợp Mobile / Web</a:t>
                </a:r>
              </a:p>
            </p:txBody>
          </p:sp>
          <p:sp>
            <p:nvSpPr>
              <p:cNvPr id="80" name="TextBox 80"/>
              <p:cNvSpPr txBox="1"/>
              <p:nvPr/>
            </p:nvSpPr>
            <p:spPr>
              <a:xfrm>
                <a:off x="4361021" y="4717018"/>
                <a:ext cx="2517719"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Đội ngũ Mobile App (Flutter / React Native)</a:t>
                </a:r>
              </a:p>
            </p:txBody>
          </p:sp>
          <p:sp>
            <p:nvSpPr>
              <p:cNvPr id="81" name="TextBox 81"/>
              <p:cNvSpPr txBox="1"/>
              <p:nvPr/>
            </p:nvSpPr>
            <p:spPr>
              <a:xfrm>
                <a:off x="4361021" y="4888468"/>
                <a:ext cx="2327946"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kết nối API Gateway để hiển thị giao diện.</a:t>
                </a:r>
              </a:p>
            </p:txBody>
          </p:sp>
          <p:sp>
            <p:nvSpPr>
              <p:cNvPr id="82" name="TextBox 82"/>
              <p:cNvSpPr txBox="1"/>
              <p:nvPr/>
            </p:nvSpPr>
            <p:spPr>
              <a:xfrm>
                <a:off x="4361021" y="5078968"/>
                <a:ext cx="2184178"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Web Admin Portal quản lý khách hàng.</a:t>
                </a:r>
              </a:p>
            </p:txBody>
          </p:sp>
          <p:sp>
            <p:nvSpPr>
              <p:cNvPr id="83" name="TextBox 83"/>
              <p:cNvSpPr txBox="1"/>
              <p:nvPr/>
            </p:nvSpPr>
            <p:spPr>
              <a:xfrm>
                <a:off x="4361021" y="5269468"/>
                <a:ext cx="2253186"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Tích hợp Firebase Cloud Messaging vào</a:t>
                </a:r>
              </a:p>
            </p:txBody>
          </p:sp>
          <p:sp>
            <p:nvSpPr>
              <p:cNvPr id="84" name="TextBox 84"/>
              <p:cNvSpPr txBox="1"/>
              <p:nvPr/>
            </p:nvSpPr>
            <p:spPr>
              <a:xfrm>
                <a:off x="4361021" y="5440918"/>
                <a:ext cx="2201430"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Notification Service gửi thông báo đẩy.</a:t>
                </a:r>
              </a:p>
            </p:txBody>
          </p:sp>
        </p:grpSp>
        <p:grpSp>
          <p:nvGrpSpPr>
            <p:cNvPr id="95" name="Group 95"/>
            <p:cNvGrpSpPr/>
            <p:nvPr/>
          </p:nvGrpSpPr>
          <p:grpSpPr>
            <a:xfrm>
              <a:off x="7762875" y="4295775"/>
              <a:ext cx="3476625" cy="1762125"/>
              <a:chOff x="7762875" y="4295775"/>
              <a:chExt cx="3476625" cy="1762125"/>
            </a:xfrm>
          </p:grpSpPr>
          <p:sp>
            <p:nvSpPr>
              <p:cNvPr id="86" name="Rectangle 86"/>
              <p:cNvSpPr/>
              <p:nvPr/>
            </p:nvSpPr>
            <p:spPr>
              <a:xfrm>
                <a:off x="7762875" y="4295775"/>
                <a:ext cx="3476625" cy="1762125"/>
              </a:xfrm>
              <a:prstGeom prst="roundRect">
                <a:avLst>
                  <a:gd name="adj" fmla="val 5405"/>
                </a:avLst>
              </a:prstGeom>
              <a:solidFill>
                <a:srgbClr val="1E293B"/>
              </a:solidFill>
              <a:ln w="9525">
                <a:solidFill>
                  <a:srgbClr val="334155"/>
                </a:solidFill>
              </a:ln>
              <a:effectLst>
                <a:outerShdw blurRad="95250" dist="28575" dir="5400000" algn="ctr" rotWithShape="0">
                  <a:srgbClr val="000000">
                    <a:alpha val="30000"/>
                  </a:srgbClr>
                </a:outerShdw>
              </a:effectLst>
            </p:spPr>
          </p:sp>
          <p:sp>
            <p:nvSpPr>
              <p:cNvPr id="87" name="Rectangle 87"/>
              <p:cNvSpPr/>
              <p:nvPr/>
            </p:nvSpPr>
            <p:spPr>
              <a:xfrm>
                <a:off x="7896225" y="4410075"/>
                <a:ext cx="666750" cy="209550"/>
              </a:xfrm>
              <a:prstGeom prst="roundRect">
                <a:avLst>
                  <a:gd name="adj" fmla="val 18182"/>
                </a:avLst>
              </a:prstGeom>
              <a:solidFill>
                <a:srgbClr val="064E3B"/>
              </a:solidFill>
              <a:ln>
                <a:noFill/>
              </a:ln>
              <a:effectLst>
                <a:outerShdw blurRad="95250" dist="28575" dir="5400000" algn="ctr" rotWithShape="0">
                  <a:srgbClr val="000000">
                    <a:alpha val="30000"/>
                  </a:srgbClr>
                </a:outerShdw>
              </a:effectLst>
            </p:spPr>
          </p:sp>
          <p:sp>
            <p:nvSpPr>
              <p:cNvPr id="88" name="TextBox 88"/>
              <p:cNvSpPr txBox="1"/>
              <p:nvPr/>
            </p:nvSpPr>
            <p:spPr>
              <a:xfrm>
                <a:off x="7915897" y="4463891"/>
                <a:ext cx="627406" cy="16764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ctr"/>
                <a:r>
                  <a:rPr lang="zh-CN" sz="825" b="1" dirty="0">
                    <a:solidFill>
                      <a:srgbClr val="4ADE80"/>
                    </a:solidFill>
                    <a:latin typeface="Arial"/>
                    <a:ea typeface="Microsoft YaHei"/>
                    <a:cs typeface="Arial"/>
                  </a:rPr>
                  <a:t>GIAI ĐOẠN 3</a:t>
                </a:r>
              </a:p>
            </p:txBody>
          </p:sp>
          <p:sp>
            <p:nvSpPr>
              <p:cNvPr id="89" name="TextBox 89"/>
              <p:cNvSpPr txBox="1"/>
              <p:nvPr/>
            </p:nvSpPr>
            <p:spPr>
              <a:xfrm>
                <a:off x="8645842" y="4457224"/>
                <a:ext cx="1355806" cy="19812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975" b="1" dirty="0">
                    <a:solidFill>
                      <a:srgbClr val="F8FAFC"/>
                    </a:solidFill>
                    <a:latin typeface="Segoe UI"/>
                    <a:ea typeface="Microsoft YaHei"/>
                    <a:cs typeface="Segoe UI"/>
                  </a:rPr>
                  <a:t>Sản Xuất &amp; Scale Lớn</a:t>
                </a:r>
              </a:p>
            </p:txBody>
          </p:sp>
          <p:sp>
            <p:nvSpPr>
              <p:cNvPr id="90" name="TextBox 90"/>
              <p:cNvSpPr txBox="1"/>
              <p:nvPr/>
            </p:nvSpPr>
            <p:spPr>
              <a:xfrm>
                <a:off x="7885271" y="4717018"/>
                <a:ext cx="2310694"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Chuyển đổi sang cụm Kubernetes (K8s).</a:t>
                </a:r>
              </a:p>
            </p:txBody>
          </p:sp>
          <p:sp>
            <p:nvSpPr>
              <p:cNvPr id="91" name="TextBox 91"/>
              <p:cNvSpPr txBox="1"/>
              <p:nvPr/>
            </p:nvSpPr>
            <p:spPr>
              <a:xfrm>
                <a:off x="7885271" y="4907518"/>
                <a:ext cx="2414206"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Triển khai Prometheus &amp; Grafana theo dõi</a:t>
                </a:r>
              </a:p>
            </p:txBody>
          </p:sp>
          <p:sp>
            <p:nvSpPr>
              <p:cNvPr id="92" name="TextBox 92"/>
              <p:cNvSpPr txBox="1"/>
              <p:nvPr/>
            </p:nvSpPr>
            <p:spPr>
              <a:xfrm>
                <a:off x="7885271" y="5078968"/>
                <a:ext cx="2523470"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chỉ số thời gian thực (Micrometer metrics).</a:t>
                </a:r>
              </a:p>
            </p:txBody>
          </p:sp>
          <p:sp>
            <p:nvSpPr>
              <p:cNvPr id="93" name="TextBox 93"/>
              <p:cNvSpPr txBox="1"/>
              <p:nvPr/>
            </p:nvSpPr>
            <p:spPr>
              <a:xfrm>
                <a:off x="7885271" y="5269468"/>
                <a:ext cx="2488966"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 Cụm Kafka đa node và MySQL Read-Replicas</a:t>
                </a:r>
              </a:p>
            </p:txBody>
          </p:sp>
          <p:sp>
            <p:nvSpPr>
              <p:cNvPr id="94" name="TextBox 94"/>
              <p:cNvSpPr txBox="1"/>
              <p:nvPr/>
            </p:nvSpPr>
            <p:spPr>
              <a:xfrm>
                <a:off x="7885271" y="5440918"/>
                <a:ext cx="2161175" cy="175260"/>
              </a:xfrm>
              <a:prstGeom prst="rect">
                <a:avLst/>
              </a:prstGeom>
              <a:noFill/>
              <a:ln>
                <a:noFill/>
              </a:ln>
              <a:effectLst>
                <a:outerShdw blurRad="95250" dist="28575" dir="5400000" algn="ctr" rotWithShape="0">
                  <a:srgbClr val="000000">
                    <a:alpha val="30000"/>
                  </a:srgbClr>
                </a:outerShdw>
              </a:effectLst>
            </p:spPr>
            <p:txBody>
              <a:bodyPr wrap="none" lIns="0" tIns="0" rIns="0" bIns="0" anchor="t" anchorCtr="0">
                <a:spAutoFit/>
              </a:bodyPr>
              <a:lstStyle/>
              <a:p>
                <a:pPr algn="l"/>
                <a:r>
                  <a:rPr lang="zh-CN" sz="862" dirty="0">
                    <a:solidFill>
                      <a:srgbClr val="94A3B8"/>
                    </a:solidFill>
                    <a:latin typeface="Segoe UI"/>
                    <a:ea typeface="Microsoft YaHei"/>
                    <a:cs typeface="Segoe UI"/>
                  </a:rPr>
                  <a:t>đáp ứng hàng triệu giao dịch mỗi ngày.</a:t>
                </a:r>
              </a:p>
            </p:txBody>
          </p:sp>
        </p:grpSp>
      </p:grpSp>
      <p:grpSp>
        <p:nvGrpSpPr>
          <p:cNvPr id="99" name="Group 99"/>
          <p:cNvGrpSpPr/>
          <p:nvPr/>
        </p:nvGrpSpPr>
        <p:grpSpPr>
          <a:xfrm>
            <a:off x="560070" y="6522720"/>
            <a:ext cx="11071860" cy="182880"/>
            <a:chOff x="560070" y="6522720"/>
            <a:chExt cx="11071860" cy="182880"/>
          </a:xfrm>
        </p:grpSpPr>
        <p:sp>
          <p:nvSpPr>
            <p:cNvPr id="97" name="TextBox 97"/>
            <p:cNvSpPr txBox="1"/>
            <p:nvPr/>
          </p:nvSpPr>
          <p:spPr>
            <a:xfrm>
              <a:off x="560070" y="6522720"/>
              <a:ext cx="3211058" cy="182880"/>
            </a:xfrm>
            <a:prstGeom prst="rect">
              <a:avLst/>
            </a:prstGeom>
            <a:noFill/>
            <a:ln>
              <a:noFill/>
            </a:ln>
          </p:spPr>
          <p:txBody>
            <a:bodyPr wrap="none" lIns="0" tIns="0" rIns="0" bIns="0" anchor="t" anchorCtr="0">
              <a:spAutoFit/>
            </a:bodyPr>
            <a:lstStyle/>
            <a:p>
              <a:pPr algn="l"/>
              <a:r>
                <a:rPr lang="zh-CN" sz="900" b="1" dirty="0">
                  <a:solidFill>
                    <a:srgbClr val="64748B"/>
                  </a:solidFill>
                  <a:latin typeface="Segoe UI"/>
                  <a:ea typeface="Microsoft YaHei"/>
                  <a:cs typeface="Segoe UI"/>
                </a:rPr>
                <a:t>RikkeiBank API Microservices · Báo cáo Kiến trúc SRS</a:t>
              </a:r>
            </a:p>
          </p:txBody>
        </p:sp>
        <p:sp>
          <p:nvSpPr>
            <p:cNvPr id="98" name="TextBox 98"/>
            <p:cNvSpPr txBox="1"/>
            <p:nvPr/>
          </p:nvSpPr>
          <p:spPr>
            <a:xfrm>
              <a:off x="10897081" y="6522720"/>
              <a:ext cx="734849" cy="182880"/>
            </a:xfrm>
            <a:prstGeom prst="rect">
              <a:avLst/>
            </a:prstGeom>
            <a:noFill/>
            <a:ln>
              <a:noFill/>
            </a:ln>
          </p:spPr>
          <p:txBody>
            <a:bodyPr wrap="none" lIns="0" tIns="0" rIns="0" bIns="0" anchor="t" anchorCtr="0">
              <a:spAutoFit/>
            </a:bodyPr>
            <a:lstStyle/>
            <a:p>
              <a:pPr algn="r"/>
              <a:r>
                <a:rPr lang="zh-CN" sz="900" b="1" dirty="0">
                  <a:solidFill>
                    <a:srgbClr val="06B6D4"/>
                  </a:solidFill>
                  <a:latin typeface="Segoe UI"/>
                  <a:ea typeface="Microsoft YaHei"/>
                  <a:cs typeface="Segoe UI"/>
                </a:rPr>
                <a:t>SLIDE 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image">
                                      <p:cBhvr>
                                        <p:cTn id="7" dur="400"/>
                                        <p:tgtEl>
                                          <p:spTgt spid="5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96"/>
                                        </p:tgtEl>
                                        <p:attrNameLst>
                                          <p:attrName>style.visibility</p:attrName>
                                        </p:attrNameLst>
                                      </p:cBhvr>
                                      <p:to>
                                        <p:strVal val="visible"/>
                                      </p:to>
                                    </p:set>
                                    <p:animEffect transition="in" filter="fade">
                                      <p:cBhvr>
                                        <p:cTn id="11" dur="4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9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